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Lst>
  <p:sldSz cx="12192000" cy="6858000"/>
  <p:notesSz cx="6858000" cy="9144000"/>
  <p:defaultTextStyle/>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Thank you for the kickoff call. This deck is the plan for your new site, built from what you told us and from our keyword research. It describes direction, not guarantees.</a:t>
            </a:r>
          </a:p>
          <a:p>
            <a:r>
              <a:rPr lang="en-US" sz="1200" dirty="0">
                <a:latin typeface="Montserrat"/>
              </a:rPr>
              <a:t>Emphasise: The plan describes direction, not guarantees.</a:t>
            </a:r>
          </a:p>
          <a:p>
            <a:r>
              <a:rPr lang="en-US" sz="1200" dirty="0">
                <a:latin typeface="Montserrat"/>
              </a:rPr>
              <a:t>Likely pushback: Pushback: you promised us a top ranking within a month. Answer: that is your goal, and we treat it as one, but search results depend on factors outside anyone's control, so we do not promise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Today there is nothing online for a person with a cracked tooth to land on. Emergency care is the fastest-growing part of your practice, and that is where the search demand is.</a:t>
            </a:r>
          </a:p>
          <a:p>
            <a:r>
              <a:rPr lang="en-US" sz="1200" dirty="0">
                <a:latin typeface="Montserrat"/>
              </a:rPr>
              <a:t>Emphasise: 1,300 monthly searches for emergency dentist boise, at a difficulty of 32.</a:t>
            </a:r>
          </a:p>
          <a:p>
            <a:r>
              <a:rPr lang="en-US" sz="1200" dirty="0">
                <a:latin typeface="Montserrat"/>
              </a:rPr>
              <a:t>Likely pushback: Pushback: is emergency search really big enough to matter? Answer: it is one of the largest Tier 1 terms and one of the easier ones to win, and nobody in Boise has a dedicated page in the top 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Without a site, every one of these searches goes to another practice. Implants and your second service area are where you said you want growth.</a:t>
            </a:r>
          </a:p>
          <a:p>
            <a:r>
              <a:rPr lang="en-US" sz="1200" dirty="0">
                <a:latin typeface="Montserrat"/>
              </a:rPr>
              <a:t>Emphasise: 1,600 searches for dentist meridian idaho and 880 for dental implants boise.</a:t>
            </a:r>
          </a:p>
          <a:p>
            <a:r>
              <a:rPr lang="en-US" sz="1200" dirty="0">
                <a:latin typeface="Montserrat"/>
              </a:rPr>
              <a:t>Likely pushback: Pushback: will we get all of those searches? Answer: no. These are monthly search volumes, not patients, and we do not promise a share or a patient number.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These are your words from the kickoff call. Each one shaped a decision in this plan, and we will point to them as we go.</a:t>
            </a:r>
          </a:p>
          <a:p>
            <a:r>
              <a:rPr lang="en-US" sz="1200" dirty="0">
                <a:latin typeface="Montserrat"/>
              </a:rPr>
              <a:t>Emphasise: Same-day emergency care leads, in your own words.</a:t>
            </a:r>
          </a:p>
          <a:p>
            <a:r>
              <a:rPr lang="en-US" sz="1200" dirty="0">
                <a:latin typeface="Montserrat"/>
              </a:rPr>
              <a:t>Likely pushback: Pushback: our priorities have changed since the call. Answer: tell us now and we will update the Blueprint before the pages are written.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Section one is where you stand today: what you already have and what the search market looks like.</a:t>
            </a:r>
          </a:p>
          <a:p>
            <a:r>
              <a:rPr lang="en-US" sz="1200" dirty="0">
                <a:latin typeface="Montserrat"/>
              </a:rPr>
              <a:t>Emphasise: Your reputation is already an asset.</a:t>
            </a:r>
          </a:p>
          <a:p>
            <a:r>
              <a:rPr lang="en-US" sz="1200" dirty="0">
                <a:latin typeface="Montserrat"/>
              </a:rPr>
              <a:t>Likely pushback: Pushback: why start with the present? Answer: the plan only makes sense against a clear starting point.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Patients already rate you highly. The site's job is to put that rating in front of people at the moment they choose a dentist.</a:t>
            </a:r>
          </a:p>
          <a:p>
            <a:r>
              <a:rPr lang="en-US" sz="1200" dirty="0">
                <a:latin typeface="Montserrat"/>
              </a:rPr>
              <a:t>Emphasise: 4.9 average rating from 212 Google reviews.</a:t>
            </a:r>
          </a:p>
          <a:p>
            <a:r>
              <a:rPr lang="en-US" sz="1200" dirty="0">
                <a:latin typeface="Montserrat"/>
              </a:rPr>
              <a:t>Likely pushback: Pushback: can we say best dentist in Boise? Answer: no. Dental advertising is held to honest-claims rules, so we use only real, current ratings and proof points.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You named three competitors on the call. We have not yet saved the competitor review, so we are not showing a comparison and we will not estimate one.</a:t>
            </a:r>
          </a:p>
          <a:p>
            <a:r>
              <a:rPr lang="en-US" sz="1200" dirty="0">
                <a:latin typeface="Montserrat"/>
              </a:rPr>
              <a:t>Emphasise: No competitor figures are shown until the report is saved.</a:t>
            </a:r>
          </a:p>
          <a:p>
            <a:r>
              <a:rPr lang="en-US" sz="1200" dirty="0">
                <a:latin typeface="Montserrat"/>
              </a:rPr>
              <a:t>Likely pushback: Pushback: why is this slide empty? Answer: we never estimate competitor figures. The comparison is added once the review is done.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Once the review is saved we will tell you directly which of the three are real threats and which only look intimidating. The keyword research already gives one early signal: nobody in Boise has a dedicated emergency page in the top 5.</a:t>
            </a:r>
          </a:p>
          <a:p>
            <a:r>
              <a:rPr lang="en-US" sz="1200" dirty="0">
                <a:latin typeface="Montserrat"/>
              </a:rPr>
              <a:t>Emphasise: No Boise practice has a dedicated emergency page in the top 5.</a:t>
            </a:r>
          </a:p>
          <a:p>
            <a:r>
              <a:rPr lang="en-US" sz="1200" dirty="0">
                <a:latin typeface="Montserrat"/>
              </a:rPr>
              <a:t>Likely pushback: Pushback: are those three really our competitors? Answer: we will say so plainly in the review, including any that are not.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Tier 1 keywords are the main keywords of the pages we are building now. Tier 2 is for the first months after launch, and Tier 3 builds long-term authority.</a:t>
            </a:r>
          </a:p>
          <a:p>
            <a:r>
              <a:rPr lang="en-US" sz="1200" dirty="0">
                <a:latin typeface="Montserrat"/>
              </a:rPr>
              <a:t>Emphasise: Emergency dentist boise: 1,300 searches a month at a difficulty of 32.</a:t>
            </a:r>
          </a:p>
          <a:p>
            <a:r>
              <a:rPr lang="en-US" sz="1200" dirty="0">
                <a:latin typeface="Montserrat"/>
              </a:rPr>
              <a:t>Likely pushback: Pushback: why not target the biggest terms first? Answer: they are harder, and authority from the service pages comes first. The next slide covers 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We know this is the term you would most like to own. It needs authority that a new site does not have, so we earn it through the service pages first.</a:t>
            </a:r>
          </a:p>
          <a:p>
            <a:r>
              <a:rPr lang="en-US" sz="1200" dirty="0">
                <a:latin typeface="Montserrat"/>
              </a:rPr>
              <a:t>Emphasise: 6,600 monthly searches at a difficulty of 61.</a:t>
            </a:r>
          </a:p>
          <a:p>
            <a:r>
              <a:rPr lang="en-US" sz="1200" dirty="0">
                <a:latin typeface="Montserrat"/>
              </a:rPr>
              <a:t>Likely pushback: Pushback: you said you wanted to be the top dentist on Google within a month. Answer: that is your goal, and we do not promise a ranking, because this term needs authority built over time.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Section two is the plan itself: how you are positioned and what we are building.</a:t>
            </a:r>
          </a:p>
          <a:p>
            <a:r>
              <a:rPr lang="en-US" sz="1200" dirty="0">
                <a:latin typeface="Montserrat"/>
              </a:rPr>
              <a:t>Emphasise: Emergency care leads.</a:t>
            </a:r>
          </a:p>
          <a:p>
            <a:r>
              <a:rPr lang="en-US" sz="1200" dirty="0">
                <a:latin typeface="Montserrat"/>
              </a:rPr>
              <a:t>Likely pushback: Pushback: can the order change? Answer: yes, tell us and the Blueprint changes before pages are written.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This is the message the first screen of the homepage will carry and every page will keep repeating. It leads with the differentiator you gave us.</a:t>
            </a:r>
          </a:p>
          <a:p>
            <a:r>
              <a:rPr lang="en-US" sz="1200" dirty="0">
                <a:latin typeface="Montserrat"/>
              </a:rPr>
              <a:t>Emphasise: Same-day emergency appointments on weekdays.</a:t>
            </a:r>
          </a:p>
          <a:p>
            <a:r>
              <a:rPr lang="en-US" sz="1200" dirty="0">
                <a:latin typeface="Montserrat"/>
              </a:rPr>
              <a:t>Likely pushback: Pushback: awards and press are missing. Answer: none have been found, so we do not lean on them. If you have any, send them and we will use them.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Each service you want to be found for gets a page matched to a Tier 1 keyword, plus Meridian, About, Our Team, New Patients and Contact pages. Every page has a clear way to book or call.</a:t>
            </a:r>
          </a:p>
          <a:p>
            <a:r>
              <a:rPr lang="en-US" sz="1200" dirty="0">
                <a:latin typeface="Montserrat"/>
              </a:rPr>
              <a:t>Emphasise: 11 pages counted against the 12-page scope.</a:t>
            </a:r>
          </a:p>
          <a:p>
            <a:r>
              <a:rPr lang="en-US" sz="1200" dirty="0">
                <a:latin typeface="Montserrat"/>
              </a:rPr>
              <a:t>Likely pushback: Pushback: why only 11 counted pages? Answer: the home page, contact page, 404 page, privacy and terms pages and blog posts are part of the site but not counted against the scope.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Saying no clearly now avoids a hard conversation later. Each of these has an event that would make it worth revisiting.</a:t>
            </a:r>
          </a:p>
          <a:p>
            <a:r>
              <a:rPr lang="en-US" sz="1200" dirty="0">
                <a:latin typeface="Montserrat"/>
              </a:rPr>
              <a:t>Emphasise: The agreed scope is 12 pages.</a:t>
            </a:r>
          </a:p>
          <a:p>
            <a:r>
              <a:rPr lang="en-US" sz="1200" dirty="0">
                <a:latin typeface="Montserrat"/>
              </a:rPr>
              <a:t>Likely pushback: Pushback: why not just add the insurance pages? Answer: they are outside the current scope, and we will revisit them if the scope changes.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Section three is what has to be true for the plan to work, how we measure it and what happens next.</a:t>
            </a:r>
          </a:p>
          <a:p>
            <a:r>
              <a:rPr lang="en-US" sz="1200" dirty="0">
                <a:latin typeface="Montserrat"/>
              </a:rPr>
              <a:t>Emphasise: Some of this depends on your team, and some on ours.</a:t>
            </a:r>
          </a:p>
          <a:p>
            <a:r>
              <a:rPr lang="en-US" sz="1200" dirty="0">
                <a:latin typeface="Montserrat"/>
              </a:rPr>
              <a:t>Likely pushback: Pushback: is this a lot to ask of us? Answer: it is a short list, and each item names an owner and what it holds up.</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These are the items that hold up the build. Team photos are scheduled for November. The clinical wording on implants and Invisalign needs Dr. Okafor and legal approval.</a:t>
            </a:r>
          </a:p>
          <a:p>
            <a:r>
              <a:rPr lang="en-US" sz="1200" dirty="0">
                <a:latin typeface="Montserrat"/>
              </a:rPr>
              <a:t>Emphasise: Team photos are scheduled for November.</a:t>
            </a:r>
          </a:p>
          <a:p>
            <a:r>
              <a:rPr lang="en-US" sz="1200" dirty="0">
                <a:latin typeface="Montserrat"/>
              </a:rPr>
              <a:t>Likely pushback: Pushback: what if photos slip? Answer: the About and Our Team pages wait on them, and the rest of the build continues.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We track your two main conversions and your Tier 1 rankings. Targets here are directions, not promises.</a:t>
            </a:r>
          </a:p>
          <a:p>
            <a:r>
              <a:rPr lang="en-US" sz="1200" dirty="0">
                <a:latin typeface="Montserrat"/>
              </a:rPr>
              <a:t>Emphasise: Targets are directional, not promised.</a:t>
            </a:r>
          </a:p>
          <a:p>
            <a:r>
              <a:rPr lang="en-US" sz="1200" dirty="0">
                <a:latin typeface="Montserrat"/>
              </a:rPr>
              <a:t>Likely pushback: Pushback: you said you wanted twenty more new patients a month by next summer. Answer: we treat that as your goal and measure against it, but we do not promise a patient number.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Dr. Okafor owns priorities and clinical sign-off. Your office manager supplies pricing and proof. Jordan Pike is your contact on our side.</a:t>
            </a:r>
          </a:p>
          <a:p>
            <a:r>
              <a:rPr lang="en-US" sz="1200" dirty="0">
                <a:latin typeface="Montserrat"/>
              </a:rPr>
              <a:t>Emphasise: Dr. Maya Okafor signs off clinical wording.</a:t>
            </a:r>
          </a:p>
          <a:p>
            <a:r>
              <a:rPr lang="en-US" sz="1200" dirty="0">
                <a:latin typeface="Montserrat"/>
              </a:rPr>
              <a:t>Likely pushback: Pushback: what if Dr. Okafor is away? Answer: tell us who can approve in the meantime, and we will route reviews to them.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On Monday we walk through this deck together. After that the work splits between your inputs and our writing and design.</a:t>
            </a:r>
          </a:p>
          <a:p>
            <a:r>
              <a:rPr lang="en-US" sz="1200" dirty="0">
                <a:latin typeface="Montserrat"/>
              </a:rPr>
              <a:t>Emphasise: Complete the competitor review and add it to the Blueprint.</a:t>
            </a:r>
          </a:p>
          <a:p>
            <a:r>
              <a:rPr lang="en-US" sz="1200" dirty="0">
                <a:latin typeface="Montserrat"/>
              </a:rPr>
              <a:t>Likely pushback: Pushback: when will the site be ready? Answer: that depends on the photos and approvals above, so we confirm dates once those arrive.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1600"/>
      </a:lvl1pPr>
    </p:bodyStyle>
    <p:otherStyle>
      <a:lvl1pPr>
        <a:defRPr sz="14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Img1" Type="http://schemas.openxmlformats.org/officeDocument/2006/relationships/image" Target="../media/image1_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Img1" Type="http://schemas.openxmlformats.org/officeDocument/2006/relationships/image" Target="../media/image2_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Img1" Type="http://schemas.openxmlformats.org/officeDocument/2006/relationships/image" Target="../media/image3_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Img1" Type="http://schemas.openxmlformats.org/officeDocument/2006/relationships/image" Target="../media/image4_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Img1" Type="http://schemas.openxmlformats.org/officeDocument/2006/relationships/image" Target="../media/image6_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Img1" Type="http://schemas.openxmlformats.org/officeDocument/2006/relationships/image" Target="../media/image7_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Img1" Type="http://schemas.openxmlformats.org/officeDocument/2006/relationships/image" Target="../media/image8_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Img1" Type="http://schemas.openxmlformats.org/officeDocument/2006/relationships/image" Target="../media/image9_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Img1" Type="http://schemas.openxmlformats.org/officeDocument/2006/relationships/image" Target="../media/image10_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Img1" Type="http://schemas.openxmlformats.org/officeDocument/2006/relationships/image" Target="../media/image12_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Img1" Type="http://schemas.openxmlformats.org/officeDocument/2006/relationships/image" Target="../media/image13_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Img1" Type="http://schemas.openxmlformats.org/officeDocument/2006/relationships/image" Target="../media/image14_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Img1" Type="http://schemas.openxmlformats.org/officeDocument/2006/relationships/image" Target="../media/image16_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Img1" Type="http://schemas.openxmlformats.org/officeDocument/2006/relationships/image" Target="../media/image17_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Img1" Type="http://schemas.openxmlformats.org/officeDocument/2006/relationships/image" Target="../media/image18_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Img1" Type="http://schemas.openxmlformats.org/officeDocument/2006/relationships/image" Target="../media/image19_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panel"/>
          <p:cNvSpPr/>
          <p:nvPr/>
        </p:nvSpPr>
        <p:spPr>
          <a:xfrm>
            <a:off x="8138160" y="0"/>
            <a:ext cx="4053535" cy="6858000"/>
          </a:xfrm>
          <a:prstGeom prst="rect">
            <a:avLst/>
          </a:prstGeom>
          <a:gradFill rotWithShape="1">
            <a:gsLst>
              <a:gs pos="0">
                <a:srgbClr val="020506"/>
              </a:gs>
              <a:gs pos="100000">
                <a:srgbClr val="061012"/>
              </a:gs>
            </a:gsLst>
            <a:lin ang="5400000" scaled="0"/>
          </a:gradFill>
          <a:ln>
            <a:noFill/>
          </a:ln>
        </p:spPr>
        <p:txBody>
          <a:bodyPr wrap="square" lIns="73152" tIns="73152" rIns="73152" bIns="73152" anchor="t" rtlCol="0">
            <a:noAutofit/>
          </a:bodyPr>
          <a:lstStyle/>
          <a:p>
            <a:endParaRPr lang="en-US" dirty="0"/>
          </a:p>
        </p:txBody>
      </p:sp>
      <p:sp>
        <p:nvSpPr>
          <p:cNvPr id="4" name="chrome:accent"/>
          <p:cNvSpPr/>
          <p:nvPr/>
        </p:nvSpPr>
        <p:spPr>
          <a:xfrm>
            <a:off x="8138160" y="0"/>
            <a:ext cx="109728" cy="6858000"/>
          </a:xfrm>
          <a:prstGeom prst="rect">
            <a:avLst/>
          </a:prstGeom>
          <a:solidFill>
            <a:srgbClr val="019F44"/>
          </a:solidFill>
          <a:ln>
            <a:noFill/>
          </a:ln>
        </p:spPr>
        <p:txBody>
          <a:bodyPr wrap="square" lIns="73152" tIns="73152" rIns="73152" bIns="73152" anchor="t" rtlCol="0">
            <a:noAutofit/>
          </a:bodyPr>
          <a:lstStyle/>
          <a:p>
            <a:endParaRPr lang="en-US" dirty="0"/>
          </a:p>
        </p:txBody>
      </p:sp>
      <p:pic>
        <p:nvPicPr>
          <p:cNvPr id="5" name="chrome:logo"/>
          <p:cNvPicPr>
            <a:picLocks noChangeAspect="1"/>
          </p:cNvPicPr>
          <p:nvPr/>
        </p:nvPicPr>
        <p:blipFill>
          <a:blip r:embed="rIdImg1"/>
          <a:stretch>
            <a:fillRect/>
          </a:stretch>
        </p:blipFill>
        <p:spPr>
          <a:xfrm>
            <a:off x="640080" y="548640"/>
            <a:ext cx="2216727" cy="914400"/>
          </a:xfrm>
          <a:prstGeom prst="rect">
            <a:avLst/>
          </a:prstGeom>
        </p:spPr>
      </p:pic>
      <p:sp>
        <p:nvSpPr>
          <p:cNvPr id="6" name="eyebrow"/>
          <p:cNvSpPr txBox="1"/>
          <p:nvPr/>
        </p:nvSpPr>
        <p:spPr>
          <a:xfrm>
            <a:off x="640080" y="2331720"/>
            <a:ext cx="6949440" cy="320040"/>
          </a:xfrm>
          <a:prstGeom prst="rect">
            <a:avLst/>
          </a:prstGeom>
          <a:noFill/>
          <a:ln>
            <a:noFill/>
          </a:ln>
        </p:spPr>
        <p:txBody>
          <a:bodyPr wrap="square" lIns="0" tIns="0" rIns="0" bIns="0" anchor="t" rtlCol="0">
            <a:noAutofit/>
          </a:bodyPr>
          <a:lstStyle/>
          <a:p>
            <a:pPr algn="l">
              <a:spcAft>
                <a:spcPts val="0"/>
              </a:spcAft>
            </a:pPr>
            <a:r>
              <a:rPr lang="en-US" sz="1200" b="1" i="0" spc="250" cap="all" dirty="0">
                <a:solidFill>
                  <a:srgbClr val="505858"/>
                </a:solidFill>
                <a:latin typeface="Montserrat"/>
                <a:cs typeface="Montserrat"/>
              </a:rPr>
              <a:t>WISE Digital Partners</a:t>
            </a:r>
            <a:endParaRPr lang="en-US" sz="1200" dirty="0"/>
          </a:p>
        </p:txBody>
      </p:sp>
      <p:sp>
        <p:nvSpPr>
          <p:cNvPr id="7" name="title"/>
          <p:cNvSpPr txBox="1"/>
          <p:nvPr/>
        </p:nvSpPr>
        <p:spPr>
          <a:xfrm>
            <a:off x="640080" y="2697480"/>
            <a:ext cx="7223760" cy="1097280"/>
          </a:xfrm>
          <a:prstGeom prst="rect">
            <a:avLst/>
          </a:prstGeom>
          <a:noFill/>
          <a:ln>
            <a:noFill/>
          </a:ln>
        </p:spPr>
        <p:txBody>
          <a:bodyPr wrap="square" lIns="0" tIns="0" rIns="0" bIns="0" anchor="t" rtlCol="0">
            <a:noAutofit/>
          </a:bodyPr>
          <a:lstStyle/>
          <a:p>
            <a:pPr algn="l">
              <a:spcAft>
                <a:spcPts val="0"/>
              </a:spcAft>
            </a:pPr>
            <a:r>
              <a:rPr lang="en-US" sz="5400" b="1" i="0" dirty="0">
                <a:solidFill>
                  <a:srgbClr val="111111"/>
                </a:solidFill>
                <a:latin typeface="Montserrat"/>
                <a:cs typeface="Montserrat"/>
              </a:rPr>
              <a:t>Growth Blueprint</a:t>
            </a:r>
            <a:endParaRPr lang="en-US" sz="5400" dirty="0"/>
          </a:p>
        </p:txBody>
      </p:sp>
      <p:sp>
        <p:nvSpPr>
          <p:cNvPr id="8" name="subtitle"/>
          <p:cNvSpPr txBox="1"/>
          <p:nvPr/>
        </p:nvSpPr>
        <p:spPr>
          <a:xfrm>
            <a:off x="640080" y="3840480"/>
            <a:ext cx="7223760" cy="548640"/>
          </a:xfrm>
          <a:prstGeom prst="rect">
            <a:avLst/>
          </a:prstGeom>
          <a:noFill/>
          <a:ln>
            <a:noFill/>
          </a:ln>
        </p:spPr>
        <p:txBody>
          <a:bodyPr wrap="square" lIns="0" tIns="0" rIns="0" bIns="0" anchor="t" rtlCol="0">
            <a:noAutofit/>
          </a:bodyPr>
          <a:lstStyle/>
          <a:p>
            <a:pPr algn="l">
              <a:spcAft>
                <a:spcPts val="0"/>
              </a:spcAft>
            </a:pPr>
            <a:r>
              <a:rPr lang="en-US" sz="2400" b="0" i="0" dirty="0">
                <a:solidFill>
                  <a:srgbClr val="111111"/>
                </a:solidFill>
                <a:latin typeface="Montserrat"/>
                <a:cs typeface="Montserrat"/>
              </a:rPr>
              <a:t>Prepared for Larkspur Family Dental</a:t>
            </a:r>
            <a:endParaRPr lang="en-US" sz="2400" dirty="0"/>
          </a:p>
        </p:txBody>
      </p:sp>
      <p:sp>
        <p:nvSpPr>
          <p:cNvPr id="9" name="by"/>
          <p:cNvSpPr txBox="1"/>
          <p:nvPr/>
        </p:nvSpPr>
        <p:spPr>
          <a:xfrm>
            <a:off x="640080" y="4389120"/>
            <a:ext cx="7223760" cy="457200"/>
          </a:xfrm>
          <a:prstGeom prst="rect">
            <a:avLst/>
          </a:prstGeom>
          <a:noFill/>
          <a:ln>
            <a:noFill/>
          </a:ln>
        </p:spPr>
        <p:txBody>
          <a:bodyPr wrap="square" lIns="0" tIns="0" rIns="0" bIns="0" anchor="t" rtlCol="0">
            <a:noAutofit/>
          </a:bodyPr>
          <a:lstStyle/>
          <a:p>
            <a:pPr algn="l">
              <a:spcAft>
                <a:spcPts val="0"/>
              </a:spcAft>
            </a:pPr>
            <a:r>
              <a:rPr lang="en-US" sz="1600" b="0" i="0" dirty="0">
                <a:solidFill>
                  <a:srgbClr val="505858"/>
                </a:solidFill>
                <a:latin typeface="Montserrat"/>
                <a:cs typeface="Montserrat"/>
              </a:rPr>
              <a:t>By WISE Digital Partners</a:t>
            </a:r>
            <a:endParaRPr lang="en-US" sz="1600" dirty="0"/>
          </a:p>
        </p:txBody>
      </p:sp>
      <p:sp>
        <p:nvSpPr>
          <p:cNvPr id="10" name="chrome:date"/>
          <p:cNvSpPr txBox="1"/>
          <p:nvPr/>
        </p:nvSpPr>
        <p:spPr>
          <a:xfrm>
            <a:off x="640080" y="5852160"/>
            <a:ext cx="7223760" cy="365760"/>
          </a:xfrm>
          <a:prstGeom prst="rect">
            <a:avLst/>
          </a:prstGeom>
          <a:noFill/>
          <a:ln>
            <a:noFill/>
          </a:ln>
        </p:spPr>
        <p:txBody>
          <a:bodyPr wrap="square" lIns="0" tIns="0" rIns="0" bIns="0" anchor="t" rtlCol="0">
            <a:noAutofit/>
          </a:bodyPr>
          <a:lstStyle/>
          <a:p>
            <a:pPr algn="l">
              <a:spcAft>
                <a:spcPts val="0"/>
              </a:spcAft>
            </a:pPr>
            <a:r>
              <a:rPr lang="en-US" sz="1400" b="0" i="0" dirty="0">
                <a:solidFill>
                  <a:srgbClr val="505858"/>
                </a:solidFill>
                <a:latin typeface="Montserrat"/>
                <a:cs typeface="Montserrat"/>
              </a:rPr>
              <a:t>October 20,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The Diagnosis</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Larkspur has no website, so emergency patients in Boise cannot find you</a:t>
            </a:r>
            <a:endParaRPr lang="en-US" sz="2800" dirty="0"/>
          </a:p>
        </p:txBody>
      </p:sp>
      <p:sp>
        <p:nvSpPr>
          <p:cNvPr id="6" name="stat:1"/>
          <p:cNvSpPr txBox="1"/>
          <p:nvPr/>
        </p:nvSpPr>
        <p:spPr>
          <a:xfrm>
            <a:off x="640080" y="2148840"/>
            <a:ext cx="10881360" cy="1737360"/>
          </a:xfrm>
          <a:prstGeom prst="rect">
            <a:avLst/>
          </a:prstGeom>
          <a:noFill/>
          <a:ln>
            <a:noFill/>
          </a:ln>
        </p:spPr>
        <p:txBody>
          <a:bodyPr wrap="square" lIns="0" tIns="0" rIns="0" bIns="0" anchor="b" rtlCol="0">
            <a:noAutofit/>
          </a:bodyPr>
          <a:lstStyle/>
          <a:p>
            <a:pPr algn="l">
              <a:spcAft>
                <a:spcPts val="0"/>
              </a:spcAft>
            </a:pPr>
            <a:r>
              <a:rPr lang="en-US" sz="11000" b="1" i="0" dirty="0">
                <a:solidFill>
                  <a:srgbClr val="017A34"/>
                </a:solidFill>
                <a:latin typeface="Montserrat"/>
                <a:cs typeface="Montserrat"/>
              </a:rPr>
              <a:t>1,300</a:t>
            </a:r>
            <a:endParaRPr lang="en-US" sz="11000" dirty="0"/>
          </a:p>
        </p:txBody>
      </p:sp>
      <p:sp>
        <p:nvSpPr>
          <p:cNvPr id="7" name="caption:1"/>
          <p:cNvSpPr txBox="1"/>
          <p:nvPr/>
        </p:nvSpPr>
        <p:spPr>
          <a:xfrm>
            <a:off x="640080" y="3931920"/>
            <a:ext cx="10881360" cy="457200"/>
          </a:xfrm>
          <a:prstGeom prst="rect">
            <a:avLst/>
          </a:prstGeom>
          <a:noFill/>
          <a:ln>
            <a:noFill/>
          </a:ln>
        </p:spPr>
        <p:txBody>
          <a:bodyPr wrap="square" lIns="0" tIns="0" rIns="0" bIns="0" anchor="t" rtlCol="0">
            <a:noAutofit/>
          </a:bodyPr>
          <a:lstStyle/>
          <a:p>
            <a:pPr algn="l">
              <a:spcAft>
                <a:spcPts val="0"/>
              </a:spcAft>
            </a:pPr>
            <a:r>
              <a:rPr lang="en-US" sz="1800" b="1" i="0" dirty="0">
                <a:solidFill>
                  <a:srgbClr val="111111"/>
                </a:solidFill>
                <a:latin typeface="Montserrat"/>
                <a:cs typeface="Montserrat"/>
              </a:rPr>
              <a:t>monthly searches for emergency dentist boise</a:t>
            </a:r>
            <a:endParaRPr lang="en-US" sz="1800" dirty="0"/>
          </a:p>
        </p:txBody>
      </p:sp>
      <p:sp>
        <p:nvSpPr>
          <p:cNvPr id="8" name="body"/>
          <p:cNvSpPr txBox="1"/>
          <p:nvPr/>
        </p:nvSpPr>
        <p:spPr>
          <a:xfrm>
            <a:off x="640080" y="4526280"/>
            <a:ext cx="9601200" cy="1463040"/>
          </a:xfrm>
          <a:prstGeom prst="rect">
            <a:avLst/>
          </a:prstGeom>
          <a:noFill/>
          <a:ln>
            <a:noFill/>
          </a:ln>
        </p:spPr>
        <p:txBody>
          <a:bodyPr wrap="square" lIns="0" tIns="0" rIns="0" bIns="0" anchor="t" rtlCol="0">
            <a:noAutofit/>
          </a:bodyPr>
          <a:lstStyle/>
          <a:p>
            <a:pPr algn="l">
              <a:lnSpc>
                <a:spcPct val="110000"/>
              </a:lnSpc>
              <a:spcAft>
                <a:spcPts val="600"/>
              </a:spcAft>
            </a:pPr>
            <a:r>
              <a:rPr lang="en-US" sz="1700" b="0" i="0" dirty="0">
                <a:solidFill>
                  <a:srgbClr val="505858"/>
                </a:solidFill>
                <a:latin typeface="Montserrat"/>
                <a:cs typeface="Montserrat"/>
              </a:rPr>
              <a:t>The practice has no website today, only the registered domain larkspurdental.com.</a:t>
            </a:r>
            <a:endParaRPr lang="en-US" sz="1700" dirty="0"/>
          </a:p>
          <a:p>
            <a:pPr algn="l">
              <a:lnSpc>
                <a:spcPct val="110000"/>
              </a:lnSpc>
              <a:spcAft>
                <a:spcPts val="600"/>
              </a:spcAft>
            </a:pPr>
            <a:r>
              <a:rPr lang="en-US" sz="1700" b="0" i="0" dirty="0">
                <a:solidFill>
                  <a:srgbClr val="505858"/>
                </a:solidFill>
                <a:latin typeface="Montserrat"/>
                <a:cs typeface="Montserrat"/>
              </a:rPr>
              <a:t>No Boise practice has a dedicated emergency page in the top 5 results yet.</a:t>
            </a:r>
            <a:endParaRPr lang="en-US" sz="1700" dirty="0"/>
          </a:p>
        </p:txBody>
      </p:sp>
      <p:sp>
        <p:nvSpPr>
          <p:cNvPr id="9"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0" name="chrome:logo"/>
          <p:cNvPicPr>
            <a:picLocks noChangeAspect="1"/>
          </p:cNvPicPr>
          <p:nvPr/>
        </p:nvPicPr>
        <p:blipFill>
          <a:blip r:embed="rIdImg1"/>
          <a:stretch>
            <a:fillRect/>
          </a:stretch>
        </p:blipFill>
        <p:spPr>
          <a:xfrm>
            <a:off x="640080" y="6400800"/>
            <a:ext cx="665018" cy="274320"/>
          </a:xfrm>
          <a:prstGeom prst="rect">
            <a:avLst/>
          </a:prstGeom>
        </p:spPr>
      </p:pic>
      <p:sp>
        <p:nvSpPr>
          <p:cNvPr id="11"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2"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This Costs You</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Meridian families and implant patients searching today have no way to find you</a:t>
            </a:r>
            <a:endParaRPr lang="en-US" sz="2800" dirty="0"/>
          </a:p>
        </p:txBody>
      </p:sp>
      <p:sp>
        <p:nvSpPr>
          <p:cNvPr id="6" name="chrome:card"/>
          <p:cNvSpPr/>
          <p:nvPr/>
        </p:nvSpPr>
        <p:spPr>
          <a:xfrm>
            <a:off x="640080" y="2194560"/>
            <a:ext cx="5303520" cy="2377440"/>
          </a:xfrm>
          <a:prstGeom prst="roundRect">
            <a:avLst>
              <a:gd name="adj" fmla="val 6000"/>
            </a:avLst>
          </a:prstGeom>
          <a:solidFill>
            <a:srgbClr val="F2FAF6"/>
          </a:solidFill>
          <a:ln>
            <a:noFill/>
          </a:ln>
        </p:spPr>
        <p:txBody>
          <a:bodyPr wrap="square" lIns="73152" tIns="73152" rIns="73152" bIns="73152" anchor="t" rtlCol="0">
            <a:noAutofit/>
          </a:bodyPr>
          <a:lstStyle/>
          <a:p>
            <a:endParaRPr lang="en-US" dirty="0"/>
          </a:p>
        </p:txBody>
      </p:sp>
      <p:sp>
        <p:nvSpPr>
          <p:cNvPr id="7" name="stat:1"/>
          <p:cNvSpPr txBox="1"/>
          <p:nvPr/>
        </p:nvSpPr>
        <p:spPr>
          <a:xfrm>
            <a:off x="914400" y="2423160"/>
            <a:ext cx="4754880" cy="1188720"/>
          </a:xfrm>
          <a:prstGeom prst="rect">
            <a:avLst/>
          </a:prstGeom>
          <a:noFill/>
          <a:ln>
            <a:noFill/>
          </a:ln>
        </p:spPr>
        <p:txBody>
          <a:bodyPr wrap="square" lIns="0" tIns="0" rIns="0" bIns="0" anchor="b" rtlCol="0">
            <a:noAutofit/>
          </a:bodyPr>
          <a:lstStyle/>
          <a:p>
            <a:pPr algn="l">
              <a:spcAft>
                <a:spcPts val="0"/>
              </a:spcAft>
            </a:pPr>
            <a:r>
              <a:rPr lang="en-US" sz="4400" b="1" i="0" dirty="0">
                <a:solidFill>
                  <a:srgbClr val="017A34"/>
                </a:solidFill>
                <a:latin typeface="Montserrat"/>
                <a:cs typeface="Montserrat"/>
              </a:rPr>
              <a:t>1,600</a:t>
            </a:r>
            <a:endParaRPr lang="en-US" sz="4400" dirty="0"/>
          </a:p>
        </p:txBody>
      </p:sp>
      <p:sp>
        <p:nvSpPr>
          <p:cNvPr id="8" name="caption:1"/>
          <p:cNvSpPr txBox="1"/>
          <p:nvPr/>
        </p:nvSpPr>
        <p:spPr>
          <a:xfrm>
            <a:off x="914400" y="3657600"/>
            <a:ext cx="4754880" cy="1069848"/>
          </a:xfrm>
          <a:prstGeom prst="rect">
            <a:avLst/>
          </a:prstGeom>
          <a:noFill/>
          <a:ln>
            <a:noFill/>
          </a:ln>
        </p:spPr>
        <p:txBody>
          <a:bodyPr wrap="square" lIns="0" tIns="0" rIns="0" bIns="0" anchor="t" rtlCol="0">
            <a:noAutofit/>
          </a:bodyPr>
          <a:lstStyle/>
          <a:p>
            <a:pPr algn="l">
              <a:lnSpc>
                <a:spcPct val="110000"/>
              </a:lnSpc>
              <a:spcAft>
                <a:spcPts val="0"/>
              </a:spcAft>
            </a:pPr>
            <a:r>
              <a:rPr lang="en-US" sz="1400" b="0" i="0" dirty="0">
                <a:solidFill>
                  <a:srgbClr val="505858"/>
                </a:solidFill>
                <a:latin typeface="Montserrat"/>
                <a:cs typeface="Montserrat"/>
              </a:rPr>
              <a:t>monthly searches for dentist meridian idaho</a:t>
            </a:r>
            <a:endParaRPr lang="en-US" sz="1400" dirty="0"/>
          </a:p>
        </p:txBody>
      </p:sp>
      <p:sp>
        <p:nvSpPr>
          <p:cNvPr id="9" name="chrome:card"/>
          <p:cNvSpPr/>
          <p:nvPr/>
        </p:nvSpPr>
        <p:spPr>
          <a:xfrm>
            <a:off x="6217920" y="2194560"/>
            <a:ext cx="5303520" cy="2377440"/>
          </a:xfrm>
          <a:prstGeom prst="roundRect">
            <a:avLst>
              <a:gd name="adj" fmla="val 6000"/>
            </a:avLst>
          </a:prstGeom>
          <a:solidFill>
            <a:srgbClr val="F2FAF6"/>
          </a:solidFill>
          <a:ln>
            <a:noFill/>
          </a:ln>
        </p:spPr>
        <p:txBody>
          <a:bodyPr wrap="square" lIns="73152" tIns="73152" rIns="73152" bIns="73152" anchor="t" rtlCol="0">
            <a:noAutofit/>
          </a:bodyPr>
          <a:lstStyle/>
          <a:p>
            <a:endParaRPr lang="en-US" dirty="0"/>
          </a:p>
        </p:txBody>
      </p:sp>
      <p:sp>
        <p:nvSpPr>
          <p:cNvPr id="10" name="stat:2"/>
          <p:cNvSpPr txBox="1"/>
          <p:nvPr/>
        </p:nvSpPr>
        <p:spPr>
          <a:xfrm>
            <a:off x="6492240" y="2423160"/>
            <a:ext cx="4754880" cy="1188720"/>
          </a:xfrm>
          <a:prstGeom prst="rect">
            <a:avLst/>
          </a:prstGeom>
          <a:noFill/>
          <a:ln>
            <a:noFill/>
          </a:ln>
        </p:spPr>
        <p:txBody>
          <a:bodyPr wrap="square" lIns="0" tIns="0" rIns="0" bIns="0" anchor="b" rtlCol="0">
            <a:noAutofit/>
          </a:bodyPr>
          <a:lstStyle/>
          <a:p>
            <a:pPr algn="l">
              <a:spcAft>
                <a:spcPts val="0"/>
              </a:spcAft>
            </a:pPr>
            <a:r>
              <a:rPr lang="en-US" sz="4400" b="1" i="0" dirty="0">
                <a:solidFill>
                  <a:srgbClr val="111111"/>
                </a:solidFill>
                <a:latin typeface="Montserrat"/>
                <a:cs typeface="Montserrat"/>
              </a:rPr>
              <a:t>880</a:t>
            </a:r>
            <a:endParaRPr lang="en-US" sz="4400" dirty="0"/>
          </a:p>
        </p:txBody>
      </p:sp>
      <p:sp>
        <p:nvSpPr>
          <p:cNvPr id="11" name="caption:2"/>
          <p:cNvSpPr txBox="1"/>
          <p:nvPr/>
        </p:nvSpPr>
        <p:spPr>
          <a:xfrm>
            <a:off x="6492240" y="3657600"/>
            <a:ext cx="4754880" cy="1069848"/>
          </a:xfrm>
          <a:prstGeom prst="rect">
            <a:avLst/>
          </a:prstGeom>
          <a:noFill/>
          <a:ln>
            <a:noFill/>
          </a:ln>
        </p:spPr>
        <p:txBody>
          <a:bodyPr wrap="square" lIns="0" tIns="0" rIns="0" bIns="0" anchor="t" rtlCol="0">
            <a:noAutofit/>
          </a:bodyPr>
          <a:lstStyle/>
          <a:p>
            <a:pPr algn="l">
              <a:lnSpc>
                <a:spcPct val="110000"/>
              </a:lnSpc>
              <a:spcAft>
                <a:spcPts val="0"/>
              </a:spcAft>
            </a:pPr>
            <a:r>
              <a:rPr lang="en-US" sz="1400" b="0" i="0" dirty="0">
                <a:solidFill>
                  <a:srgbClr val="505858"/>
                </a:solidFill>
                <a:latin typeface="Montserrat"/>
                <a:cs typeface="Montserrat"/>
              </a:rPr>
              <a:t>monthly searches for dental implants boise</a:t>
            </a:r>
            <a:endParaRPr lang="en-US" sz="1400" dirty="0"/>
          </a:p>
        </p:txBody>
      </p:sp>
      <p:sp>
        <p:nvSpPr>
          <p:cNvPr id="12" name="body"/>
          <p:cNvSpPr txBox="1"/>
          <p:nvPr/>
        </p:nvSpPr>
        <p:spPr>
          <a:xfrm>
            <a:off x="640080" y="4800600"/>
            <a:ext cx="10881360" cy="1280160"/>
          </a:xfrm>
          <a:prstGeom prst="rect">
            <a:avLst/>
          </a:prstGeom>
          <a:noFill/>
          <a:ln>
            <a:noFill/>
          </a:ln>
        </p:spPr>
        <p:txBody>
          <a:bodyPr wrap="square" lIns="0" tIns="0" rIns="0" bIns="0" anchor="t" rtlCol="0">
            <a:noAutofit/>
          </a:bodyPr>
          <a:lstStyle/>
          <a:p>
            <a:pPr algn="l">
              <a:lnSpc>
                <a:spcPct val="110000"/>
              </a:lnSpc>
              <a:spcAft>
                <a:spcPts val="800"/>
              </a:spcAft>
            </a:pPr>
            <a:r>
              <a:rPr lang="en-US" sz="1500" b="0" i="0" dirty="0">
                <a:solidFill>
                  <a:srgbClr val="017A34"/>
                </a:solidFill>
                <a:latin typeface="Montserrat"/>
                <a:cs typeface="Montserrat"/>
              </a:rPr>
              <a:t>▪  </a:t>
            </a:r>
            <a:r>
              <a:rPr lang="en-US" sz="1500" b="0" i="0" dirty="0">
                <a:solidFill>
                  <a:srgbClr val="505858"/>
                </a:solidFill>
                <a:latin typeface="Montserrat"/>
                <a:cs typeface="Montserrat"/>
              </a:rPr>
              <a:t>Both are services you told us matter most.</a:t>
            </a:r>
            <a:endParaRPr lang="en-US" sz="1500" dirty="0"/>
          </a:p>
        </p:txBody>
      </p:sp>
      <p:sp>
        <p:nvSpPr>
          <p:cNvPr id="13"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4" name="chrome:logo"/>
          <p:cNvPicPr>
            <a:picLocks noChangeAspect="1"/>
          </p:cNvPicPr>
          <p:nvPr/>
        </p:nvPicPr>
        <p:blipFill>
          <a:blip r:embed="rIdImg1"/>
          <a:stretch>
            <a:fillRect/>
          </a:stretch>
        </p:blipFill>
        <p:spPr>
          <a:xfrm>
            <a:off x="640080" y="6400800"/>
            <a:ext cx="665018" cy="274320"/>
          </a:xfrm>
          <a:prstGeom prst="rect">
            <a:avLst/>
          </a:prstGeom>
        </p:spPr>
      </p:pic>
      <p:sp>
        <p:nvSpPr>
          <p:cNvPr id="15"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6"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You Told Us</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You told us to lead with emergencies, explain sedation gently and stay calm in tone</a:t>
            </a:r>
            <a:endParaRPr lang="en-US" sz="2800" dirty="0"/>
          </a:p>
        </p:txBody>
      </p:sp>
      <p:sp>
        <p:nvSpPr>
          <p:cNvPr id="6" name="chrome:card"/>
          <p:cNvSpPr/>
          <p:nvPr/>
        </p:nvSpPr>
        <p:spPr>
          <a:xfrm>
            <a:off x="640080" y="2103120"/>
            <a:ext cx="5303520" cy="187452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7" name="chrome:bar"/>
          <p:cNvSpPr/>
          <p:nvPr/>
        </p:nvSpPr>
        <p:spPr>
          <a:xfrm>
            <a:off x="640080" y="2331720"/>
            <a:ext cx="64008" cy="1417320"/>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8" name="quote:1"/>
          <p:cNvSpPr txBox="1"/>
          <p:nvPr/>
        </p:nvSpPr>
        <p:spPr>
          <a:xfrm>
            <a:off x="960120" y="2286000"/>
            <a:ext cx="4754880" cy="1005840"/>
          </a:xfrm>
          <a:prstGeom prst="rect">
            <a:avLst/>
          </a:prstGeom>
          <a:noFill/>
          <a:ln>
            <a:noFill/>
          </a:ln>
        </p:spPr>
        <p:txBody>
          <a:bodyPr wrap="square" lIns="0" tIns="0" rIns="0" bIns="0" anchor="t" rtlCol="0">
            <a:noAutofit/>
          </a:bodyPr>
          <a:lstStyle/>
          <a:p>
            <a:pPr algn="l">
              <a:lnSpc>
                <a:spcPct val="110000"/>
              </a:lnSpc>
              <a:spcAft>
                <a:spcPts val="0"/>
              </a:spcAft>
            </a:pPr>
            <a:r>
              <a:rPr lang="en-US" sz="1600" b="0" i="1" dirty="0">
                <a:solidFill>
                  <a:srgbClr val="111111"/>
                </a:solidFill>
                <a:latin typeface="Montserrat"/>
                <a:cs typeface="Montserrat"/>
              </a:rPr>
              <a:t>“We see emergencies the same day, every weekday, no exceptions.”</a:t>
            </a:r>
            <a:endParaRPr lang="en-US" sz="1600" dirty="0"/>
          </a:p>
        </p:txBody>
      </p:sp>
      <p:sp>
        <p:nvSpPr>
          <p:cNvPr id="9" name="attr:1"/>
          <p:cNvSpPr txBox="1"/>
          <p:nvPr/>
        </p:nvSpPr>
        <p:spPr>
          <a:xfrm>
            <a:off x="960120" y="331927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505858"/>
                </a:solidFill>
                <a:latin typeface="Montserrat"/>
                <a:cs typeface="Montserrat"/>
              </a:rPr>
              <a:t>Dr. Maya Okafor, kickoff call, 2026-10-09</a:t>
            </a:r>
            <a:endParaRPr lang="en-US" sz="1100" dirty="0"/>
          </a:p>
        </p:txBody>
      </p:sp>
      <p:sp>
        <p:nvSpPr>
          <p:cNvPr id="10" name="drives:1"/>
          <p:cNvSpPr txBox="1"/>
          <p:nvPr/>
        </p:nvSpPr>
        <p:spPr>
          <a:xfrm>
            <a:off x="960120" y="359359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017A34"/>
                </a:solidFill>
                <a:latin typeface="Montserrat"/>
                <a:cs typeface="Montserrat"/>
              </a:rPr>
              <a:t>Drives: Priority: emergencies lead</a:t>
            </a:r>
            <a:endParaRPr lang="en-US" sz="1100" dirty="0"/>
          </a:p>
        </p:txBody>
      </p:sp>
      <p:sp>
        <p:nvSpPr>
          <p:cNvPr id="11" name="chrome:card"/>
          <p:cNvSpPr/>
          <p:nvPr/>
        </p:nvSpPr>
        <p:spPr>
          <a:xfrm>
            <a:off x="6217920" y="2103120"/>
            <a:ext cx="5303520" cy="187452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12" name="chrome:bar"/>
          <p:cNvSpPr/>
          <p:nvPr/>
        </p:nvSpPr>
        <p:spPr>
          <a:xfrm>
            <a:off x="6217920" y="2331720"/>
            <a:ext cx="64008" cy="1417320"/>
          </a:xfrm>
          <a:prstGeom prst="rect">
            <a:avLst/>
          </a:prstGeom>
          <a:solidFill>
            <a:srgbClr val="99D9B4"/>
          </a:solidFill>
          <a:ln>
            <a:noFill/>
          </a:ln>
        </p:spPr>
        <p:txBody>
          <a:bodyPr wrap="square" lIns="73152" tIns="73152" rIns="73152" bIns="73152" anchor="t" rtlCol="0">
            <a:noAutofit/>
          </a:bodyPr>
          <a:lstStyle/>
          <a:p>
            <a:endParaRPr lang="en-US" dirty="0"/>
          </a:p>
        </p:txBody>
      </p:sp>
      <p:sp>
        <p:nvSpPr>
          <p:cNvPr id="13" name="quote:2"/>
          <p:cNvSpPr txBox="1"/>
          <p:nvPr/>
        </p:nvSpPr>
        <p:spPr>
          <a:xfrm>
            <a:off x="6537960" y="2286000"/>
            <a:ext cx="4754880" cy="1005840"/>
          </a:xfrm>
          <a:prstGeom prst="rect">
            <a:avLst/>
          </a:prstGeom>
          <a:noFill/>
          <a:ln>
            <a:noFill/>
          </a:ln>
        </p:spPr>
        <p:txBody>
          <a:bodyPr wrap="square" lIns="0" tIns="0" rIns="0" bIns="0" anchor="t" rtlCol="0">
            <a:noAutofit/>
          </a:bodyPr>
          <a:lstStyle/>
          <a:p>
            <a:pPr algn="l">
              <a:lnSpc>
                <a:spcPct val="110000"/>
              </a:lnSpc>
              <a:spcAft>
                <a:spcPts val="0"/>
              </a:spcAft>
            </a:pPr>
            <a:r>
              <a:rPr lang="en-US" sz="1600" b="0" i="1" dirty="0">
                <a:solidFill>
                  <a:srgbClr val="111111"/>
                </a:solidFill>
                <a:latin typeface="Montserrat"/>
                <a:cs typeface="Montserrat"/>
              </a:rPr>
              <a:t>“If the site can just explain sedation without making it scary, that's a win.”</a:t>
            </a:r>
            <a:endParaRPr lang="en-US" sz="1600" dirty="0"/>
          </a:p>
        </p:txBody>
      </p:sp>
      <p:sp>
        <p:nvSpPr>
          <p:cNvPr id="14" name="attr:2"/>
          <p:cNvSpPr txBox="1"/>
          <p:nvPr/>
        </p:nvSpPr>
        <p:spPr>
          <a:xfrm>
            <a:off x="6537960" y="331927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505858"/>
                </a:solidFill>
                <a:latin typeface="Montserrat"/>
                <a:cs typeface="Montserrat"/>
              </a:rPr>
              <a:t>Dr. Maya Okafor, kickoff call, 2026-10-09</a:t>
            </a:r>
            <a:endParaRPr lang="en-US" sz="1100" dirty="0"/>
          </a:p>
        </p:txBody>
      </p:sp>
      <p:sp>
        <p:nvSpPr>
          <p:cNvPr id="15" name="drives:2"/>
          <p:cNvSpPr txBox="1"/>
          <p:nvPr/>
        </p:nvSpPr>
        <p:spPr>
          <a:xfrm>
            <a:off x="6537960" y="359359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017A34"/>
                </a:solidFill>
                <a:latin typeface="Montserrat"/>
                <a:cs typeface="Montserrat"/>
              </a:rPr>
              <a:t>Drives: Sedation explained gently</a:t>
            </a:r>
            <a:endParaRPr lang="en-US" sz="1100" dirty="0"/>
          </a:p>
        </p:txBody>
      </p:sp>
      <p:sp>
        <p:nvSpPr>
          <p:cNvPr id="16" name="chrome:card"/>
          <p:cNvSpPr/>
          <p:nvPr/>
        </p:nvSpPr>
        <p:spPr>
          <a:xfrm>
            <a:off x="640080" y="4251960"/>
            <a:ext cx="5303520" cy="187452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17" name="chrome:bar"/>
          <p:cNvSpPr/>
          <p:nvPr/>
        </p:nvSpPr>
        <p:spPr>
          <a:xfrm>
            <a:off x="640080" y="4480560"/>
            <a:ext cx="64008" cy="1417320"/>
          </a:xfrm>
          <a:prstGeom prst="rect">
            <a:avLst/>
          </a:prstGeom>
          <a:solidFill>
            <a:srgbClr val="99D9B4"/>
          </a:solidFill>
          <a:ln>
            <a:noFill/>
          </a:ln>
        </p:spPr>
        <p:txBody>
          <a:bodyPr wrap="square" lIns="73152" tIns="73152" rIns="73152" bIns="73152" anchor="t" rtlCol="0">
            <a:noAutofit/>
          </a:bodyPr>
          <a:lstStyle/>
          <a:p>
            <a:endParaRPr lang="en-US" dirty="0"/>
          </a:p>
        </p:txBody>
      </p:sp>
      <p:sp>
        <p:nvSpPr>
          <p:cNvPr id="18" name="quote:3"/>
          <p:cNvSpPr txBox="1"/>
          <p:nvPr/>
        </p:nvSpPr>
        <p:spPr>
          <a:xfrm>
            <a:off x="960120" y="4434840"/>
            <a:ext cx="4754880" cy="1005840"/>
          </a:xfrm>
          <a:prstGeom prst="rect">
            <a:avLst/>
          </a:prstGeom>
          <a:noFill/>
          <a:ln>
            <a:noFill/>
          </a:ln>
        </p:spPr>
        <p:txBody>
          <a:bodyPr wrap="square" lIns="0" tIns="0" rIns="0" bIns="0" anchor="t" rtlCol="0">
            <a:noAutofit/>
          </a:bodyPr>
          <a:lstStyle/>
          <a:p>
            <a:pPr algn="l">
              <a:lnSpc>
                <a:spcPct val="110000"/>
              </a:lnSpc>
              <a:spcAft>
                <a:spcPts val="0"/>
              </a:spcAft>
            </a:pPr>
            <a:r>
              <a:rPr lang="en-US" sz="1600" b="0" i="1" dirty="0">
                <a:solidFill>
                  <a:srgbClr val="111111"/>
                </a:solidFill>
                <a:latin typeface="Montserrat"/>
                <a:cs typeface="Montserrat"/>
              </a:rPr>
              <a:t>“Implants change people's lives, and most people don't know we do them.”</a:t>
            </a:r>
            <a:endParaRPr lang="en-US" sz="1600" dirty="0"/>
          </a:p>
        </p:txBody>
      </p:sp>
      <p:sp>
        <p:nvSpPr>
          <p:cNvPr id="19" name="attr:3"/>
          <p:cNvSpPr txBox="1"/>
          <p:nvPr/>
        </p:nvSpPr>
        <p:spPr>
          <a:xfrm>
            <a:off x="960120" y="546811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505858"/>
                </a:solidFill>
                <a:latin typeface="Montserrat"/>
                <a:cs typeface="Montserrat"/>
              </a:rPr>
              <a:t>Dr. Maya Okafor, kickoff call, 2026-10-09</a:t>
            </a:r>
            <a:endParaRPr lang="en-US" sz="1100" dirty="0"/>
          </a:p>
        </p:txBody>
      </p:sp>
      <p:sp>
        <p:nvSpPr>
          <p:cNvPr id="20" name="drives:3"/>
          <p:cNvSpPr txBox="1"/>
          <p:nvPr/>
        </p:nvSpPr>
        <p:spPr>
          <a:xfrm>
            <a:off x="960120" y="574243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017A34"/>
                </a:solidFill>
                <a:latin typeface="Montserrat"/>
                <a:cs typeface="Montserrat"/>
              </a:rPr>
              <a:t>Drives: Implants get their own page</a:t>
            </a:r>
            <a:endParaRPr lang="en-US" sz="1100" dirty="0"/>
          </a:p>
        </p:txBody>
      </p:sp>
      <p:sp>
        <p:nvSpPr>
          <p:cNvPr id="21" name="chrome:card"/>
          <p:cNvSpPr/>
          <p:nvPr/>
        </p:nvSpPr>
        <p:spPr>
          <a:xfrm>
            <a:off x="6217920" y="4251960"/>
            <a:ext cx="5303520" cy="187452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22" name="chrome:bar"/>
          <p:cNvSpPr/>
          <p:nvPr/>
        </p:nvSpPr>
        <p:spPr>
          <a:xfrm>
            <a:off x="6217920" y="4480560"/>
            <a:ext cx="64008" cy="1417320"/>
          </a:xfrm>
          <a:prstGeom prst="rect">
            <a:avLst/>
          </a:prstGeom>
          <a:solidFill>
            <a:srgbClr val="99D9B4"/>
          </a:solidFill>
          <a:ln>
            <a:noFill/>
          </a:ln>
        </p:spPr>
        <p:txBody>
          <a:bodyPr wrap="square" lIns="73152" tIns="73152" rIns="73152" bIns="73152" anchor="t" rtlCol="0">
            <a:noAutofit/>
          </a:bodyPr>
          <a:lstStyle/>
          <a:p>
            <a:endParaRPr lang="en-US" dirty="0"/>
          </a:p>
        </p:txBody>
      </p:sp>
      <p:sp>
        <p:nvSpPr>
          <p:cNvPr id="23" name="quote:4"/>
          <p:cNvSpPr txBox="1"/>
          <p:nvPr/>
        </p:nvSpPr>
        <p:spPr>
          <a:xfrm>
            <a:off x="6537960" y="4434840"/>
            <a:ext cx="4754880" cy="1005840"/>
          </a:xfrm>
          <a:prstGeom prst="rect">
            <a:avLst/>
          </a:prstGeom>
          <a:noFill/>
          <a:ln>
            <a:noFill/>
          </a:ln>
        </p:spPr>
        <p:txBody>
          <a:bodyPr wrap="square" lIns="0" tIns="0" rIns="0" bIns="0" anchor="t" rtlCol="0">
            <a:noAutofit/>
          </a:bodyPr>
          <a:lstStyle/>
          <a:p>
            <a:pPr algn="l">
              <a:lnSpc>
                <a:spcPct val="110000"/>
              </a:lnSpc>
              <a:spcAft>
                <a:spcPts val="0"/>
              </a:spcAft>
            </a:pPr>
            <a:r>
              <a:rPr lang="en-US" sz="1600" b="0" i="1" dirty="0">
                <a:solidFill>
                  <a:srgbClr val="111111"/>
                </a:solidFill>
                <a:latin typeface="Montserrat"/>
                <a:cs typeface="Montserrat"/>
              </a:rPr>
              <a:t>“We never want to sound like a used-car lot. Calm, clear, no pressure.”</a:t>
            </a:r>
            <a:endParaRPr lang="en-US" sz="1600" dirty="0"/>
          </a:p>
        </p:txBody>
      </p:sp>
      <p:sp>
        <p:nvSpPr>
          <p:cNvPr id="24" name="attr:4"/>
          <p:cNvSpPr txBox="1"/>
          <p:nvPr/>
        </p:nvSpPr>
        <p:spPr>
          <a:xfrm>
            <a:off x="6537960" y="546811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505858"/>
                </a:solidFill>
                <a:latin typeface="Montserrat"/>
                <a:cs typeface="Montserrat"/>
              </a:rPr>
              <a:t>Dr. Maya Okafor, kickoff call, 2026-10-09</a:t>
            </a:r>
            <a:endParaRPr lang="en-US" sz="1100" dirty="0"/>
          </a:p>
        </p:txBody>
      </p:sp>
      <p:sp>
        <p:nvSpPr>
          <p:cNvPr id="25" name="drives:4"/>
          <p:cNvSpPr txBox="1"/>
          <p:nvPr/>
        </p:nvSpPr>
        <p:spPr>
          <a:xfrm>
            <a:off x="6537960" y="574243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017A34"/>
                </a:solidFill>
                <a:latin typeface="Montserrat"/>
                <a:cs typeface="Montserrat"/>
              </a:rPr>
              <a:t>Drives: Voice: calm, no pressure</a:t>
            </a:r>
            <a:endParaRPr lang="en-US" sz="1100" dirty="0"/>
          </a:p>
        </p:txBody>
      </p:sp>
      <p:sp>
        <p:nvSpPr>
          <p:cNvPr id="26"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27" name="chrome:logo"/>
          <p:cNvPicPr>
            <a:picLocks noChangeAspect="1"/>
          </p:cNvPicPr>
          <p:nvPr/>
        </p:nvPicPr>
        <p:blipFill>
          <a:blip r:embed="rIdImg1"/>
          <a:stretch>
            <a:fillRect/>
          </a:stretch>
        </p:blipFill>
        <p:spPr>
          <a:xfrm>
            <a:off x="640080" y="6400800"/>
            <a:ext cx="665018" cy="274320"/>
          </a:xfrm>
          <a:prstGeom prst="rect">
            <a:avLst/>
          </a:prstGeom>
        </p:spPr>
      </p:pic>
      <p:sp>
        <p:nvSpPr>
          <p:cNvPr id="28"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29"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0506"/>
            </a:gs>
            <a:gs pos="100000">
              <a:srgbClr val="061012"/>
            </a:gs>
          </a:gsLst>
          <a:lin ang="5400000" scaled="0"/>
        </a:gradFill>
        <a:effectLst/>
      </p:bgPr>
    </p:bg>
    <p:spTree>
      <p:nvGrpSpPr>
        <p:cNvPr id="1" name=""/>
        <p:cNvGrpSpPr/>
        <p:nvPr/>
      </p:nvGrpSpPr>
      <p:grpSpPr>
        <a:xfrm>
          <a:off x="0" y="0"/>
          <a:ext cx="0" cy="0"/>
          <a:chOff x="0" y="0"/>
          <a:chExt cx="0" cy="0"/>
        </a:xfrm>
      </p:grpSpPr>
      <p:sp>
        <p:nvSpPr>
          <p:cNvPr id="3" name="chrome:divnum"/>
          <p:cNvSpPr txBox="1"/>
          <p:nvPr/>
        </p:nvSpPr>
        <p:spPr>
          <a:xfrm>
            <a:off x="640080" y="1828800"/>
            <a:ext cx="3657600" cy="1097280"/>
          </a:xfrm>
          <a:prstGeom prst="rect">
            <a:avLst/>
          </a:prstGeom>
          <a:noFill/>
          <a:ln>
            <a:noFill/>
          </a:ln>
        </p:spPr>
        <p:txBody>
          <a:bodyPr wrap="square" lIns="0" tIns="0" rIns="0" bIns="0" anchor="t" rtlCol="0">
            <a:noAutofit/>
          </a:bodyPr>
          <a:lstStyle/>
          <a:p>
            <a:pPr algn="l">
              <a:spcAft>
                <a:spcPts val="0"/>
              </a:spcAft>
            </a:pPr>
            <a:r>
              <a:rPr lang="en-US" sz="6600" b="1" i="0" dirty="0">
                <a:solidFill>
                  <a:srgbClr val="4DBC7C"/>
                </a:solidFill>
                <a:latin typeface="Montserrat"/>
                <a:cs typeface="Montserrat"/>
              </a:rPr>
              <a:t>01</a:t>
            </a:r>
            <a:endParaRPr lang="en-US" sz="6600" dirty="0"/>
          </a:p>
        </p:txBody>
      </p:sp>
      <p:sp>
        <p:nvSpPr>
          <p:cNvPr id="4" name="chrome:accent"/>
          <p:cNvSpPr/>
          <p:nvPr/>
        </p:nvSpPr>
        <p:spPr>
          <a:xfrm>
            <a:off x="640080" y="3063240"/>
            <a:ext cx="822960" cy="64008"/>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5" name="headline"/>
          <p:cNvSpPr txBox="1"/>
          <p:nvPr/>
        </p:nvSpPr>
        <p:spPr>
          <a:xfrm>
            <a:off x="640080" y="3291840"/>
            <a:ext cx="10515600" cy="1371600"/>
          </a:xfrm>
          <a:prstGeom prst="rect">
            <a:avLst/>
          </a:prstGeom>
          <a:noFill/>
          <a:ln>
            <a:noFill/>
          </a:ln>
        </p:spPr>
        <p:txBody>
          <a:bodyPr wrap="square" lIns="0" tIns="0" rIns="0" bIns="0" anchor="t" rtlCol="0">
            <a:noAutofit/>
          </a:bodyPr>
          <a:lstStyle/>
          <a:p>
            <a:pPr algn="l">
              <a:spcAft>
                <a:spcPts val="0"/>
              </a:spcAft>
            </a:pPr>
            <a:r>
              <a:rPr lang="en-US" sz="4000" b="1" i="0" dirty="0">
                <a:solidFill>
                  <a:srgbClr val="FFFFFF"/>
                </a:solidFill>
                <a:latin typeface="Montserrat"/>
                <a:cs typeface="Montserrat"/>
              </a:rPr>
              <a:t>Where you stand today</a:t>
            </a:r>
            <a:endParaRPr lang="en-US" sz="4000" dirty="0"/>
          </a:p>
        </p:txBody>
      </p:sp>
      <p:sp>
        <p:nvSpPr>
          <p:cNvPr id="6" name="chrome:rule"/>
          <p:cNvSpPr/>
          <p:nvPr/>
        </p:nvSpPr>
        <p:spPr>
          <a:xfrm>
            <a:off x="640080" y="6327648"/>
            <a:ext cx="10908792" cy="9144"/>
          </a:xfrm>
          <a:prstGeom prst="rect">
            <a:avLst/>
          </a:prstGeom>
          <a:solidFill>
            <a:srgbClr val="051011"/>
          </a:solidFill>
          <a:ln>
            <a:noFill/>
          </a:ln>
        </p:spPr>
        <p:txBody>
          <a:bodyPr wrap="square" lIns="73152" tIns="73152" rIns="73152" bIns="73152" anchor="t" rtlCol="0">
            <a:noAutofit/>
          </a:bodyPr>
          <a:lstStyle/>
          <a:p>
            <a:endParaRPr lang="en-US" dirty="0"/>
          </a:p>
        </p:txBody>
      </p:sp>
      <p:sp>
        <p:nvSpPr>
          <p:cNvPr id="7"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CCCCCC"/>
                </a:solidFill>
                <a:latin typeface="Montserrat"/>
                <a:cs typeface="Montserrat"/>
              </a:rPr>
              <a:t>Larkspur Family Dental  |  Growth Blueprint</a:t>
            </a:r>
            <a:endParaRPr lang="en-US" sz="1000" dirty="0"/>
          </a:p>
        </p:txBody>
      </p:sp>
      <p:sp>
        <p:nvSpPr>
          <p:cNvPr id="8"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CCCCCC"/>
                </a:solidFill>
                <a:latin typeface="Montserrat"/>
                <a:cs typeface="Montserrat"/>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Where You Stand Today</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Your reputation is strong, but it has no website to work on yet</a:t>
            </a:r>
            <a:endParaRPr lang="en-US" sz="2800" dirty="0"/>
          </a:p>
        </p:txBody>
      </p:sp>
      <p:sp>
        <p:nvSpPr>
          <p:cNvPr id="6" name="chrome:card"/>
          <p:cNvSpPr/>
          <p:nvPr/>
        </p:nvSpPr>
        <p:spPr>
          <a:xfrm>
            <a:off x="640080" y="2194560"/>
            <a:ext cx="5303520" cy="2377440"/>
          </a:xfrm>
          <a:prstGeom prst="roundRect">
            <a:avLst>
              <a:gd name="adj" fmla="val 6000"/>
            </a:avLst>
          </a:prstGeom>
          <a:solidFill>
            <a:srgbClr val="F2FAF6"/>
          </a:solidFill>
          <a:ln>
            <a:noFill/>
          </a:ln>
        </p:spPr>
        <p:txBody>
          <a:bodyPr wrap="square" lIns="73152" tIns="73152" rIns="73152" bIns="73152" anchor="t" rtlCol="0">
            <a:noAutofit/>
          </a:bodyPr>
          <a:lstStyle/>
          <a:p>
            <a:endParaRPr lang="en-US" dirty="0"/>
          </a:p>
        </p:txBody>
      </p:sp>
      <p:sp>
        <p:nvSpPr>
          <p:cNvPr id="7" name="stat:1"/>
          <p:cNvSpPr txBox="1"/>
          <p:nvPr/>
        </p:nvSpPr>
        <p:spPr>
          <a:xfrm>
            <a:off x="914400" y="2423160"/>
            <a:ext cx="4754880" cy="1188720"/>
          </a:xfrm>
          <a:prstGeom prst="rect">
            <a:avLst/>
          </a:prstGeom>
          <a:noFill/>
          <a:ln>
            <a:noFill/>
          </a:ln>
        </p:spPr>
        <p:txBody>
          <a:bodyPr wrap="square" lIns="0" tIns="0" rIns="0" bIns="0" anchor="b" rtlCol="0">
            <a:noAutofit/>
          </a:bodyPr>
          <a:lstStyle/>
          <a:p>
            <a:pPr algn="l">
              <a:spcAft>
                <a:spcPts val="0"/>
              </a:spcAft>
            </a:pPr>
            <a:r>
              <a:rPr lang="en-US" sz="4400" b="1" i="0" dirty="0">
                <a:solidFill>
                  <a:srgbClr val="111111"/>
                </a:solidFill>
                <a:latin typeface="Montserrat"/>
                <a:cs typeface="Montserrat"/>
              </a:rPr>
              <a:t>4.9</a:t>
            </a:r>
            <a:endParaRPr lang="en-US" sz="4400" dirty="0"/>
          </a:p>
        </p:txBody>
      </p:sp>
      <p:sp>
        <p:nvSpPr>
          <p:cNvPr id="8" name="caption:1"/>
          <p:cNvSpPr txBox="1"/>
          <p:nvPr/>
        </p:nvSpPr>
        <p:spPr>
          <a:xfrm>
            <a:off x="914400" y="3657600"/>
            <a:ext cx="4754880" cy="1069848"/>
          </a:xfrm>
          <a:prstGeom prst="rect">
            <a:avLst/>
          </a:prstGeom>
          <a:noFill/>
          <a:ln>
            <a:noFill/>
          </a:ln>
        </p:spPr>
        <p:txBody>
          <a:bodyPr wrap="square" lIns="0" tIns="0" rIns="0" bIns="0" anchor="t" rtlCol="0">
            <a:noAutofit/>
          </a:bodyPr>
          <a:lstStyle/>
          <a:p>
            <a:pPr algn="l">
              <a:lnSpc>
                <a:spcPct val="110000"/>
              </a:lnSpc>
              <a:spcAft>
                <a:spcPts val="0"/>
              </a:spcAft>
            </a:pPr>
            <a:r>
              <a:rPr lang="en-US" sz="1400" b="0" i="0" dirty="0">
                <a:solidFill>
                  <a:srgbClr val="505858"/>
                </a:solidFill>
                <a:latin typeface="Montserrat"/>
                <a:cs typeface="Montserrat"/>
              </a:rPr>
              <a:t>average rating across your Google reviews</a:t>
            </a:r>
            <a:endParaRPr lang="en-US" sz="1400" dirty="0"/>
          </a:p>
        </p:txBody>
      </p:sp>
      <p:sp>
        <p:nvSpPr>
          <p:cNvPr id="9" name="chrome:card"/>
          <p:cNvSpPr/>
          <p:nvPr/>
        </p:nvSpPr>
        <p:spPr>
          <a:xfrm>
            <a:off x="6217920" y="2194560"/>
            <a:ext cx="5303520" cy="2377440"/>
          </a:xfrm>
          <a:prstGeom prst="roundRect">
            <a:avLst>
              <a:gd name="adj" fmla="val 6000"/>
            </a:avLst>
          </a:prstGeom>
          <a:solidFill>
            <a:srgbClr val="F2FAF6"/>
          </a:solidFill>
          <a:ln>
            <a:noFill/>
          </a:ln>
        </p:spPr>
        <p:txBody>
          <a:bodyPr wrap="square" lIns="73152" tIns="73152" rIns="73152" bIns="73152" anchor="t" rtlCol="0">
            <a:noAutofit/>
          </a:bodyPr>
          <a:lstStyle/>
          <a:p>
            <a:endParaRPr lang="en-US" dirty="0"/>
          </a:p>
        </p:txBody>
      </p:sp>
      <p:sp>
        <p:nvSpPr>
          <p:cNvPr id="10" name="stat:2"/>
          <p:cNvSpPr txBox="1"/>
          <p:nvPr/>
        </p:nvSpPr>
        <p:spPr>
          <a:xfrm>
            <a:off x="6492240" y="2423160"/>
            <a:ext cx="4754880" cy="1188720"/>
          </a:xfrm>
          <a:prstGeom prst="rect">
            <a:avLst/>
          </a:prstGeom>
          <a:noFill/>
          <a:ln>
            <a:noFill/>
          </a:ln>
        </p:spPr>
        <p:txBody>
          <a:bodyPr wrap="square" lIns="0" tIns="0" rIns="0" bIns="0" anchor="b" rtlCol="0">
            <a:noAutofit/>
          </a:bodyPr>
          <a:lstStyle/>
          <a:p>
            <a:pPr algn="l">
              <a:spcAft>
                <a:spcPts val="0"/>
              </a:spcAft>
            </a:pPr>
            <a:r>
              <a:rPr lang="en-US" sz="4400" b="1" i="0" dirty="0">
                <a:solidFill>
                  <a:srgbClr val="111111"/>
                </a:solidFill>
                <a:latin typeface="Montserrat"/>
                <a:cs typeface="Montserrat"/>
              </a:rPr>
              <a:t>212</a:t>
            </a:r>
            <a:endParaRPr lang="en-US" sz="4400" dirty="0"/>
          </a:p>
        </p:txBody>
      </p:sp>
      <p:sp>
        <p:nvSpPr>
          <p:cNvPr id="11" name="caption:2"/>
          <p:cNvSpPr txBox="1"/>
          <p:nvPr/>
        </p:nvSpPr>
        <p:spPr>
          <a:xfrm>
            <a:off x="6492240" y="3657600"/>
            <a:ext cx="4754880" cy="1069848"/>
          </a:xfrm>
          <a:prstGeom prst="rect">
            <a:avLst/>
          </a:prstGeom>
          <a:noFill/>
          <a:ln>
            <a:noFill/>
          </a:ln>
        </p:spPr>
        <p:txBody>
          <a:bodyPr wrap="square" lIns="0" tIns="0" rIns="0" bIns="0" anchor="t" rtlCol="0">
            <a:noAutofit/>
          </a:bodyPr>
          <a:lstStyle/>
          <a:p>
            <a:pPr algn="l">
              <a:lnSpc>
                <a:spcPct val="110000"/>
              </a:lnSpc>
              <a:spcAft>
                <a:spcPts val="0"/>
              </a:spcAft>
            </a:pPr>
            <a:r>
              <a:rPr lang="en-US" sz="1400" b="0" i="0" dirty="0">
                <a:solidFill>
                  <a:srgbClr val="505858"/>
                </a:solidFill>
                <a:latin typeface="Montserrat"/>
                <a:cs typeface="Montserrat"/>
              </a:rPr>
              <a:t>Google reviews from your patients</a:t>
            </a:r>
            <a:endParaRPr lang="en-US" sz="1400" dirty="0"/>
          </a:p>
        </p:txBody>
      </p:sp>
      <p:sp>
        <p:nvSpPr>
          <p:cNvPr id="12" name="body"/>
          <p:cNvSpPr txBox="1"/>
          <p:nvPr/>
        </p:nvSpPr>
        <p:spPr>
          <a:xfrm>
            <a:off x="640080" y="4800600"/>
            <a:ext cx="10881360" cy="1280160"/>
          </a:xfrm>
          <a:prstGeom prst="rect">
            <a:avLst/>
          </a:prstGeom>
          <a:noFill/>
          <a:ln>
            <a:noFill/>
          </a:ln>
        </p:spPr>
        <p:txBody>
          <a:bodyPr wrap="square" lIns="0" tIns="0" rIns="0" bIns="0" anchor="t" rtlCol="0">
            <a:noAutofit/>
          </a:bodyPr>
          <a:lstStyle/>
          <a:p>
            <a:pPr algn="l">
              <a:lnSpc>
                <a:spcPct val="110000"/>
              </a:lnSpc>
              <a:spcAft>
                <a:spcPts val="800"/>
              </a:spcAft>
            </a:pPr>
            <a:r>
              <a:rPr lang="en-US" sz="1500" b="0" i="0" dirty="0">
                <a:solidFill>
                  <a:srgbClr val="017A34"/>
                </a:solidFill>
                <a:latin typeface="Montserrat"/>
                <a:cs typeface="Montserrat"/>
              </a:rPr>
              <a:t>▪  </a:t>
            </a:r>
            <a:r>
              <a:rPr lang="en-US" sz="1500" b="0" i="0" dirty="0">
                <a:solidFill>
                  <a:srgbClr val="505858"/>
                </a:solidFill>
                <a:latin typeface="Montserrat"/>
                <a:cs typeface="Montserrat"/>
              </a:rPr>
              <a:t>The new site will put this proof where new patients decide.</a:t>
            </a:r>
            <a:endParaRPr lang="en-US" sz="1500" dirty="0"/>
          </a:p>
        </p:txBody>
      </p:sp>
      <p:sp>
        <p:nvSpPr>
          <p:cNvPr id="13"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4" name="chrome:logo"/>
          <p:cNvPicPr>
            <a:picLocks noChangeAspect="1"/>
          </p:cNvPicPr>
          <p:nvPr/>
        </p:nvPicPr>
        <p:blipFill>
          <a:blip r:embed="rIdImg1"/>
          <a:stretch>
            <a:fillRect/>
          </a:stretch>
        </p:blipFill>
        <p:spPr>
          <a:xfrm>
            <a:off x="640080" y="6400800"/>
            <a:ext cx="665018" cy="274320"/>
          </a:xfrm>
          <a:prstGeom prst="rect">
            <a:avLst/>
          </a:prstGeom>
        </p:spPr>
      </p:pic>
      <p:sp>
        <p:nvSpPr>
          <p:cNvPr id="15"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6"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Who You're Up Against</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The competitor comparison waits on a saved competitor report</a:t>
            </a:r>
            <a:endParaRPr lang="en-US" sz="2800" dirty="0"/>
          </a:p>
        </p:txBody>
      </p:sp>
      <p:sp>
        <p:nvSpPr>
          <p:cNvPr id="6" name="needs"/>
          <p:cNvSpPr/>
          <p:nvPr/>
        </p:nvSpPr>
        <p:spPr>
          <a:xfrm>
            <a:off x="640080" y="2194560"/>
            <a:ext cx="10881360" cy="914400"/>
          </a:xfrm>
          <a:prstGeom prst="roundRect">
            <a:avLst>
              <a:gd name="adj" fmla="val 6000"/>
            </a:avLst>
          </a:prstGeom>
          <a:solidFill>
            <a:srgbClr val="F7F7F7"/>
          </a:solidFill>
          <a:ln w="9525">
            <a:solidFill>
              <a:srgbClr val="CCCCCC"/>
            </a:solidFill>
          </a:ln>
        </p:spPr>
        <p:txBody>
          <a:bodyPr wrap="square" lIns="228600" tIns="228600" rIns="228600" bIns="228600" anchor="ctr" rtlCol="0">
            <a:noAutofit/>
          </a:bodyPr>
          <a:lstStyle/>
          <a:p>
            <a:pPr algn="l">
              <a:spcAft>
                <a:spcPts val="0"/>
              </a:spcAft>
            </a:pPr>
            <a:r>
              <a:rPr lang="en-US" sz="1600" b="1" i="0" dirty="0">
                <a:solidFill>
                  <a:srgbClr val="111111"/>
                </a:solidFill>
                <a:latin typeface="Montserrat"/>
                <a:cs typeface="Montserrat"/>
              </a:rPr>
              <a:t>[NEEDS INPUT: a saved competitor-analysis report for Treasure Valley Smiles, Boise Bright Dental and North End Family Dental; competitor figures are never estimated. Who can supply it: the SEO team]</a:t>
            </a:r>
            <a:endParaRPr lang="en-US" sz="1600" dirty="0"/>
          </a:p>
        </p:txBody>
      </p:sp>
      <p:sp>
        <p:nvSpPr>
          <p:cNvPr id="7"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8" name="chrome:logo"/>
          <p:cNvPicPr>
            <a:picLocks noChangeAspect="1"/>
          </p:cNvPicPr>
          <p:nvPr/>
        </p:nvPicPr>
        <p:blipFill>
          <a:blip r:embed="rIdImg1"/>
          <a:stretch>
            <a:fillRect/>
          </a:stretch>
        </p:blipFill>
        <p:spPr>
          <a:xfrm>
            <a:off x="640080" y="6400800"/>
            <a:ext cx="665018" cy="274320"/>
          </a:xfrm>
          <a:prstGeom prst="rect">
            <a:avLst/>
          </a:prstGeom>
        </p:spPr>
      </p:pic>
      <p:sp>
        <p:nvSpPr>
          <p:cNvPr id="9"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0"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Which Competitors Actually Matter</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Which competitors matter will be graded once the competitor report is saved</a:t>
            </a:r>
            <a:endParaRPr lang="en-US" sz="2800" dirty="0"/>
          </a:p>
        </p:txBody>
      </p:sp>
      <p:sp>
        <p:nvSpPr>
          <p:cNvPr id="6" name="needs"/>
          <p:cNvSpPr/>
          <p:nvPr/>
        </p:nvSpPr>
        <p:spPr>
          <a:xfrm>
            <a:off x="640080" y="2194560"/>
            <a:ext cx="10881360" cy="914400"/>
          </a:xfrm>
          <a:prstGeom prst="roundRect">
            <a:avLst>
              <a:gd name="adj" fmla="val 6000"/>
            </a:avLst>
          </a:prstGeom>
          <a:solidFill>
            <a:srgbClr val="F7F7F7"/>
          </a:solidFill>
          <a:ln w="9525">
            <a:solidFill>
              <a:srgbClr val="CCCCCC"/>
            </a:solidFill>
          </a:ln>
        </p:spPr>
        <p:txBody>
          <a:bodyPr wrap="square" lIns="228600" tIns="228600" rIns="228600" bIns="228600" anchor="ctr" rtlCol="0">
            <a:noAutofit/>
          </a:bodyPr>
          <a:lstStyle/>
          <a:p>
            <a:pPr algn="l">
              <a:spcAft>
                <a:spcPts val="0"/>
              </a:spcAft>
            </a:pPr>
            <a:r>
              <a:rPr lang="en-US" sz="1600" b="1" i="0" dirty="0">
                <a:solidFill>
                  <a:srgbClr val="111111"/>
                </a:solidFill>
                <a:latin typeface="Montserrat"/>
                <a:cs typeface="Montserrat"/>
              </a:rPr>
              <a:t>[NEEDS INPUT: a saved competitor-analysis report for Treasure Valley Smiles, Boise Bright Dental and North End Family Dental; competitor figures are never estimated. Who can supply it: the SEO team]</a:t>
            </a:r>
            <a:endParaRPr lang="en-US" sz="1600" dirty="0"/>
          </a:p>
        </p:txBody>
      </p:sp>
      <p:sp>
        <p:nvSpPr>
          <p:cNvPr id="7"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8" name="chrome:logo"/>
          <p:cNvPicPr>
            <a:picLocks noChangeAspect="1"/>
          </p:cNvPicPr>
          <p:nvPr/>
        </p:nvPicPr>
        <p:blipFill>
          <a:blip r:embed="rIdImg1"/>
          <a:stretch>
            <a:fillRect/>
          </a:stretch>
        </p:blipFill>
        <p:spPr>
          <a:xfrm>
            <a:off x="640080" y="6400800"/>
            <a:ext cx="665018" cy="274320"/>
          </a:xfrm>
          <a:prstGeom prst="rect">
            <a:avLst/>
          </a:prstGeom>
        </p:spPr>
      </p:pic>
      <p:sp>
        <p:nvSpPr>
          <p:cNvPr id="9"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0"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You'll Rank For</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Eight keywords match the new pages, and the bigger terms come after launch</a:t>
            </a:r>
            <a:endParaRPr lang="en-US" sz="2800" dirty="0"/>
          </a:p>
        </p:txBody>
      </p:sp>
      <p:graphicFrame>
        <p:nvGraphicFramePr>
          <p:cNvPr id="6" name="table"/>
          <p:cNvGraphicFramePr>
            <a:graphicFrameLocks noGrp="1"/>
          </p:cNvGraphicFramePr>
          <p:nvPr/>
        </p:nvGraphicFramePr>
        <p:xfrm>
          <a:off x="640080" y="2057400"/>
          <a:ext cx="10881360" cy="3749040"/>
        </p:xfrm>
        <a:graphic>
          <a:graphicData uri="http://schemas.openxmlformats.org/drawingml/2006/table">
            <a:tbl>
              <a:tblPr firstRow="1" bandRow="0"/>
              <a:tblGrid>
                <a:gridCol w="2418080"/>
                <a:gridCol w="1758604"/>
                <a:gridCol w="1538778"/>
                <a:gridCol w="1868516"/>
                <a:gridCol w="879302"/>
                <a:gridCol w="2418080"/>
              </a:tblGrid>
              <a:tr h="288388">
                <a:tc>
                  <a:txBody>
                    <a:bodyPr/>
                    <a:lstStyle/>
                    <a:p>
                      <a:pPr algn="l">
                        <a:spcAft>
                          <a:spcPts val="0"/>
                        </a:spcAft>
                      </a:pPr>
                      <a:r>
                        <a:rPr lang="en-US" sz="1000" b="1" i="0" dirty="0">
                          <a:solidFill>
                            <a:srgbClr val="FFFFFF"/>
                          </a:solidFill>
                          <a:latin typeface="Montserrat"/>
                          <a:cs typeface="Montserrat"/>
                        </a:rPr>
                        <a:t>Keyword</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Monthly searches</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Difficulty</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Intent</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Tier</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Time to result</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r>
              <a:tr h="288388">
                <a:tc>
                  <a:txBody>
                    <a:bodyPr/>
                    <a:lstStyle/>
                    <a:p>
                      <a:pPr algn="l">
                        <a:spcAft>
                          <a:spcPts val="0"/>
                        </a:spcAft>
                      </a:pPr>
                      <a:r>
                        <a:rPr lang="en-US" sz="1100" b="1" i="0" dirty="0">
                          <a:solidFill>
                            <a:srgbClr val="111111"/>
                          </a:solidFill>
                          <a:latin typeface="Montserrat"/>
                          <a:cs typeface="Montserrat"/>
                        </a:rPr>
                        <a:t>emergency dentist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1300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32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family dentist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720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28</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dental implants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880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44</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commercial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sedation dentistry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210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dentist meridian idaho</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1600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37</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pediatric dentist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1000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39</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invisalign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590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42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commercial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teeth whitening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480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26</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commercial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dentist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6600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61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111111"/>
                          </a:solidFill>
                          <a:latin typeface="Montserrat"/>
                          <a:cs typeface="Montserrat"/>
                        </a:rPr>
                        <a:t>Tier 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100" b="0" i="0" dirty="0">
                          <a:solidFill>
                            <a:srgbClr val="111111"/>
                          </a:solidFill>
                          <a:latin typeface="Montserrat"/>
                          <a:cs typeface="Montserrat"/>
                        </a:rPr>
                        <a:t>Months 1 to 3</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how much do dental implants cost</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9900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48</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informational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111111"/>
                          </a:solidFill>
                          <a:latin typeface="Montserrat"/>
                          <a:cs typeface="Montserrat"/>
                        </a:rPr>
                        <a:t>Tier 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100" b="0" i="0" dirty="0">
                          <a:solidFill>
                            <a:srgbClr val="111111"/>
                          </a:solidFill>
                          <a:latin typeface="Montserrat"/>
                          <a:cs typeface="Montserrat"/>
                        </a:rPr>
                        <a:t>Months 1 to 3</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what to do for a cracked tooth</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2900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17</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informational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111111"/>
                          </a:solidFill>
                          <a:latin typeface="Montserrat"/>
                          <a:cs typeface="Montserrat"/>
                        </a:rPr>
                        <a:t>Tier 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100" b="0" i="0" dirty="0">
                          <a:solidFill>
                            <a:srgbClr val="111111"/>
                          </a:solidFill>
                          <a:latin typeface="Montserrat"/>
                          <a:cs typeface="Montserrat"/>
                        </a:rPr>
                        <a:t>Months 1 to 3</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are dental x rays safe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1900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informational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111111"/>
                          </a:solidFill>
                          <a:latin typeface="Montserrat"/>
                          <a:cs typeface="Montserrat"/>
                        </a:rPr>
                        <a:t>Tier 3</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Months 4 to 6 and beyond</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bl>
          </a:graphicData>
        </a:graphic>
      </p:graphicFrame>
      <p:sp>
        <p:nvSpPr>
          <p:cNvPr id="7" name="caption"/>
          <p:cNvSpPr txBox="1"/>
          <p:nvPr/>
        </p:nvSpPr>
        <p:spPr>
          <a:xfrm>
            <a:off x="640080" y="5943600"/>
            <a:ext cx="10881360" cy="320040"/>
          </a:xfrm>
          <a:prstGeom prst="rect">
            <a:avLst/>
          </a:prstGeom>
          <a:noFill/>
          <a:ln>
            <a:noFill/>
          </a:ln>
        </p:spPr>
        <p:txBody>
          <a:bodyPr wrap="square" lIns="0" tIns="0" rIns="0" bIns="0" anchor="t" rtlCol="0">
            <a:noAutofit/>
          </a:bodyPr>
          <a:lstStyle/>
          <a:p>
            <a:pPr algn="l">
              <a:spcAft>
                <a:spcPts val="0"/>
              </a:spcAft>
            </a:pPr>
            <a:r>
              <a:rPr lang="en-US" sz="1100" b="0" i="0" dirty="0">
                <a:solidFill>
                  <a:srgbClr val="505858"/>
                </a:solidFill>
                <a:latin typeface="Montserrat"/>
                <a:cs typeface="Montserrat"/>
              </a:rPr>
              <a:t>Monthly searches and difficulty from our keyword research.</a:t>
            </a:r>
            <a:endParaRPr lang="en-US" sz="1100" dirty="0"/>
          </a:p>
        </p:txBody>
      </p:sp>
      <p:sp>
        <p:nvSpPr>
          <p:cNvPr id="8"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9" name="chrome:logo"/>
          <p:cNvPicPr>
            <a:picLocks noChangeAspect="1"/>
          </p:cNvPicPr>
          <p:nvPr/>
        </p:nvPicPr>
        <p:blipFill>
          <a:blip r:embed="rIdImg1"/>
          <a:stretch>
            <a:fillRect/>
          </a:stretch>
        </p:blipFill>
        <p:spPr>
          <a:xfrm>
            <a:off x="640080" y="6400800"/>
            <a:ext cx="665018" cy="274320"/>
          </a:xfrm>
          <a:prstGeom prst="rect">
            <a:avLst/>
          </a:prstGeom>
        </p:spPr>
      </p:pic>
      <p:sp>
        <p:nvSpPr>
          <p:cNvPr id="10"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1"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Why Your Top Keyword Isn't Month One</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Dentist boise is the long game, so it is not a day-one target</a:t>
            </a:r>
            <a:endParaRPr lang="en-US" sz="2800" dirty="0"/>
          </a:p>
        </p:txBody>
      </p:sp>
      <p:sp>
        <p:nvSpPr>
          <p:cNvPr id="6" name="chrome:card"/>
          <p:cNvSpPr/>
          <p:nvPr/>
        </p:nvSpPr>
        <p:spPr>
          <a:xfrm>
            <a:off x="640080" y="2194560"/>
            <a:ext cx="4206240" cy="37490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7" name="keyword"/>
          <p:cNvSpPr txBox="1"/>
          <p:nvPr/>
        </p:nvSpPr>
        <p:spPr>
          <a:xfrm>
            <a:off x="914400" y="2423160"/>
            <a:ext cx="3657600" cy="822960"/>
          </a:xfrm>
          <a:prstGeom prst="rect">
            <a:avLst/>
          </a:prstGeom>
          <a:noFill/>
          <a:ln>
            <a:noFill/>
          </a:ln>
        </p:spPr>
        <p:txBody>
          <a:bodyPr wrap="square" lIns="0" tIns="0" rIns="0" bIns="0" anchor="t" rtlCol="0">
            <a:noAutofit/>
          </a:bodyPr>
          <a:lstStyle/>
          <a:p>
            <a:pPr algn="l">
              <a:spcAft>
                <a:spcPts val="0"/>
              </a:spcAft>
            </a:pPr>
            <a:r>
              <a:rPr lang="en-US" sz="1800" b="1" i="0" dirty="0">
                <a:solidFill>
                  <a:srgbClr val="111111"/>
                </a:solidFill>
                <a:latin typeface="Montserrat"/>
                <a:cs typeface="Montserrat"/>
              </a:rPr>
              <a:t>dentist boise</a:t>
            </a:r>
            <a:endParaRPr lang="en-US" sz="1800" dirty="0"/>
          </a:p>
        </p:txBody>
      </p:sp>
      <p:sp>
        <p:nvSpPr>
          <p:cNvPr id="8" name="stat:1"/>
          <p:cNvSpPr txBox="1"/>
          <p:nvPr/>
        </p:nvSpPr>
        <p:spPr>
          <a:xfrm>
            <a:off x="914400" y="3246120"/>
            <a:ext cx="3657600" cy="1188720"/>
          </a:xfrm>
          <a:prstGeom prst="rect">
            <a:avLst/>
          </a:prstGeom>
          <a:noFill/>
          <a:ln>
            <a:noFill/>
          </a:ln>
        </p:spPr>
        <p:txBody>
          <a:bodyPr wrap="square" lIns="0" tIns="0" rIns="0" bIns="0" anchor="b" rtlCol="0">
            <a:noAutofit/>
          </a:bodyPr>
          <a:lstStyle/>
          <a:p>
            <a:pPr algn="l">
              <a:spcAft>
                <a:spcPts val="0"/>
              </a:spcAft>
            </a:pPr>
            <a:r>
              <a:rPr lang="en-US" sz="5400" b="1" i="0" dirty="0">
                <a:solidFill>
                  <a:srgbClr val="017A34"/>
                </a:solidFill>
                <a:latin typeface="Montserrat"/>
                <a:cs typeface="Montserrat"/>
              </a:rPr>
              <a:t>6,600</a:t>
            </a:r>
            <a:endParaRPr lang="en-US" sz="5400" dirty="0"/>
          </a:p>
        </p:txBody>
      </p:sp>
      <p:sp>
        <p:nvSpPr>
          <p:cNvPr id="9" name="caption:1"/>
          <p:cNvSpPr txBox="1"/>
          <p:nvPr/>
        </p:nvSpPr>
        <p:spPr>
          <a:xfrm>
            <a:off x="914400" y="4480560"/>
            <a:ext cx="3657600" cy="731520"/>
          </a:xfrm>
          <a:prstGeom prst="rect">
            <a:avLst/>
          </a:prstGeom>
          <a:noFill/>
          <a:ln>
            <a:noFill/>
          </a:ln>
        </p:spPr>
        <p:txBody>
          <a:bodyPr wrap="square" lIns="0" tIns="0" rIns="0" bIns="0" anchor="t" rtlCol="0">
            <a:noAutofit/>
          </a:bodyPr>
          <a:lstStyle/>
          <a:p>
            <a:pPr algn="l">
              <a:spcAft>
                <a:spcPts val="0"/>
              </a:spcAft>
            </a:pPr>
            <a:r>
              <a:rPr lang="en-US" sz="1400" b="0" i="0" dirty="0">
                <a:solidFill>
                  <a:srgbClr val="505858"/>
                </a:solidFill>
                <a:latin typeface="Montserrat"/>
                <a:cs typeface="Montserrat"/>
              </a:rPr>
              <a:t>monthly searches, at a difficulty of 61</a:t>
            </a:r>
            <a:endParaRPr lang="en-US" sz="1400" dirty="0"/>
          </a:p>
        </p:txBody>
      </p:sp>
      <p:sp>
        <p:nvSpPr>
          <p:cNvPr id="10" name="tier"/>
          <p:cNvSpPr txBox="1"/>
          <p:nvPr/>
        </p:nvSpPr>
        <p:spPr>
          <a:xfrm>
            <a:off x="914400" y="5257800"/>
            <a:ext cx="3657600" cy="457200"/>
          </a:xfrm>
          <a:prstGeom prst="rect">
            <a:avLst/>
          </a:prstGeom>
          <a:noFill/>
          <a:ln>
            <a:noFill/>
          </a:ln>
        </p:spPr>
        <p:txBody>
          <a:bodyPr wrap="square" lIns="0" tIns="0" rIns="0" bIns="0" anchor="t" rtlCol="0">
            <a:noAutofit/>
          </a:bodyPr>
          <a:lstStyle/>
          <a:p>
            <a:pPr algn="l">
              <a:spcAft>
                <a:spcPts val="0"/>
              </a:spcAft>
            </a:pPr>
            <a:r>
              <a:rPr lang="en-US" sz="1400" b="1" i="0" dirty="0">
                <a:solidFill>
                  <a:srgbClr val="111111"/>
                </a:solidFill>
                <a:latin typeface="Montserrat"/>
                <a:cs typeface="Montserrat"/>
              </a:rPr>
              <a:t>Tier 2, aimed at after launch</a:t>
            </a:r>
            <a:endParaRPr lang="en-US" sz="1400" dirty="0"/>
          </a:p>
        </p:txBody>
      </p:sp>
      <p:sp>
        <p:nvSpPr>
          <p:cNvPr id="11" name="points"/>
          <p:cNvSpPr txBox="1"/>
          <p:nvPr/>
        </p:nvSpPr>
        <p:spPr>
          <a:xfrm>
            <a:off x="5303520" y="2286000"/>
            <a:ext cx="6217920" cy="3657600"/>
          </a:xfrm>
          <a:prstGeom prst="rect">
            <a:avLst/>
          </a:prstGeom>
          <a:noFill/>
          <a:ln>
            <a:noFill/>
          </a:ln>
        </p:spPr>
        <p:txBody>
          <a:bodyPr wrap="square" lIns="0" tIns="0" rIns="0" bIns="0" anchor="t" rtlCol="0">
            <a:noAutofit/>
          </a:bodyPr>
          <a:lstStyle/>
          <a:p>
            <a:pPr algn="l">
              <a:lnSpc>
                <a:spcPct val="110000"/>
              </a:lnSpc>
              <a:spcAft>
                <a:spcPts val="800"/>
              </a:spcAft>
            </a:pPr>
            <a:r>
              <a:rPr lang="en-US" sz="1700" b="0" i="0" dirty="0">
                <a:solidFill>
                  <a:srgbClr val="017A34"/>
                </a:solidFill>
                <a:latin typeface="Montserrat"/>
                <a:cs typeface="Montserrat"/>
              </a:rPr>
              <a:t>▪  </a:t>
            </a:r>
            <a:r>
              <a:rPr lang="en-US" sz="1700" b="0" i="0" dirty="0">
                <a:solidFill>
                  <a:srgbClr val="505858"/>
                </a:solidFill>
                <a:latin typeface="Montserrat"/>
                <a:cs typeface="Montserrat"/>
              </a:rPr>
              <a:t>It is the biggest search term, and also one of the hardest to win.</a:t>
            </a:r>
            <a:endParaRPr lang="en-US" sz="1700" dirty="0"/>
          </a:p>
          <a:p>
            <a:pPr algn="l">
              <a:lnSpc>
                <a:spcPct val="110000"/>
              </a:lnSpc>
              <a:spcAft>
                <a:spcPts val="800"/>
              </a:spcAft>
            </a:pPr>
            <a:r>
              <a:rPr lang="en-US" sz="1700" b="0" i="0" dirty="0">
                <a:solidFill>
                  <a:srgbClr val="017A34"/>
                </a:solidFill>
                <a:latin typeface="Montserrat"/>
                <a:cs typeface="Montserrat"/>
              </a:rPr>
              <a:t>▪  </a:t>
            </a:r>
            <a:r>
              <a:rPr lang="en-US" sz="1700" b="0" i="0" dirty="0">
                <a:solidFill>
                  <a:srgbClr val="505858"/>
                </a:solidFill>
                <a:latin typeface="Montserrat"/>
                <a:cs typeface="Montserrat"/>
              </a:rPr>
              <a:t>We build authority through the service pages first.</a:t>
            </a:r>
            <a:endParaRPr lang="en-US" sz="1700" dirty="0"/>
          </a:p>
          <a:p>
            <a:pPr algn="l">
              <a:lnSpc>
                <a:spcPct val="110000"/>
              </a:lnSpc>
              <a:spcAft>
                <a:spcPts val="800"/>
              </a:spcAft>
            </a:pPr>
            <a:r>
              <a:rPr lang="en-US" sz="1700" b="0" i="0" dirty="0">
                <a:solidFill>
                  <a:srgbClr val="017A34"/>
                </a:solidFill>
                <a:latin typeface="Montserrat"/>
                <a:cs typeface="Montserrat"/>
              </a:rPr>
              <a:t>▪  </a:t>
            </a:r>
            <a:r>
              <a:rPr lang="en-US" sz="1700" b="0" i="0" dirty="0">
                <a:solidFill>
                  <a:srgbClr val="505858"/>
                </a:solidFill>
                <a:latin typeface="Montserrat"/>
                <a:cs typeface="Montserrat"/>
              </a:rPr>
              <a:t>We aim at it after launch, not on day one.</a:t>
            </a:r>
            <a:endParaRPr lang="en-US" sz="1700" dirty="0"/>
          </a:p>
        </p:txBody>
      </p:sp>
      <p:sp>
        <p:nvSpPr>
          <p:cNvPr id="12"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3" name="chrome:logo"/>
          <p:cNvPicPr>
            <a:picLocks noChangeAspect="1"/>
          </p:cNvPicPr>
          <p:nvPr/>
        </p:nvPicPr>
        <p:blipFill>
          <a:blip r:embed="rIdImg1"/>
          <a:stretch>
            <a:fillRect/>
          </a:stretch>
        </p:blipFill>
        <p:spPr>
          <a:xfrm>
            <a:off x="640080" y="6400800"/>
            <a:ext cx="665018" cy="274320"/>
          </a:xfrm>
          <a:prstGeom prst="rect">
            <a:avLst/>
          </a:prstGeom>
        </p:spPr>
      </p:pic>
      <p:sp>
        <p:nvSpPr>
          <p:cNvPr id="14"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5"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0506"/>
            </a:gs>
            <a:gs pos="100000">
              <a:srgbClr val="061012"/>
            </a:gs>
          </a:gsLst>
          <a:lin ang="5400000" scaled="0"/>
        </a:gradFill>
        <a:effectLst/>
      </p:bgPr>
    </p:bg>
    <p:spTree>
      <p:nvGrpSpPr>
        <p:cNvPr id="1" name=""/>
        <p:cNvGrpSpPr/>
        <p:nvPr/>
      </p:nvGrpSpPr>
      <p:grpSpPr>
        <a:xfrm>
          <a:off x="0" y="0"/>
          <a:ext cx="0" cy="0"/>
          <a:chOff x="0" y="0"/>
          <a:chExt cx="0" cy="0"/>
        </a:xfrm>
      </p:grpSpPr>
      <p:sp>
        <p:nvSpPr>
          <p:cNvPr id="3" name="chrome:divnum"/>
          <p:cNvSpPr txBox="1"/>
          <p:nvPr/>
        </p:nvSpPr>
        <p:spPr>
          <a:xfrm>
            <a:off x="640080" y="1828800"/>
            <a:ext cx="3657600" cy="1097280"/>
          </a:xfrm>
          <a:prstGeom prst="rect">
            <a:avLst/>
          </a:prstGeom>
          <a:noFill/>
          <a:ln>
            <a:noFill/>
          </a:ln>
        </p:spPr>
        <p:txBody>
          <a:bodyPr wrap="square" lIns="0" tIns="0" rIns="0" bIns="0" anchor="t" rtlCol="0">
            <a:noAutofit/>
          </a:bodyPr>
          <a:lstStyle/>
          <a:p>
            <a:pPr algn="l">
              <a:spcAft>
                <a:spcPts val="0"/>
              </a:spcAft>
            </a:pPr>
            <a:r>
              <a:rPr lang="en-US" sz="6600" b="1" i="0" dirty="0">
                <a:solidFill>
                  <a:srgbClr val="4DBC7C"/>
                </a:solidFill>
                <a:latin typeface="Montserrat"/>
                <a:cs typeface="Montserrat"/>
              </a:rPr>
              <a:t>02</a:t>
            </a:r>
            <a:endParaRPr lang="en-US" sz="6600" dirty="0"/>
          </a:p>
        </p:txBody>
      </p:sp>
      <p:sp>
        <p:nvSpPr>
          <p:cNvPr id="4" name="chrome:accent"/>
          <p:cNvSpPr/>
          <p:nvPr/>
        </p:nvSpPr>
        <p:spPr>
          <a:xfrm>
            <a:off x="640080" y="3063240"/>
            <a:ext cx="822960" cy="64008"/>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5" name="headline"/>
          <p:cNvSpPr txBox="1"/>
          <p:nvPr/>
        </p:nvSpPr>
        <p:spPr>
          <a:xfrm>
            <a:off x="640080" y="3291840"/>
            <a:ext cx="10515600" cy="1371600"/>
          </a:xfrm>
          <a:prstGeom prst="rect">
            <a:avLst/>
          </a:prstGeom>
          <a:noFill/>
          <a:ln>
            <a:noFill/>
          </a:ln>
        </p:spPr>
        <p:txBody>
          <a:bodyPr wrap="square" lIns="0" tIns="0" rIns="0" bIns="0" anchor="t" rtlCol="0">
            <a:noAutofit/>
          </a:bodyPr>
          <a:lstStyle/>
          <a:p>
            <a:pPr algn="l">
              <a:spcAft>
                <a:spcPts val="0"/>
              </a:spcAft>
            </a:pPr>
            <a:r>
              <a:rPr lang="en-US" sz="4000" b="1" i="0" dirty="0">
                <a:solidFill>
                  <a:srgbClr val="FFFFFF"/>
                </a:solidFill>
                <a:latin typeface="Montserrat"/>
                <a:cs typeface="Montserrat"/>
              </a:rPr>
              <a:t>The plan</a:t>
            </a:r>
            <a:endParaRPr lang="en-US" sz="4000" dirty="0"/>
          </a:p>
        </p:txBody>
      </p:sp>
      <p:sp>
        <p:nvSpPr>
          <p:cNvPr id="6" name="chrome:rule"/>
          <p:cNvSpPr/>
          <p:nvPr/>
        </p:nvSpPr>
        <p:spPr>
          <a:xfrm>
            <a:off x="640080" y="6327648"/>
            <a:ext cx="10908792" cy="9144"/>
          </a:xfrm>
          <a:prstGeom prst="rect">
            <a:avLst/>
          </a:prstGeom>
          <a:solidFill>
            <a:srgbClr val="051011"/>
          </a:solidFill>
          <a:ln>
            <a:noFill/>
          </a:ln>
        </p:spPr>
        <p:txBody>
          <a:bodyPr wrap="square" lIns="73152" tIns="73152" rIns="73152" bIns="73152" anchor="t" rtlCol="0">
            <a:noAutofit/>
          </a:bodyPr>
          <a:lstStyle/>
          <a:p>
            <a:endParaRPr lang="en-US" dirty="0"/>
          </a:p>
        </p:txBody>
      </p:sp>
      <p:sp>
        <p:nvSpPr>
          <p:cNvPr id="7"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CCCCCC"/>
                </a:solidFill>
                <a:latin typeface="Montserrat"/>
                <a:cs typeface="Montserrat"/>
              </a:rPr>
              <a:t>Larkspur Family Dental  |  Growth Blueprint</a:t>
            </a:r>
            <a:endParaRPr lang="en-US" sz="1000" dirty="0"/>
          </a:p>
        </p:txBody>
      </p:sp>
      <p:sp>
        <p:nvSpPr>
          <p:cNvPr id="8"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CCCCCC"/>
                </a:solidFill>
                <a:latin typeface="Montserrat"/>
                <a:cs typeface="Montserrat"/>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How You'll Be Positioned</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Same-day emergency care is what sets Larkspur apart from other Boise practices</a:t>
            </a:r>
            <a:endParaRPr lang="en-US" sz="2800" dirty="0"/>
          </a:p>
        </p:txBody>
      </p:sp>
      <p:sp>
        <p:nvSpPr>
          <p:cNvPr id="6" name="chrome:card"/>
          <p:cNvSpPr/>
          <p:nvPr/>
        </p:nvSpPr>
        <p:spPr>
          <a:xfrm>
            <a:off x="640080" y="2148840"/>
            <a:ext cx="3444240" cy="19202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7" name="point:1"/>
          <p:cNvSpPr txBox="1"/>
          <p:nvPr/>
        </p:nvSpPr>
        <p:spPr>
          <a:xfrm>
            <a:off x="914400" y="2377440"/>
            <a:ext cx="2895600" cy="1554480"/>
          </a:xfrm>
          <a:prstGeom prst="rect">
            <a:avLst/>
          </a:prstGeom>
          <a:noFill/>
          <a:ln>
            <a:noFill/>
          </a:ln>
        </p:spPr>
        <p:txBody>
          <a:bodyPr wrap="square" lIns="0" tIns="0" rIns="0" bIns="0" anchor="t" rtlCol="0">
            <a:noAutofit/>
          </a:bodyPr>
          <a:lstStyle/>
          <a:p>
            <a:pPr algn="l">
              <a:lnSpc>
                <a:spcPct val="110000"/>
              </a:lnSpc>
              <a:spcAft>
                <a:spcPts val="0"/>
              </a:spcAft>
            </a:pPr>
            <a:r>
              <a:rPr lang="en-US" sz="1600" b="0" i="0" dirty="0">
                <a:solidFill>
                  <a:srgbClr val="111111"/>
                </a:solidFill>
                <a:latin typeface="Montserrat"/>
                <a:cs typeface="Montserrat"/>
              </a:rPr>
              <a:t>Same-day emergency appointments every weekday.</a:t>
            </a:r>
            <a:endParaRPr lang="en-US" sz="1600" dirty="0"/>
          </a:p>
        </p:txBody>
      </p:sp>
      <p:sp>
        <p:nvSpPr>
          <p:cNvPr id="8" name="chrome:card"/>
          <p:cNvSpPr/>
          <p:nvPr/>
        </p:nvSpPr>
        <p:spPr>
          <a:xfrm>
            <a:off x="4358640" y="2148840"/>
            <a:ext cx="3444240" cy="19202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9" name="point:2"/>
          <p:cNvSpPr txBox="1"/>
          <p:nvPr/>
        </p:nvSpPr>
        <p:spPr>
          <a:xfrm>
            <a:off x="4632960" y="2377440"/>
            <a:ext cx="2895600" cy="1554480"/>
          </a:xfrm>
          <a:prstGeom prst="rect">
            <a:avLst/>
          </a:prstGeom>
          <a:noFill/>
          <a:ln>
            <a:noFill/>
          </a:ln>
        </p:spPr>
        <p:txBody>
          <a:bodyPr wrap="square" lIns="0" tIns="0" rIns="0" bIns="0" anchor="t" rtlCol="0">
            <a:noAutofit/>
          </a:bodyPr>
          <a:lstStyle/>
          <a:p>
            <a:pPr algn="l">
              <a:lnSpc>
                <a:spcPct val="110000"/>
              </a:lnSpc>
              <a:spcAft>
                <a:spcPts val="0"/>
              </a:spcAft>
            </a:pPr>
            <a:r>
              <a:rPr lang="en-US" sz="1600" b="0" i="0" dirty="0">
                <a:solidFill>
                  <a:srgbClr val="111111"/>
                </a:solidFill>
                <a:latin typeface="Montserrat"/>
                <a:cs typeface="Montserrat"/>
              </a:rPr>
              <a:t>4.9 average rating from 212 Google reviews.</a:t>
            </a:r>
            <a:endParaRPr lang="en-US" sz="1600" dirty="0"/>
          </a:p>
        </p:txBody>
      </p:sp>
      <p:sp>
        <p:nvSpPr>
          <p:cNvPr id="10" name="chrome:card"/>
          <p:cNvSpPr/>
          <p:nvPr/>
        </p:nvSpPr>
        <p:spPr>
          <a:xfrm>
            <a:off x="8077200" y="2148840"/>
            <a:ext cx="3444240" cy="19202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11" name="point:3"/>
          <p:cNvSpPr txBox="1"/>
          <p:nvPr/>
        </p:nvSpPr>
        <p:spPr>
          <a:xfrm>
            <a:off x="8351520" y="2377440"/>
            <a:ext cx="2895600" cy="1554480"/>
          </a:xfrm>
          <a:prstGeom prst="rect">
            <a:avLst/>
          </a:prstGeom>
          <a:noFill/>
          <a:ln>
            <a:noFill/>
          </a:ln>
        </p:spPr>
        <p:txBody>
          <a:bodyPr wrap="square" lIns="0" tIns="0" rIns="0" bIns="0" anchor="t" rtlCol="0">
            <a:noAutofit/>
          </a:bodyPr>
          <a:lstStyle/>
          <a:p>
            <a:pPr algn="l">
              <a:lnSpc>
                <a:spcPct val="110000"/>
              </a:lnSpc>
              <a:spcAft>
                <a:spcPts val="0"/>
              </a:spcAft>
            </a:pPr>
            <a:r>
              <a:rPr lang="en-US" sz="1600" b="0" i="0" dirty="0">
                <a:solidFill>
                  <a:srgbClr val="111111"/>
                </a:solidFill>
                <a:latin typeface="Montserrat"/>
                <a:cs typeface="Montserrat"/>
              </a:rPr>
              <a:t>Sedation options for anxious patients.</a:t>
            </a:r>
            <a:endParaRPr lang="en-US" sz="1600" dirty="0"/>
          </a:p>
        </p:txBody>
      </p:sp>
      <p:sp>
        <p:nvSpPr>
          <p:cNvPr id="12" name="chrome:band"/>
          <p:cNvSpPr/>
          <p:nvPr/>
        </p:nvSpPr>
        <p:spPr>
          <a:xfrm>
            <a:off x="640080" y="4389120"/>
            <a:ext cx="10881360" cy="1600200"/>
          </a:xfrm>
          <a:prstGeom prst="roundRect">
            <a:avLst>
              <a:gd name="adj" fmla="val 5000"/>
            </a:avLst>
          </a:prstGeom>
          <a:gradFill rotWithShape="1">
            <a:gsLst>
              <a:gs pos="0">
                <a:srgbClr val="020506"/>
              </a:gs>
              <a:gs pos="100000">
                <a:srgbClr val="061012"/>
              </a:gs>
            </a:gsLst>
            <a:lin ang="5400000" scaled="0"/>
          </a:gradFill>
          <a:ln>
            <a:noFill/>
          </a:ln>
        </p:spPr>
        <p:txBody>
          <a:bodyPr wrap="square" lIns="73152" tIns="73152" rIns="73152" bIns="73152" anchor="t" rtlCol="0">
            <a:noAutofit/>
          </a:bodyPr>
          <a:lstStyle/>
          <a:p>
            <a:endParaRPr lang="en-US" dirty="0"/>
          </a:p>
        </p:txBody>
      </p:sp>
      <p:sp>
        <p:nvSpPr>
          <p:cNvPr id="13" name="chrome:msglabel"/>
          <p:cNvSpPr txBox="1"/>
          <p:nvPr/>
        </p:nvSpPr>
        <p:spPr>
          <a:xfrm>
            <a:off x="1005840" y="4572000"/>
            <a:ext cx="10058400" cy="320040"/>
          </a:xfrm>
          <a:prstGeom prst="rect">
            <a:avLst/>
          </a:prstGeom>
          <a:noFill/>
          <a:ln>
            <a:noFill/>
          </a:ln>
        </p:spPr>
        <p:txBody>
          <a:bodyPr wrap="square" lIns="0" tIns="0" rIns="0" bIns="0" anchor="t" rtlCol="0">
            <a:noAutofit/>
          </a:bodyPr>
          <a:lstStyle/>
          <a:p>
            <a:pPr algn="l">
              <a:spcAft>
                <a:spcPts val="0"/>
              </a:spcAft>
            </a:pPr>
            <a:r>
              <a:rPr lang="en-US" sz="1100" b="1" i="0" spc="200" cap="all" dirty="0">
                <a:solidFill>
                  <a:srgbClr val="4DBC7C"/>
                </a:solidFill>
                <a:latin typeface="Montserrat"/>
                <a:cs typeface="Montserrat"/>
              </a:rPr>
              <a:t>The homepage will say</a:t>
            </a:r>
            <a:endParaRPr lang="en-US" sz="1100" dirty="0"/>
          </a:p>
        </p:txBody>
      </p:sp>
      <p:sp>
        <p:nvSpPr>
          <p:cNvPr id="14" name="message"/>
          <p:cNvSpPr txBox="1"/>
          <p:nvPr/>
        </p:nvSpPr>
        <p:spPr>
          <a:xfrm>
            <a:off x="1005840" y="4892040"/>
            <a:ext cx="10149840" cy="1005840"/>
          </a:xfrm>
          <a:prstGeom prst="rect">
            <a:avLst/>
          </a:prstGeom>
          <a:noFill/>
          <a:ln>
            <a:noFill/>
          </a:ln>
        </p:spPr>
        <p:txBody>
          <a:bodyPr wrap="square" lIns="0" tIns="0" rIns="0" bIns="0" anchor="t" rtlCol="0">
            <a:noAutofit/>
          </a:bodyPr>
          <a:lstStyle/>
          <a:p>
            <a:pPr algn="l">
              <a:lnSpc>
                <a:spcPct val="105000"/>
              </a:lnSpc>
              <a:spcAft>
                <a:spcPts val="0"/>
              </a:spcAft>
            </a:pPr>
            <a:r>
              <a:rPr lang="en-US" sz="2200" b="1" i="0" dirty="0">
                <a:solidFill>
                  <a:srgbClr val="FFFFFF"/>
                </a:solidFill>
                <a:latin typeface="Montserrat"/>
                <a:cs typeface="Montserrat"/>
              </a:rPr>
              <a:t>The calm, same-day family practice that treats emergencies and implants under one roof.</a:t>
            </a:r>
            <a:endParaRPr lang="en-US" sz="2200" dirty="0"/>
          </a:p>
        </p:txBody>
      </p:sp>
      <p:sp>
        <p:nvSpPr>
          <p:cNvPr id="15"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6" name="chrome:logo"/>
          <p:cNvPicPr>
            <a:picLocks noChangeAspect="1"/>
          </p:cNvPicPr>
          <p:nvPr/>
        </p:nvPicPr>
        <p:blipFill>
          <a:blip r:embed="rIdImg1"/>
          <a:stretch>
            <a:fillRect/>
          </a:stretch>
        </p:blipFill>
        <p:spPr>
          <a:xfrm>
            <a:off x="640080" y="6400800"/>
            <a:ext cx="665018" cy="274320"/>
          </a:xfrm>
          <a:prstGeom prst="rect">
            <a:avLst/>
          </a:prstGeom>
        </p:spPr>
      </p:pic>
      <p:sp>
        <p:nvSpPr>
          <p:cNvPr id="17"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8"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The Site We're Building</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The new site gives every service you want found its own page</a:t>
            </a:r>
            <a:endParaRPr lang="en-US" sz="2800" dirty="0"/>
          </a:p>
        </p:txBody>
      </p:sp>
      <p:sp>
        <p:nvSpPr>
          <p:cNvPr id="6" name="chrome:card"/>
          <p:cNvSpPr/>
          <p:nvPr/>
        </p:nvSpPr>
        <p:spPr>
          <a:xfrm>
            <a:off x="640080" y="2194560"/>
            <a:ext cx="3108960" cy="37490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7" name="stat:1"/>
          <p:cNvSpPr txBox="1"/>
          <p:nvPr/>
        </p:nvSpPr>
        <p:spPr>
          <a:xfrm>
            <a:off x="868680" y="2468880"/>
            <a:ext cx="2651760" cy="1645920"/>
          </a:xfrm>
          <a:prstGeom prst="rect">
            <a:avLst/>
          </a:prstGeom>
          <a:noFill/>
          <a:ln>
            <a:noFill/>
          </a:ln>
        </p:spPr>
        <p:txBody>
          <a:bodyPr wrap="square" lIns="0" tIns="0" rIns="0" bIns="0" anchor="b" rtlCol="0">
            <a:noAutofit/>
          </a:bodyPr>
          <a:lstStyle/>
          <a:p>
            <a:pPr algn="l">
              <a:spcAft>
                <a:spcPts val="0"/>
              </a:spcAft>
            </a:pPr>
            <a:r>
              <a:rPr lang="en-US" sz="9600" b="1" i="0" dirty="0">
                <a:solidFill>
                  <a:srgbClr val="017A34"/>
                </a:solidFill>
                <a:latin typeface="Montserrat"/>
                <a:cs typeface="Montserrat"/>
              </a:rPr>
              <a:t>11</a:t>
            </a:r>
            <a:endParaRPr lang="en-US" sz="9600" dirty="0"/>
          </a:p>
        </p:txBody>
      </p:sp>
      <p:sp>
        <p:nvSpPr>
          <p:cNvPr id="8" name="caption:1"/>
          <p:cNvSpPr txBox="1"/>
          <p:nvPr/>
        </p:nvSpPr>
        <p:spPr>
          <a:xfrm>
            <a:off x="868680" y="4251960"/>
            <a:ext cx="2651760" cy="1097280"/>
          </a:xfrm>
          <a:prstGeom prst="rect">
            <a:avLst/>
          </a:prstGeom>
          <a:noFill/>
          <a:ln>
            <a:noFill/>
          </a:ln>
        </p:spPr>
        <p:txBody>
          <a:bodyPr wrap="square" lIns="0" tIns="0" rIns="0" bIns="0" anchor="t" rtlCol="0">
            <a:noAutofit/>
          </a:bodyPr>
          <a:lstStyle/>
          <a:p>
            <a:pPr algn="l">
              <a:spcAft>
                <a:spcPts val="0"/>
              </a:spcAft>
            </a:pPr>
            <a:r>
              <a:rPr lang="en-US" sz="1500" b="0" i="0" dirty="0">
                <a:solidFill>
                  <a:srgbClr val="505858"/>
                </a:solidFill>
                <a:latin typeface="Montserrat"/>
                <a:cs typeface="Montserrat"/>
              </a:rPr>
              <a:t>pages in the agreed 12-page scope</a:t>
            </a:r>
            <a:endParaRPr lang="en-US" sz="1500" dirty="0"/>
          </a:p>
        </p:txBody>
      </p:sp>
      <p:sp>
        <p:nvSpPr>
          <p:cNvPr id="9" name="page:1"/>
          <p:cNvSpPr/>
          <p:nvPr/>
        </p:nvSpPr>
        <p:spPr>
          <a:xfrm>
            <a:off x="4160520" y="2194560"/>
            <a:ext cx="3543300" cy="374904"/>
          </a:xfrm>
          <a:prstGeom prst="roundRect">
            <a:avLst>
              <a:gd name="adj" fmla="val 20000"/>
            </a:avLst>
          </a:prstGeom>
          <a:solidFill>
            <a:srgbClr val="051011"/>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Home</a:t>
            </a:r>
            <a:r>
              <a:rPr lang="en-US" sz="1000" b="0" i="0" dirty="0">
                <a:solidFill>
                  <a:srgbClr val="FFFFFF"/>
                </a:solidFill>
                <a:latin typeface="Montserrat"/>
                <a:cs typeface="Montserrat"/>
              </a:rPr>
              <a:t>   home</a:t>
            </a:r>
            <a:endParaRPr lang="en-US" sz="1200" dirty="0"/>
          </a:p>
        </p:txBody>
      </p:sp>
      <p:sp>
        <p:nvSpPr>
          <p:cNvPr id="10" name="page:2"/>
          <p:cNvSpPr/>
          <p:nvPr/>
        </p:nvSpPr>
        <p:spPr>
          <a:xfrm>
            <a:off x="4160520" y="2633472"/>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Emergency Dentist</a:t>
            </a:r>
            <a:r>
              <a:rPr lang="en-US" sz="1000" b="0" i="0" dirty="0">
                <a:solidFill>
                  <a:srgbClr val="FFFFFF"/>
                </a:solidFill>
                <a:latin typeface="Montserrat"/>
                <a:cs typeface="Montserrat"/>
              </a:rPr>
              <a:t>   service</a:t>
            </a:r>
            <a:endParaRPr lang="en-US" sz="1200" dirty="0"/>
          </a:p>
        </p:txBody>
      </p:sp>
      <p:sp>
        <p:nvSpPr>
          <p:cNvPr id="11" name="page:3"/>
          <p:cNvSpPr/>
          <p:nvPr/>
        </p:nvSpPr>
        <p:spPr>
          <a:xfrm>
            <a:off x="4160520" y="3072384"/>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Family Dentistry</a:t>
            </a:r>
            <a:r>
              <a:rPr lang="en-US" sz="1000" b="0" i="0" dirty="0">
                <a:solidFill>
                  <a:srgbClr val="FFFFFF"/>
                </a:solidFill>
                <a:latin typeface="Montserrat"/>
                <a:cs typeface="Montserrat"/>
              </a:rPr>
              <a:t>   service</a:t>
            </a:r>
            <a:endParaRPr lang="en-US" sz="1200" dirty="0"/>
          </a:p>
        </p:txBody>
      </p:sp>
      <p:sp>
        <p:nvSpPr>
          <p:cNvPr id="12" name="page:4"/>
          <p:cNvSpPr/>
          <p:nvPr/>
        </p:nvSpPr>
        <p:spPr>
          <a:xfrm>
            <a:off x="4160520" y="3511296"/>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Dental Implants</a:t>
            </a:r>
            <a:r>
              <a:rPr lang="en-US" sz="1000" b="0" i="0" dirty="0">
                <a:solidFill>
                  <a:srgbClr val="FFFFFF"/>
                </a:solidFill>
                <a:latin typeface="Montserrat"/>
                <a:cs typeface="Montserrat"/>
              </a:rPr>
              <a:t>   service</a:t>
            </a:r>
            <a:endParaRPr lang="en-US" sz="1200" dirty="0"/>
          </a:p>
        </p:txBody>
      </p:sp>
      <p:sp>
        <p:nvSpPr>
          <p:cNvPr id="13" name="page:5"/>
          <p:cNvSpPr/>
          <p:nvPr/>
        </p:nvSpPr>
        <p:spPr>
          <a:xfrm>
            <a:off x="4160520" y="3950208"/>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Sedation Dentistry</a:t>
            </a:r>
            <a:r>
              <a:rPr lang="en-US" sz="1000" b="0" i="0" dirty="0">
                <a:solidFill>
                  <a:srgbClr val="FFFFFF"/>
                </a:solidFill>
                <a:latin typeface="Montserrat"/>
                <a:cs typeface="Montserrat"/>
              </a:rPr>
              <a:t>   service</a:t>
            </a:r>
            <a:endParaRPr lang="en-US" sz="1200" dirty="0"/>
          </a:p>
        </p:txBody>
      </p:sp>
      <p:sp>
        <p:nvSpPr>
          <p:cNvPr id="14" name="page:6"/>
          <p:cNvSpPr/>
          <p:nvPr/>
        </p:nvSpPr>
        <p:spPr>
          <a:xfrm>
            <a:off x="4160520" y="4389120"/>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Pediatric Dentistry</a:t>
            </a:r>
            <a:r>
              <a:rPr lang="en-US" sz="1000" b="0" i="0" dirty="0">
                <a:solidFill>
                  <a:srgbClr val="FFFFFF"/>
                </a:solidFill>
                <a:latin typeface="Montserrat"/>
                <a:cs typeface="Montserrat"/>
              </a:rPr>
              <a:t>   service</a:t>
            </a:r>
            <a:endParaRPr lang="en-US" sz="1200" dirty="0"/>
          </a:p>
        </p:txBody>
      </p:sp>
      <p:sp>
        <p:nvSpPr>
          <p:cNvPr id="15" name="page:7"/>
          <p:cNvSpPr/>
          <p:nvPr/>
        </p:nvSpPr>
        <p:spPr>
          <a:xfrm>
            <a:off x="4160520" y="4828032"/>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Invisalign</a:t>
            </a:r>
            <a:r>
              <a:rPr lang="en-US" sz="1000" b="0" i="0" dirty="0">
                <a:solidFill>
                  <a:srgbClr val="FFFFFF"/>
                </a:solidFill>
                <a:latin typeface="Montserrat"/>
                <a:cs typeface="Montserrat"/>
              </a:rPr>
              <a:t>   service</a:t>
            </a:r>
            <a:endParaRPr lang="en-US" sz="1200" dirty="0"/>
          </a:p>
        </p:txBody>
      </p:sp>
      <p:sp>
        <p:nvSpPr>
          <p:cNvPr id="16" name="page:8"/>
          <p:cNvSpPr/>
          <p:nvPr/>
        </p:nvSpPr>
        <p:spPr>
          <a:xfrm>
            <a:off x="7932420" y="2194560"/>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Teeth Whitening</a:t>
            </a:r>
            <a:r>
              <a:rPr lang="en-US" sz="1000" b="0" i="0" dirty="0">
                <a:solidFill>
                  <a:srgbClr val="FFFFFF"/>
                </a:solidFill>
                <a:latin typeface="Montserrat"/>
                <a:cs typeface="Montserrat"/>
              </a:rPr>
              <a:t>   service</a:t>
            </a:r>
            <a:endParaRPr lang="en-US" sz="1200" dirty="0"/>
          </a:p>
        </p:txBody>
      </p:sp>
      <p:sp>
        <p:nvSpPr>
          <p:cNvPr id="17" name="page:9"/>
          <p:cNvSpPr/>
          <p:nvPr/>
        </p:nvSpPr>
        <p:spPr>
          <a:xfrm>
            <a:off x="7932420" y="2633472"/>
            <a:ext cx="3543300" cy="374904"/>
          </a:xfrm>
          <a:prstGeom prst="roundRect">
            <a:avLst>
              <a:gd name="adj" fmla="val 20000"/>
            </a:avLst>
          </a:prstGeom>
          <a:solidFill>
            <a:srgbClr val="E5F5EC"/>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Meridian Location</a:t>
            </a:r>
            <a:r>
              <a:rPr lang="en-US" sz="1000" b="0" i="0" dirty="0">
                <a:solidFill>
                  <a:srgbClr val="111111"/>
                </a:solidFill>
                <a:latin typeface="Montserrat"/>
                <a:cs typeface="Montserrat"/>
              </a:rPr>
              <a:t>   location</a:t>
            </a:r>
            <a:endParaRPr lang="en-US" sz="1200" dirty="0"/>
          </a:p>
        </p:txBody>
      </p:sp>
      <p:sp>
        <p:nvSpPr>
          <p:cNvPr id="18" name="page:10"/>
          <p:cNvSpPr/>
          <p:nvPr/>
        </p:nvSpPr>
        <p:spPr>
          <a:xfrm>
            <a:off x="7932420" y="3072384"/>
            <a:ext cx="3543300" cy="374904"/>
          </a:xfrm>
          <a:prstGeom prst="roundRect">
            <a:avLst>
              <a:gd name="adj" fmla="val 20000"/>
            </a:avLst>
          </a:prstGeom>
          <a:solidFill>
            <a:srgbClr val="F7F7F7"/>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About</a:t>
            </a:r>
            <a:r>
              <a:rPr lang="en-US" sz="1000" b="0" i="0" dirty="0">
                <a:solidFill>
                  <a:srgbClr val="111111"/>
                </a:solidFill>
                <a:latin typeface="Montserrat"/>
                <a:cs typeface="Montserrat"/>
              </a:rPr>
              <a:t>   about</a:t>
            </a:r>
            <a:endParaRPr lang="en-US" sz="1200" dirty="0"/>
          </a:p>
        </p:txBody>
      </p:sp>
      <p:sp>
        <p:nvSpPr>
          <p:cNvPr id="19" name="page:11"/>
          <p:cNvSpPr/>
          <p:nvPr/>
        </p:nvSpPr>
        <p:spPr>
          <a:xfrm>
            <a:off x="7932420" y="3511296"/>
            <a:ext cx="3543300" cy="374904"/>
          </a:xfrm>
          <a:prstGeom prst="roundRect">
            <a:avLst>
              <a:gd name="adj" fmla="val 20000"/>
            </a:avLst>
          </a:prstGeom>
          <a:solidFill>
            <a:srgbClr val="F7F7F7"/>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Our Team</a:t>
            </a:r>
            <a:r>
              <a:rPr lang="en-US" sz="1000" b="0" i="0" dirty="0">
                <a:solidFill>
                  <a:srgbClr val="111111"/>
                </a:solidFill>
                <a:latin typeface="Montserrat"/>
                <a:cs typeface="Montserrat"/>
              </a:rPr>
              <a:t>   about</a:t>
            </a:r>
            <a:endParaRPr lang="en-US" sz="1200" dirty="0"/>
          </a:p>
        </p:txBody>
      </p:sp>
      <p:sp>
        <p:nvSpPr>
          <p:cNvPr id="20" name="page:12"/>
          <p:cNvSpPr/>
          <p:nvPr/>
        </p:nvSpPr>
        <p:spPr>
          <a:xfrm>
            <a:off x="7932420" y="3950208"/>
            <a:ext cx="3543300" cy="374904"/>
          </a:xfrm>
          <a:prstGeom prst="roundRect">
            <a:avLst>
              <a:gd name="adj" fmla="val 20000"/>
            </a:avLst>
          </a:prstGeom>
          <a:solidFill>
            <a:srgbClr val="F7F7F7"/>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New Patients</a:t>
            </a:r>
            <a:r>
              <a:rPr lang="en-US" sz="1000" b="0" i="0" dirty="0">
                <a:solidFill>
                  <a:srgbClr val="111111"/>
                </a:solidFill>
                <a:latin typeface="Montserrat"/>
                <a:cs typeface="Montserrat"/>
              </a:rPr>
              <a:t>   other</a:t>
            </a:r>
            <a:endParaRPr lang="en-US" sz="1200" dirty="0"/>
          </a:p>
        </p:txBody>
      </p:sp>
      <p:sp>
        <p:nvSpPr>
          <p:cNvPr id="21" name="page:13"/>
          <p:cNvSpPr/>
          <p:nvPr/>
        </p:nvSpPr>
        <p:spPr>
          <a:xfrm>
            <a:off x="7932420" y="4389120"/>
            <a:ext cx="3543300" cy="374904"/>
          </a:xfrm>
          <a:prstGeom prst="roundRect">
            <a:avLst>
              <a:gd name="adj" fmla="val 20000"/>
            </a:avLst>
          </a:prstGeom>
          <a:solidFill>
            <a:srgbClr val="FFFFFF"/>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Contact</a:t>
            </a:r>
            <a:r>
              <a:rPr lang="en-US" sz="1000" b="0" i="0" dirty="0">
                <a:solidFill>
                  <a:srgbClr val="111111"/>
                </a:solidFill>
                <a:latin typeface="Montserrat"/>
                <a:cs typeface="Montserrat"/>
              </a:rPr>
              <a:t>   contact</a:t>
            </a:r>
            <a:endParaRPr lang="en-US" sz="1200" dirty="0"/>
          </a:p>
        </p:txBody>
      </p:sp>
      <p:sp>
        <p:nvSpPr>
          <p:cNvPr id="22" name="chrome:legend"/>
          <p:cNvSpPr txBox="1"/>
          <p:nvPr/>
        </p:nvSpPr>
        <p:spPr>
          <a:xfrm>
            <a:off x="4160520" y="5897880"/>
            <a:ext cx="7315200" cy="320040"/>
          </a:xfrm>
          <a:prstGeom prst="rect">
            <a:avLst/>
          </a:prstGeom>
          <a:noFill/>
          <a:ln>
            <a:noFill/>
          </a:ln>
        </p:spPr>
        <p:txBody>
          <a:bodyPr wrap="square" lIns="0" tIns="0" rIns="0" bIns="0" anchor="t" rtlCol="0">
            <a:noAutofit/>
          </a:bodyPr>
          <a:lstStyle/>
          <a:p>
            <a:pPr algn="l">
              <a:spcAft>
                <a:spcPts val="0"/>
              </a:spcAft>
            </a:pPr>
            <a:r>
              <a:rPr lang="en-US" sz="1100" b="0" i="0" dirty="0">
                <a:solidFill>
                  <a:srgbClr val="505858"/>
                </a:solidFill>
                <a:latin typeface="Montserrat"/>
                <a:cs typeface="Montserrat"/>
              </a:rPr>
              <a:t>Page types: home, service, location, about, contact, other</a:t>
            </a:r>
            <a:endParaRPr lang="en-US" sz="1100" dirty="0"/>
          </a:p>
        </p:txBody>
      </p:sp>
      <p:sp>
        <p:nvSpPr>
          <p:cNvPr id="23"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24" name="chrome:logo"/>
          <p:cNvPicPr>
            <a:picLocks noChangeAspect="1"/>
          </p:cNvPicPr>
          <p:nvPr/>
        </p:nvPicPr>
        <p:blipFill>
          <a:blip r:embed="rIdImg1"/>
          <a:stretch>
            <a:fillRect/>
          </a:stretch>
        </p:blipFill>
        <p:spPr>
          <a:xfrm>
            <a:off x="640080" y="6400800"/>
            <a:ext cx="665018" cy="274320"/>
          </a:xfrm>
          <a:prstGeom prst="rect">
            <a:avLst/>
          </a:prstGeom>
        </p:spPr>
      </p:pic>
      <p:sp>
        <p:nvSpPr>
          <p:cNvPr id="25"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26"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We're Not Doing</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We are leaving three things out so the plan stays honest and in scope</a:t>
            </a:r>
            <a:endParaRPr lang="en-US" sz="2800" dirty="0"/>
          </a:p>
        </p:txBody>
      </p:sp>
      <p:graphicFrame>
        <p:nvGraphicFramePr>
          <p:cNvPr id="6" name="table"/>
          <p:cNvGraphicFramePr>
            <a:graphicFrameLocks noGrp="1"/>
          </p:cNvGraphicFramePr>
          <p:nvPr/>
        </p:nvGraphicFramePr>
        <p:xfrm>
          <a:off x="640080" y="2103120"/>
          <a:ext cx="10881360" cy="1755648"/>
        </p:xfrm>
        <a:graphic>
          <a:graphicData uri="http://schemas.openxmlformats.org/drawingml/2006/table">
            <a:tbl>
              <a:tblPr firstRow="1" bandRow="0"/>
              <a:tblGrid>
                <a:gridCol w="3627120"/>
                <a:gridCol w="3627120"/>
                <a:gridCol w="3627120"/>
              </a:tblGrid>
              <a:tr h="438912">
                <a:tc>
                  <a:txBody>
                    <a:bodyPr/>
                    <a:lstStyle/>
                    <a:p>
                      <a:pPr algn="l">
                        <a:spcAft>
                          <a:spcPts val="0"/>
                        </a:spcAft>
                      </a:pPr>
                      <a:r>
                        <a:rPr lang="en-US" sz="1200" b="1" i="0" dirty="0">
                          <a:solidFill>
                            <a:srgbClr val="FFFFFF"/>
                          </a:solidFill>
                          <a:latin typeface="Montserrat"/>
                          <a:cs typeface="Montserrat"/>
                        </a:rPr>
                        <a:t>What</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Why not now</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What would change that</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r>
              <a:tr h="438912">
                <a:tc>
                  <a:txBody>
                    <a:bodyPr/>
                    <a:lstStyle/>
                    <a:p>
                      <a:pPr algn="l">
                        <a:spcAft>
                          <a:spcPts val="0"/>
                        </a:spcAft>
                      </a:pPr>
                      <a:r>
                        <a:rPr lang="en-US" sz="1300" b="1" i="0" dirty="0">
                          <a:solidFill>
                            <a:srgbClr val="111111"/>
                          </a:solidFill>
                          <a:latin typeface="Montserrat"/>
                          <a:cs typeface="Montserrat"/>
                        </a:rPr>
                        <a:t>A twenty-page site with a page per insurance plan</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It is outside the agreed 12-page scope, so it is not in this plan.</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If the scope is changed in a new agreement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438912">
                <a:tc>
                  <a:txBody>
                    <a:bodyPr/>
                    <a:lstStyle/>
                    <a:p>
                      <a:pPr algn="l">
                        <a:spcAft>
                          <a:spcPts val="0"/>
                        </a:spcAft>
                      </a:pPr>
                      <a:r>
                        <a:rPr lang="en-US" sz="1300" b="1" i="0" dirty="0">
                          <a:solidFill>
                            <a:srgbClr val="111111"/>
                          </a:solidFill>
                          <a:latin typeface="Montserrat"/>
                          <a:cs typeface="Montserrat"/>
                        </a:rPr>
                        <a:t>Blog writing as part of the build</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Blog writing is outside the current agreement, so the content calendar is a plan to agree on, not work already included.</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If blog writing is added to the agreement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438912">
                <a:tc>
                  <a:txBody>
                    <a:bodyPr/>
                    <a:lstStyle/>
                    <a:p>
                      <a:pPr algn="l">
                        <a:spcAft>
                          <a:spcPts val="0"/>
                        </a:spcAft>
                      </a:pPr>
                      <a:r>
                        <a:rPr lang="en-US" sz="1300" b="1" i="0" dirty="0">
                          <a:solidFill>
                            <a:srgbClr val="111111"/>
                          </a:solidFill>
                          <a:latin typeface="Montserrat"/>
                          <a:cs typeface="Montserrat"/>
                        </a:rPr>
                        <a:t>Promised rankings or patient numbers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Search results depend on factors outside anyone's control, so we describe direction and do not guarantee a ranking or a patient number.</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When results data from the first months after launch is available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bl>
          </a:graphicData>
        </a:graphic>
      </p:graphicFrame>
      <p:sp>
        <p:nvSpPr>
          <p:cNvPr id="7"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8" name="chrome:logo"/>
          <p:cNvPicPr>
            <a:picLocks noChangeAspect="1"/>
          </p:cNvPicPr>
          <p:nvPr/>
        </p:nvPicPr>
        <p:blipFill>
          <a:blip r:embed="rIdImg1"/>
          <a:stretch>
            <a:fillRect/>
          </a:stretch>
        </p:blipFill>
        <p:spPr>
          <a:xfrm>
            <a:off x="640080" y="6400800"/>
            <a:ext cx="665018" cy="274320"/>
          </a:xfrm>
          <a:prstGeom prst="rect">
            <a:avLst/>
          </a:prstGeom>
        </p:spPr>
      </p:pic>
      <p:sp>
        <p:nvSpPr>
          <p:cNvPr id="9"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0"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0506"/>
            </a:gs>
            <a:gs pos="100000">
              <a:srgbClr val="061012"/>
            </a:gs>
          </a:gsLst>
          <a:lin ang="5400000" scaled="0"/>
        </a:gradFill>
        <a:effectLst/>
      </p:bgPr>
    </p:bg>
    <p:spTree>
      <p:nvGrpSpPr>
        <p:cNvPr id="1" name=""/>
        <p:cNvGrpSpPr/>
        <p:nvPr/>
      </p:nvGrpSpPr>
      <p:grpSpPr>
        <a:xfrm>
          <a:off x="0" y="0"/>
          <a:ext cx="0" cy="0"/>
          <a:chOff x="0" y="0"/>
          <a:chExt cx="0" cy="0"/>
        </a:xfrm>
      </p:grpSpPr>
      <p:sp>
        <p:nvSpPr>
          <p:cNvPr id="3" name="chrome:divnum"/>
          <p:cNvSpPr txBox="1"/>
          <p:nvPr/>
        </p:nvSpPr>
        <p:spPr>
          <a:xfrm>
            <a:off x="640080" y="1828800"/>
            <a:ext cx="3657600" cy="1097280"/>
          </a:xfrm>
          <a:prstGeom prst="rect">
            <a:avLst/>
          </a:prstGeom>
          <a:noFill/>
          <a:ln>
            <a:noFill/>
          </a:ln>
        </p:spPr>
        <p:txBody>
          <a:bodyPr wrap="square" lIns="0" tIns="0" rIns="0" bIns="0" anchor="t" rtlCol="0">
            <a:noAutofit/>
          </a:bodyPr>
          <a:lstStyle/>
          <a:p>
            <a:pPr algn="l">
              <a:spcAft>
                <a:spcPts val="0"/>
              </a:spcAft>
            </a:pPr>
            <a:r>
              <a:rPr lang="en-US" sz="6600" b="1" i="0" dirty="0">
                <a:solidFill>
                  <a:srgbClr val="4DBC7C"/>
                </a:solidFill>
                <a:latin typeface="Montserrat"/>
                <a:cs typeface="Montserrat"/>
              </a:rPr>
              <a:t>03</a:t>
            </a:r>
            <a:endParaRPr lang="en-US" sz="6600" dirty="0"/>
          </a:p>
        </p:txBody>
      </p:sp>
      <p:sp>
        <p:nvSpPr>
          <p:cNvPr id="4" name="chrome:accent"/>
          <p:cNvSpPr/>
          <p:nvPr/>
        </p:nvSpPr>
        <p:spPr>
          <a:xfrm>
            <a:off x="640080" y="3063240"/>
            <a:ext cx="822960" cy="64008"/>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5" name="headline"/>
          <p:cNvSpPr txBox="1"/>
          <p:nvPr/>
        </p:nvSpPr>
        <p:spPr>
          <a:xfrm>
            <a:off x="640080" y="3291840"/>
            <a:ext cx="10515600" cy="1371600"/>
          </a:xfrm>
          <a:prstGeom prst="rect">
            <a:avLst/>
          </a:prstGeom>
          <a:noFill/>
          <a:ln>
            <a:noFill/>
          </a:ln>
        </p:spPr>
        <p:txBody>
          <a:bodyPr wrap="square" lIns="0" tIns="0" rIns="0" bIns="0" anchor="t" rtlCol="0">
            <a:noAutofit/>
          </a:bodyPr>
          <a:lstStyle/>
          <a:p>
            <a:pPr algn="l">
              <a:spcAft>
                <a:spcPts val="0"/>
              </a:spcAft>
            </a:pPr>
            <a:r>
              <a:rPr lang="en-US" sz="4000" b="1" i="0" dirty="0">
                <a:solidFill>
                  <a:srgbClr val="FFFFFF"/>
                </a:solidFill>
                <a:latin typeface="Montserrat"/>
                <a:cs typeface="Montserrat"/>
              </a:rPr>
              <a:t>Making it work</a:t>
            </a:r>
            <a:endParaRPr lang="en-US" sz="4000" dirty="0"/>
          </a:p>
        </p:txBody>
      </p:sp>
      <p:sp>
        <p:nvSpPr>
          <p:cNvPr id="6" name="chrome:rule"/>
          <p:cNvSpPr/>
          <p:nvPr/>
        </p:nvSpPr>
        <p:spPr>
          <a:xfrm>
            <a:off x="640080" y="6327648"/>
            <a:ext cx="10908792" cy="9144"/>
          </a:xfrm>
          <a:prstGeom prst="rect">
            <a:avLst/>
          </a:prstGeom>
          <a:solidFill>
            <a:srgbClr val="051011"/>
          </a:solidFill>
          <a:ln>
            <a:noFill/>
          </a:ln>
        </p:spPr>
        <p:txBody>
          <a:bodyPr wrap="square" lIns="73152" tIns="73152" rIns="73152" bIns="73152" anchor="t" rtlCol="0">
            <a:noAutofit/>
          </a:bodyPr>
          <a:lstStyle/>
          <a:p>
            <a:endParaRPr lang="en-US" dirty="0"/>
          </a:p>
        </p:txBody>
      </p:sp>
      <p:sp>
        <p:nvSpPr>
          <p:cNvPr id="7"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CCCCCC"/>
                </a:solidFill>
                <a:latin typeface="Montserrat"/>
                <a:cs typeface="Montserrat"/>
              </a:rPr>
              <a:t>Larkspur Family Dental  |  Growth Blueprint</a:t>
            </a:r>
            <a:endParaRPr lang="en-US" sz="1000" dirty="0"/>
          </a:p>
        </p:txBody>
      </p:sp>
      <p:sp>
        <p:nvSpPr>
          <p:cNvPr id="8"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CCCCCC"/>
                </a:solidFill>
                <a:latin typeface="Montserrat"/>
                <a:cs typeface="Montserrat"/>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Has To Be True</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The plan needs a few items from your team and one report from ours</a:t>
            </a:r>
            <a:endParaRPr lang="en-US" sz="2800" dirty="0"/>
          </a:p>
        </p:txBody>
      </p:sp>
      <p:sp>
        <p:nvSpPr>
          <p:cNvPr id="6" name="chrome:card"/>
          <p:cNvSpPr/>
          <p:nvPr/>
        </p:nvSpPr>
        <p:spPr>
          <a:xfrm>
            <a:off x="640080" y="2103120"/>
            <a:ext cx="5303520" cy="4023360"/>
          </a:xfrm>
          <a:prstGeom prst="roundRect">
            <a:avLst>
              <a:gd name="adj" fmla="val 4000"/>
            </a:avLst>
          </a:prstGeom>
          <a:solidFill>
            <a:srgbClr val="F2FAF6"/>
          </a:solidFill>
          <a:ln>
            <a:noFill/>
          </a:ln>
        </p:spPr>
        <p:txBody>
          <a:bodyPr wrap="square" lIns="73152" tIns="73152" rIns="73152" bIns="73152" anchor="t" rtlCol="0">
            <a:noAutofit/>
          </a:bodyPr>
          <a:lstStyle/>
          <a:p>
            <a:endParaRPr lang="en-US" dirty="0"/>
          </a:p>
        </p:txBody>
      </p:sp>
      <p:sp>
        <p:nvSpPr>
          <p:cNvPr id="7" name="chrome:side0"/>
          <p:cNvSpPr txBox="1"/>
          <p:nvPr/>
        </p:nvSpPr>
        <p:spPr>
          <a:xfrm>
            <a:off x="914400" y="2286000"/>
            <a:ext cx="4754880" cy="365760"/>
          </a:xfrm>
          <a:prstGeom prst="rect">
            <a:avLst/>
          </a:prstGeom>
          <a:noFill/>
          <a:ln>
            <a:noFill/>
          </a:ln>
        </p:spPr>
        <p:txBody>
          <a:bodyPr wrap="square" lIns="0" tIns="0" rIns="0" bIns="0" anchor="t" rtlCol="0">
            <a:noAutofit/>
          </a:bodyPr>
          <a:lstStyle/>
          <a:p>
            <a:pPr algn="l">
              <a:spcAft>
                <a:spcPts val="0"/>
              </a:spcAft>
            </a:pPr>
            <a:r>
              <a:rPr lang="en-US" sz="1300" b="1" i="0" spc="150" cap="all" dirty="0">
                <a:solidFill>
                  <a:srgbClr val="017A34"/>
                </a:solidFill>
                <a:latin typeface="Montserrat"/>
                <a:cs typeface="Montserrat"/>
              </a:rPr>
              <a:t>What we need from you</a:t>
            </a:r>
            <a:endParaRPr lang="en-US" sz="1300" dirty="0"/>
          </a:p>
        </p:txBody>
      </p:sp>
      <p:sp>
        <p:nvSpPr>
          <p:cNvPr id="8" name="items:client"/>
          <p:cNvSpPr txBox="1"/>
          <p:nvPr/>
        </p:nvSpPr>
        <p:spPr>
          <a:xfrm>
            <a:off x="914400" y="2743200"/>
            <a:ext cx="4754880" cy="3291840"/>
          </a:xfrm>
          <a:prstGeom prst="rect">
            <a:avLst/>
          </a:prstGeom>
          <a:noFill/>
          <a:ln>
            <a:noFill/>
          </a:ln>
        </p:spPr>
        <p:txBody>
          <a:bodyPr wrap="square" lIns="0" tIns="0" rIns="0" bIns="0" anchor="t" rtlCol="0">
            <a:noAutofit/>
          </a:bodyPr>
          <a:lstStyle/>
          <a:p>
            <a:pPr algn="l">
              <a:spcAft>
                <a:spcPts val="100"/>
              </a:spcAft>
            </a:pPr>
            <a:r>
              <a:rPr lang="en-US" sz="1400" b="1" i="0" dirty="0">
                <a:solidFill>
                  <a:srgbClr val="111111"/>
                </a:solidFill>
                <a:latin typeface="Montserrat"/>
                <a:cs typeface="Montserrat"/>
              </a:rPr>
              <a:t>Provide team photos</a:t>
            </a:r>
            <a:endParaRPr lang="en-US" sz="1400" dirty="0"/>
          </a:p>
          <a:p>
            <a:pPr algn="l">
              <a:spcAft>
                <a:spcPts val="1000"/>
              </a:spcAft>
            </a:pPr>
            <a:r>
              <a:rPr lang="en-US" sz="1100" b="0" i="0" dirty="0">
                <a:solidFill>
                  <a:srgbClr val="505858"/>
                </a:solidFill>
                <a:latin typeface="Montserrat"/>
                <a:cs typeface="Montserrat"/>
              </a:rPr>
              <a:t>Owner: Larkspur Family Dental  |  Needed: November, as scheduled  |  Blocks: The About and Our Team pages</a:t>
            </a:r>
            <a:endParaRPr lang="en-US" sz="1100" dirty="0"/>
          </a:p>
          <a:p>
            <a:pPr algn="l">
              <a:spcAft>
                <a:spcPts val="100"/>
              </a:spcAft>
            </a:pPr>
            <a:r>
              <a:rPr lang="en-US" sz="1400" b="1" i="0" dirty="0">
                <a:solidFill>
                  <a:srgbClr val="111111"/>
                </a:solidFill>
                <a:latin typeface="Montserrat"/>
                <a:cs typeface="Montserrat"/>
              </a:rPr>
              <a:t>Supply pricing information and any awards or press</a:t>
            </a:r>
            <a:endParaRPr lang="en-US" sz="1400" dirty="0"/>
          </a:p>
          <a:p>
            <a:pPr algn="l">
              <a:spcAft>
                <a:spcPts val="1000"/>
              </a:spcAft>
            </a:pPr>
            <a:r>
              <a:rPr lang="en-US" sz="1100" b="0" i="0" dirty="0">
                <a:solidFill>
                  <a:srgbClr val="505858"/>
                </a:solidFill>
                <a:latin typeface="Montserrat"/>
                <a:cs typeface="Montserrat"/>
              </a:rPr>
              <a:t>Owner: Office manager and Dr. Maya Okafor  |  Needed: Before content review  |  Blocks: Pricing and proof content on the site</a:t>
            </a:r>
            <a:endParaRPr lang="en-US" sz="1100" dirty="0"/>
          </a:p>
          <a:p>
            <a:pPr algn="l">
              <a:spcAft>
                <a:spcPts val="100"/>
              </a:spcAft>
            </a:pPr>
            <a:r>
              <a:rPr lang="en-US" sz="1400" b="1" i="0" dirty="0">
                <a:solidFill>
                  <a:srgbClr val="111111"/>
                </a:solidFill>
                <a:latin typeface="Montserrat"/>
                <a:cs typeface="Montserrat"/>
              </a:rPr>
              <a:t>Review and approve clinical wording and the results disclaimer</a:t>
            </a:r>
            <a:endParaRPr lang="en-US" sz="1400" dirty="0"/>
          </a:p>
          <a:p>
            <a:pPr algn="l">
              <a:spcAft>
                <a:spcPts val="1000"/>
              </a:spcAft>
            </a:pPr>
            <a:r>
              <a:rPr lang="en-US" sz="1100" b="0" i="0" dirty="0">
                <a:solidFill>
                  <a:srgbClr val="505858"/>
                </a:solidFill>
                <a:latin typeface="Montserrat"/>
                <a:cs typeface="Montserrat"/>
              </a:rPr>
              <a:t>Owner: Dr. Maya Okafor, with legal approval  |  Needed: Before content review  |  Blocks: The implant and Invisalign pages</a:t>
            </a:r>
            <a:endParaRPr lang="en-US" sz="1100" dirty="0"/>
          </a:p>
        </p:txBody>
      </p:sp>
      <p:sp>
        <p:nvSpPr>
          <p:cNvPr id="9" name="chrome:card"/>
          <p:cNvSpPr/>
          <p:nvPr/>
        </p:nvSpPr>
        <p:spPr>
          <a:xfrm>
            <a:off x="6217920" y="2103120"/>
            <a:ext cx="5303520" cy="4023360"/>
          </a:xfrm>
          <a:prstGeom prst="roundRect">
            <a:avLst>
              <a:gd name="adj" fmla="val 4000"/>
            </a:avLst>
          </a:prstGeom>
          <a:solidFill>
            <a:srgbClr val="F7F7F7"/>
          </a:solidFill>
          <a:ln>
            <a:noFill/>
          </a:ln>
        </p:spPr>
        <p:txBody>
          <a:bodyPr wrap="square" lIns="73152" tIns="73152" rIns="73152" bIns="73152" anchor="t" rtlCol="0">
            <a:noAutofit/>
          </a:bodyPr>
          <a:lstStyle/>
          <a:p>
            <a:endParaRPr lang="en-US" dirty="0"/>
          </a:p>
        </p:txBody>
      </p:sp>
      <p:sp>
        <p:nvSpPr>
          <p:cNvPr id="10" name="chrome:side1"/>
          <p:cNvSpPr txBox="1"/>
          <p:nvPr/>
        </p:nvSpPr>
        <p:spPr>
          <a:xfrm>
            <a:off x="6492240" y="2286000"/>
            <a:ext cx="4754880" cy="365760"/>
          </a:xfrm>
          <a:prstGeom prst="rect">
            <a:avLst/>
          </a:prstGeom>
          <a:noFill/>
          <a:ln>
            <a:noFill/>
          </a:ln>
        </p:spPr>
        <p:txBody>
          <a:bodyPr wrap="square" lIns="0" tIns="0" rIns="0" bIns="0" anchor="t" rtlCol="0">
            <a:noAutofit/>
          </a:bodyPr>
          <a:lstStyle/>
          <a:p>
            <a:pPr algn="l">
              <a:spcAft>
                <a:spcPts val="0"/>
              </a:spcAft>
            </a:pPr>
            <a:r>
              <a:rPr lang="en-US" sz="1300" b="1" i="0" spc="150" cap="all" dirty="0">
                <a:solidFill>
                  <a:srgbClr val="505858"/>
                </a:solidFill>
                <a:latin typeface="Montserrat"/>
                <a:cs typeface="Montserrat"/>
              </a:rPr>
              <a:t>What WISE owns</a:t>
            </a:r>
            <a:endParaRPr lang="en-US" sz="1300" dirty="0"/>
          </a:p>
        </p:txBody>
      </p:sp>
      <p:sp>
        <p:nvSpPr>
          <p:cNvPr id="11" name="items:wise"/>
          <p:cNvSpPr txBox="1"/>
          <p:nvPr/>
        </p:nvSpPr>
        <p:spPr>
          <a:xfrm>
            <a:off x="6492240" y="2743200"/>
            <a:ext cx="4754880" cy="3291840"/>
          </a:xfrm>
          <a:prstGeom prst="rect">
            <a:avLst/>
          </a:prstGeom>
          <a:noFill/>
          <a:ln>
            <a:noFill/>
          </a:ln>
        </p:spPr>
        <p:txBody>
          <a:bodyPr wrap="square" lIns="0" tIns="0" rIns="0" bIns="0" anchor="t" rtlCol="0">
            <a:noAutofit/>
          </a:bodyPr>
          <a:lstStyle/>
          <a:p>
            <a:pPr algn="l">
              <a:spcAft>
                <a:spcPts val="100"/>
              </a:spcAft>
            </a:pPr>
            <a:r>
              <a:rPr lang="en-US" sz="1400" b="1" i="0" dirty="0">
                <a:solidFill>
                  <a:srgbClr val="111111"/>
                </a:solidFill>
                <a:latin typeface="Montserrat"/>
                <a:cs typeface="Montserrat"/>
              </a:rPr>
              <a:t>Complete the competitor review and add it to this Blueprint</a:t>
            </a:r>
            <a:endParaRPr lang="en-US" sz="1400" dirty="0"/>
          </a:p>
          <a:p>
            <a:pPr algn="l">
              <a:spcAft>
                <a:spcPts val="1000"/>
              </a:spcAft>
            </a:pPr>
            <a:r>
              <a:rPr lang="en-US" sz="1100" b="0" i="0" dirty="0">
                <a:solidFill>
                  <a:srgbClr val="505858"/>
                </a:solidFill>
                <a:latin typeface="Montserrat"/>
                <a:cs typeface="Montserrat"/>
              </a:rPr>
              <a:t>Owner: WISE Digital Partners  |  Needed: Before the Blueprint is final  |  Blocks: The competitor slides and authority targets</a:t>
            </a:r>
            <a:endParaRPr lang="en-US" sz="1100" dirty="0"/>
          </a:p>
          <a:p>
            <a:pPr algn="l">
              <a:spcAft>
                <a:spcPts val="100"/>
              </a:spcAft>
            </a:pPr>
            <a:r>
              <a:rPr lang="en-US" sz="1400" b="1" i="0" dirty="0">
                <a:solidFill>
                  <a:srgbClr val="111111"/>
                </a:solidFill>
                <a:latin typeface="Montserrat"/>
                <a:cs typeface="Montserrat"/>
              </a:rPr>
              <a:t>Write and design the pages in the sitemap</a:t>
            </a:r>
            <a:endParaRPr lang="en-US" sz="1400" dirty="0"/>
          </a:p>
          <a:p>
            <a:pPr algn="l">
              <a:spcAft>
                <a:spcPts val="1000"/>
              </a:spcAft>
            </a:pPr>
            <a:r>
              <a:rPr lang="en-US" sz="1100" b="0" i="0" dirty="0">
                <a:solidFill>
                  <a:srgbClr val="505858"/>
                </a:solidFill>
                <a:latin typeface="Montserrat"/>
                <a:cs typeface="Montserrat"/>
              </a:rPr>
              <a:t>Owner: WISE Digital Partners  |  Needed: After this Blueprint is approved  |  Blocks: Launch of the new site</a:t>
            </a:r>
            <a:endParaRPr lang="en-US" sz="1100" dirty="0"/>
          </a:p>
        </p:txBody>
      </p:sp>
      <p:sp>
        <p:nvSpPr>
          <p:cNvPr id="12"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3" name="chrome:logo"/>
          <p:cNvPicPr>
            <a:picLocks noChangeAspect="1"/>
          </p:cNvPicPr>
          <p:nvPr/>
        </p:nvPicPr>
        <p:blipFill>
          <a:blip r:embed="rIdImg1"/>
          <a:stretch>
            <a:fillRect/>
          </a:stretch>
        </p:blipFill>
        <p:spPr>
          <a:xfrm>
            <a:off x="640080" y="6400800"/>
            <a:ext cx="665018" cy="274320"/>
          </a:xfrm>
          <a:prstGeom prst="rect">
            <a:avLst/>
          </a:prstGeom>
        </p:spPr>
      </p:pic>
      <p:sp>
        <p:nvSpPr>
          <p:cNvPr id="14"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5"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How We'll Measure This</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We will track bookings, calls and rankings, and read them as direction only</a:t>
            </a:r>
            <a:endParaRPr lang="en-US" sz="2800" dirty="0"/>
          </a:p>
        </p:txBody>
      </p:sp>
      <p:sp>
        <p:nvSpPr>
          <p:cNvPr id="6" name="chrome:badge"/>
          <p:cNvSpPr/>
          <p:nvPr/>
        </p:nvSpPr>
        <p:spPr>
          <a:xfrm>
            <a:off x="640080" y="2057400"/>
            <a:ext cx="2377440" cy="347472"/>
          </a:xfrm>
          <a:prstGeom prst="roundRect">
            <a:avLst>
              <a:gd name="adj" fmla="val 50000"/>
            </a:avLst>
          </a:prstGeom>
          <a:solidFill>
            <a:srgbClr val="E5F5EC"/>
          </a:solidFill>
          <a:ln>
            <a:noFill/>
          </a:ln>
        </p:spPr>
        <p:txBody>
          <a:bodyPr wrap="square" lIns="27432" tIns="27432" rIns="27432" bIns="27432" anchor="ctr" rtlCol="0">
            <a:noAutofit/>
          </a:bodyPr>
          <a:lstStyle/>
          <a:p>
            <a:pPr algn="ctr">
              <a:spcAft>
                <a:spcPts val="0"/>
              </a:spcAft>
            </a:pPr>
            <a:r>
              <a:rPr lang="en-US" sz="1100" b="1" i="0" dirty="0">
                <a:solidFill>
                  <a:srgbClr val="017A34"/>
                </a:solidFill>
                <a:latin typeface="Montserrat"/>
                <a:cs typeface="Montserrat"/>
              </a:rPr>
              <a:t>Targets are directional</a:t>
            </a:r>
            <a:endParaRPr lang="en-US" sz="1100" dirty="0"/>
          </a:p>
        </p:txBody>
      </p:sp>
      <p:graphicFrame>
        <p:nvGraphicFramePr>
          <p:cNvPr id="7" name="table"/>
          <p:cNvGraphicFramePr>
            <a:graphicFrameLocks noGrp="1"/>
          </p:cNvGraphicFramePr>
          <p:nvPr/>
        </p:nvGraphicFramePr>
        <p:xfrm>
          <a:off x="640080" y="2606040"/>
          <a:ext cx="10881360" cy="1755648"/>
        </p:xfrm>
        <a:graphic>
          <a:graphicData uri="http://schemas.openxmlformats.org/drawingml/2006/table">
            <a:tbl>
              <a:tblPr firstRow="1" bandRow="0"/>
              <a:tblGrid>
                <a:gridCol w="2324174"/>
                <a:gridCol w="1584664"/>
                <a:gridCol w="2324174"/>
                <a:gridCol w="2324174"/>
                <a:gridCol w="2324174"/>
              </a:tblGrid>
              <a:tr h="438912">
                <a:tc>
                  <a:txBody>
                    <a:bodyPr/>
                    <a:lstStyle/>
                    <a:p>
                      <a:pPr algn="l">
                        <a:spcAft>
                          <a:spcPts val="0"/>
                        </a:spcAft>
                      </a:pPr>
                      <a:r>
                        <a:rPr lang="en-US" sz="1200" b="1" i="0" dirty="0">
                          <a:solidFill>
                            <a:srgbClr val="FFFFFF"/>
                          </a:solidFill>
                          <a:latin typeface="Montserrat"/>
                          <a:cs typeface="Montserrat"/>
                        </a:rPr>
                        <a:t>Metric</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Baseline today</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3 months</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6 months</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12 months</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r>
              <a:tr h="438912">
                <a:tc>
                  <a:txBody>
                    <a:bodyPr/>
                    <a:lstStyle/>
                    <a:p>
                      <a:pPr algn="l">
                        <a:spcAft>
                          <a:spcPts val="0"/>
                        </a:spcAft>
                      </a:pPr>
                      <a:r>
                        <a:rPr lang="en-US" sz="1300" b="1" i="0" dirty="0">
                          <a:solidFill>
                            <a:srgbClr val="111111"/>
                          </a:solidFill>
                          <a:latin typeface="Montserrat"/>
                          <a:cs typeface="Montserrat"/>
                        </a:rPr>
                        <a:t>Booking requests and phone calls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Not tracked yet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Begin to come from search</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Growing from search</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A steady source of requests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438912">
                <a:tc>
                  <a:txBody>
                    <a:bodyPr/>
                    <a:lstStyle/>
                    <a:p>
                      <a:pPr algn="l">
                        <a:spcAft>
                          <a:spcPts val="0"/>
                        </a:spcAft>
                      </a:pPr>
                      <a:r>
                        <a:rPr lang="en-US" sz="1300" b="1" i="0" dirty="0">
                          <a:solidFill>
                            <a:srgbClr val="111111"/>
                          </a:solidFill>
                          <a:latin typeface="Montserrat"/>
                          <a:cs typeface="Montserrat"/>
                        </a:rPr>
                        <a:t>Rankings for the Tier 1 keywords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Not tracked yet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Emergency, family dentistry and sedation pages move first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Implants, pediatric and Meridian pages gain visibility</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Competing for broader terms such as dentist boise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438912">
                <a:tc>
                  <a:txBody>
                    <a:bodyPr/>
                    <a:lstStyle/>
                    <a:p>
                      <a:pPr algn="l">
                        <a:spcAft>
                          <a:spcPts val="0"/>
                        </a:spcAft>
                      </a:pPr>
                      <a:r>
                        <a:rPr lang="en-US" sz="1300" b="1" i="0" dirty="0">
                          <a:solidFill>
                            <a:srgbClr val="111111"/>
                          </a:solidFill>
                          <a:latin typeface="Montserrat"/>
                          <a:cs typeface="Montserrat"/>
                        </a:rPr>
                        <a:t>New-patient enquiries from search</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Not tracked yet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Start to appear</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Rise as reviews and content add up</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Steady, especially emergency and implant patients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bl>
          </a:graphicData>
        </a:graphic>
      </p:graphicFrame>
      <p:sp>
        <p:nvSpPr>
          <p:cNvPr id="8"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9" name="chrome:logo"/>
          <p:cNvPicPr>
            <a:picLocks noChangeAspect="1"/>
          </p:cNvPicPr>
          <p:nvPr/>
        </p:nvPicPr>
        <p:blipFill>
          <a:blip r:embed="rIdImg1"/>
          <a:stretch>
            <a:fillRect/>
          </a:stretch>
        </p:blipFill>
        <p:spPr>
          <a:xfrm>
            <a:off x="640080" y="6400800"/>
            <a:ext cx="665018" cy="274320"/>
          </a:xfrm>
          <a:prstGeom prst="rect">
            <a:avLst/>
          </a:prstGeom>
        </p:spPr>
      </p:pic>
      <p:sp>
        <p:nvSpPr>
          <p:cNvPr id="10"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1"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Your Team</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Each side has named people who own the decisions and the work</a:t>
            </a:r>
            <a:endParaRPr lang="en-US" sz="2800" dirty="0"/>
          </a:p>
        </p:txBody>
      </p:sp>
      <p:sp>
        <p:nvSpPr>
          <p:cNvPr id="6" name="chrome:team0"/>
          <p:cNvSpPr txBox="1"/>
          <p:nvPr/>
        </p:nvSpPr>
        <p:spPr>
          <a:xfrm>
            <a:off x="640080" y="2103120"/>
            <a:ext cx="10881360" cy="320040"/>
          </a:xfrm>
          <a:prstGeom prst="rect">
            <a:avLst/>
          </a:prstGeom>
          <a:noFill/>
          <a:ln>
            <a:noFill/>
          </a:ln>
        </p:spPr>
        <p:txBody>
          <a:bodyPr wrap="square" lIns="0" tIns="0" rIns="0" bIns="0" anchor="t" rtlCol="0">
            <a:noAutofit/>
          </a:bodyPr>
          <a:lstStyle/>
          <a:p>
            <a:pPr algn="l">
              <a:spcAft>
                <a:spcPts val="0"/>
              </a:spcAft>
            </a:pPr>
            <a:r>
              <a:rPr lang="en-US" sz="1200" b="1" i="0" spc="150" cap="all" dirty="0">
                <a:solidFill>
                  <a:srgbClr val="505858"/>
                </a:solidFill>
                <a:latin typeface="Montserrat"/>
                <a:cs typeface="Montserrat"/>
              </a:rPr>
              <a:t>Larkspur Family Dental</a:t>
            </a:r>
            <a:endParaRPr lang="en-US" sz="1200" dirty="0"/>
          </a:p>
        </p:txBody>
      </p:sp>
      <p:sp>
        <p:nvSpPr>
          <p:cNvPr id="7" name="chrome:initials"/>
          <p:cNvSpPr/>
          <p:nvPr/>
        </p:nvSpPr>
        <p:spPr>
          <a:xfrm>
            <a:off x="640080" y="2514600"/>
            <a:ext cx="731520" cy="731520"/>
          </a:xfrm>
          <a:prstGeom prst="ellipse">
            <a:avLst/>
          </a:prstGeom>
          <a:solidFill>
            <a:srgbClr val="E5F5EC"/>
          </a:solidFill>
          <a:ln>
            <a:noFill/>
          </a:ln>
        </p:spPr>
        <p:txBody>
          <a:bodyPr wrap="square" lIns="0" tIns="0" rIns="0" bIns="0" anchor="ctr" rtlCol="0">
            <a:noAutofit/>
          </a:bodyPr>
          <a:lstStyle/>
          <a:p>
            <a:pPr algn="ctr">
              <a:spcAft>
                <a:spcPts val="0"/>
              </a:spcAft>
            </a:pPr>
            <a:r>
              <a:rPr lang="en-US" sz="1600" b="1" i="0" dirty="0">
                <a:solidFill>
                  <a:srgbClr val="017A34"/>
                </a:solidFill>
                <a:latin typeface="Montserrat"/>
                <a:cs typeface="Montserrat"/>
              </a:rPr>
              <a:t>MO</a:t>
            </a:r>
            <a:endParaRPr lang="en-US" sz="1600" dirty="0"/>
          </a:p>
        </p:txBody>
      </p:sp>
      <p:sp>
        <p:nvSpPr>
          <p:cNvPr id="8" name="person:client1"/>
          <p:cNvSpPr txBox="1"/>
          <p:nvPr/>
        </p:nvSpPr>
        <p:spPr>
          <a:xfrm>
            <a:off x="1508760" y="2468880"/>
            <a:ext cx="4434840" cy="1463040"/>
          </a:xfrm>
          <a:prstGeom prst="rect">
            <a:avLst/>
          </a:prstGeom>
          <a:noFill/>
          <a:ln>
            <a:noFill/>
          </a:ln>
        </p:spPr>
        <p:txBody>
          <a:bodyPr wrap="square" lIns="0" tIns="0" rIns="0" bIns="0" anchor="t" rtlCol="0">
            <a:noAutofit/>
          </a:bodyPr>
          <a:lstStyle/>
          <a:p>
            <a:pPr algn="l">
              <a:spcAft>
                <a:spcPts val="200"/>
              </a:spcAft>
            </a:pPr>
            <a:r>
              <a:rPr lang="en-US" sz="1400" b="1" i="0" dirty="0">
                <a:solidFill>
                  <a:srgbClr val="111111"/>
                </a:solidFill>
                <a:latin typeface="Montserrat"/>
                <a:cs typeface="Montserrat"/>
              </a:rPr>
              <a:t>Dr. Maya Okafor</a:t>
            </a:r>
            <a:endParaRPr lang="en-US" sz="1400" dirty="0"/>
          </a:p>
          <a:p>
            <a:pPr algn="l">
              <a:spcAft>
                <a:spcPts val="200"/>
              </a:spcAft>
            </a:pPr>
            <a:r>
              <a:rPr lang="en-US" sz="1200" b="1" i="0" dirty="0">
                <a:solidFill>
                  <a:srgbClr val="017A34"/>
                </a:solidFill>
                <a:latin typeface="Montserrat"/>
                <a:cs typeface="Montserrat"/>
              </a:rPr>
              <a:t>Founder, Larkspur Family Dental</a:t>
            </a:r>
            <a:endParaRPr lang="en-US" sz="1200" dirty="0"/>
          </a:p>
          <a:p>
            <a:pPr algn="l">
              <a:lnSpc>
                <a:spcPct val="105000"/>
              </a:lnSpc>
              <a:spcAft>
                <a:spcPts val="0"/>
              </a:spcAft>
            </a:pPr>
            <a:r>
              <a:rPr lang="en-US" sz="1100" b="0" i="0" dirty="0">
                <a:solidFill>
                  <a:srgbClr val="505858"/>
                </a:solidFill>
                <a:latin typeface="Montserrat"/>
                <a:cs typeface="Montserrat"/>
              </a:rPr>
              <a:t>Priorities and clinical wording approval</a:t>
            </a:r>
            <a:endParaRPr lang="en-US" sz="1100" dirty="0"/>
          </a:p>
        </p:txBody>
      </p:sp>
      <p:sp>
        <p:nvSpPr>
          <p:cNvPr id="9" name="chrome:initials"/>
          <p:cNvSpPr/>
          <p:nvPr/>
        </p:nvSpPr>
        <p:spPr>
          <a:xfrm>
            <a:off x="6217920" y="2514600"/>
            <a:ext cx="731520" cy="731520"/>
          </a:xfrm>
          <a:prstGeom prst="ellipse">
            <a:avLst/>
          </a:prstGeom>
          <a:solidFill>
            <a:srgbClr val="E5F5EC"/>
          </a:solidFill>
          <a:ln>
            <a:noFill/>
          </a:ln>
        </p:spPr>
        <p:txBody>
          <a:bodyPr wrap="square" lIns="0" tIns="0" rIns="0" bIns="0" anchor="ctr" rtlCol="0">
            <a:noAutofit/>
          </a:bodyPr>
          <a:lstStyle/>
          <a:p>
            <a:pPr algn="ctr">
              <a:spcAft>
                <a:spcPts val="0"/>
              </a:spcAft>
            </a:pPr>
            <a:r>
              <a:rPr lang="en-US" sz="1600" b="1" i="0" dirty="0">
                <a:solidFill>
                  <a:srgbClr val="017A34"/>
                </a:solidFill>
                <a:latin typeface="Montserrat"/>
                <a:cs typeface="Montserrat"/>
              </a:rPr>
              <a:t>[I</a:t>
            </a:r>
            <a:endParaRPr lang="en-US" sz="1600" dirty="0"/>
          </a:p>
        </p:txBody>
      </p:sp>
      <p:sp>
        <p:nvSpPr>
          <p:cNvPr id="10" name="person:client2"/>
          <p:cNvSpPr txBox="1"/>
          <p:nvPr/>
        </p:nvSpPr>
        <p:spPr>
          <a:xfrm>
            <a:off x="7086600" y="2468880"/>
            <a:ext cx="4434840" cy="1463040"/>
          </a:xfrm>
          <a:prstGeom prst="rect">
            <a:avLst/>
          </a:prstGeom>
          <a:noFill/>
          <a:ln>
            <a:noFill/>
          </a:ln>
        </p:spPr>
        <p:txBody>
          <a:bodyPr wrap="square" lIns="0" tIns="0" rIns="0" bIns="0" anchor="t" rtlCol="0">
            <a:noAutofit/>
          </a:bodyPr>
          <a:lstStyle/>
          <a:p>
            <a:pPr algn="l">
              <a:spcAft>
                <a:spcPts val="200"/>
              </a:spcAft>
            </a:pPr>
            <a:r>
              <a:rPr lang="en-US" sz="1400" b="1" i="0" dirty="0">
                <a:solidFill>
                  <a:srgbClr val="111111"/>
                </a:solidFill>
                <a:latin typeface="Montserrat"/>
                <a:cs typeface="Montserrat"/>
              </a:rPr>
              <a:t>[NEEDS INPUT: name of office manager]</a:t>
            </a:r>
            <a:endParaRPr lang="en-US" sz="1400" dirty="0"/>
          </a:p>
          <a:p>
            <a:pPr algn="l">
              <a:spcAft>
                <a:spcPts val="200"/>
              </a:spcAft>
            </a:pPr>
            <a:r>
              <a:rPr lang="en-US" sz="1200" b="1" i="0" dirty="0">
                <a:solidFill>
                  <a:srgbClr val="017A34"/>
                </a:solidFill>
                <a:latin typeface="Montserrat"/>
                <a:cs typeface="Montserrat"/>
              </a:rPr>
              <a:t>Office manager</a:t>
            </a:r>
            <a:endParaRPr lang="en-US" sz="1200" dirty="0"/>
          </a:p>
          <a:p>
            <a:pPr algn="l">
              <a:lnSpc>
                <a:spcPct val="105000"/>
              </a:lnSpc>
              <a:spcAft>
                <a:spcPts val="0"/>
              </a:spcAft>
            </a:pPr>
            <a:r>
              <a:rPr lang="en-US" sz="1100" b="0" i="0" dirty="0">
                <a:solidFill>
                  <a:srgbClr val="505858"/>
                </a:solidFill>
                <a:latin typeface="Montserrat"/>
                <a:cs typeface="Montserrat"/>
              </a:rPr>
              <a:t>Pricing information and any awards or press</a:t>
            </a:r>
            <a:endParaRPr lang="en-US" sz="1100" dirty="0"/>
          </a:p>
        </p:txBody>
      </p:sp>
      <p:sp>
        <p:nvSpPr>
          <p:cNvPr id="11" name="chrome:team1"/>
          <p:cNvSpPr txBox="1"/>
          <p:nvPr/>
        </p:nvSpPr>
        <p:spPr>
          <a:xfrm>
            <a:off x="640080" y="4160520"/>
            <a:ext cx="10881360" cy="320040"/>
          </a:xfrm>
          <a:prstGeom prst="rect">
            <a:avLst/>
          </a:prstGeom>
          <a:noFill/>
          <a:ln>
            <a:noFill/>
          </a:ln>
        </p:spPr>
        <p:txBody>
          <a:bodyPr wrap="square" lIns="0" tIns="0" rIns="0" bIns="0" anchor="t" rtlCol="0">
            <a:noAutofit/>
          </a:bodyPr>
          <a:lstStyle/>
          <a:p>
            <a:pPr algn="l">
              <a:spcAft>
                <a:spcPts val="0"/>
              </a:spcAft>
            </a:pPr>
            <a:r>
              <a:rPr lang="en-US" sz="1200" b="1" i="0" spc="150" cap="all" dirty="0">
                <a:solidFill>
                  <a:srgbClr val="505858"/>
                </a:solidFill>
                <a:latin typeface="Montserrat"/>
                <a:cs typeface="Montserrat"/>
              </a:rPr>
              <a:t>WISE Digital Partners</a:t>
            </a:r>
            <a:endParaRPr lang="en-US" sz="1200" dirty="0"/>
          </a:p>
        </p:txBody>
      </p:sp>
      <p:sp>
        <p:nvSpPr>
          <p:cNvPr id="12" name="chrome:initials"/>
          <p:cNvSpPr/>
          <p:nvPr/>
        </p:nvSpPr>
        <p:spPr>
          <a:xfrm>
            <a:off x="640080" y="4572000"/>
            <a:ext cx="731520" cy="731520"/>
          </a:xfrm>
          <a:prstGeom prst="ellipse">
            <a:avLst/>
          </a:prstGeom>
          <a:solidFill>
            <a:srgbClr val="E5F5EC"/>
          </a:solidFill>
          <a:ln>
            <a:noFill/>
          </a:ln>
        </p:spPr>
        <p:txBody>
          <a:bodyPr wrap="square" lIns="0" tIns="0" rIns="0" bIns="0" anchor="ctr" rtlCol="0">
            <a:noAutofit/>
          </a:bodyPr>
          <a:lstStyle/>
          <a:p>
            <a:pPr algn="ctr">
              <a:spcAft>
                <a:spcPts val="0"/>
              </a:spcAft>
            </a:pPr>
            <a:r>
              <a:rPr lang="en-US" sz="1600" b="1" i="0" dirty="0">
                <a:solidFill>
                  <a:srgbClr val="017A34"/>
                </a:solidFill>
                <a:latin typeface="Montserrat"/>
                <a:cs typeface="Montserrat"/>
              </a:rPr>
              <a:t>JP</a:t>
            </a:r>
            <a:endParaRPr lang="en-US" sz="1600" dirty="0"/>
          </a:p>
        </p:txBody>
      </p:sp>
      <p:sp>
        <p:nvSpPr>
          <p:cNvPr id="13" name="person:wise1"/>
          <p:cNvSpPr txBox="1"/>
          <p:nvPr/>
        </p:nvSpPr>
        <p:spPr>
          <a:xfrm>
            <a:off x="1508760" y="4526280"/>
            <a:ext cx="4434840" cy="1463040"/>
          </a:xfrm>
          <a:prstGeom prst="rect">
            <a:avLst/>
          </a:prstGeom>
          <a:noFill/>
          <a:ln>
            <a:noFill/>
          </a:ln>
        </p:spPr>
        <p:txBody>
          <a:bodyPr wrap="square" lIns="0" tIns="0" rIns="0" bIns="0" anchor="t" rtlCol="0">
            <a:noAutofit/>
          </a:bodyPr>
          <a:lstStyle/>
          <a:p>
            <a:pPr algn="l">
              <a:spcAft>
                <a:spcPts val="200"/>
              </a:spcAft>
            </a:pPr>
            <a:r>
              <a:rPr lang="en-US" sz="1400" b="1" i="0" dirty="0">
                <a:solidFill>
                  <a:srgbClr val="111111"/>
                </a:solidFill>
                <a:latin typeface="Montserrat"/>
                <a:cs typeface="Montserrat"/>
              </a:rPr>
              <a:t>Jordan Pike</a:t>
            </a:r>
            <a:endParaRPr lang="en-US" sz="1400" dirty="0"/>
          </a:p>
          <a:p>
            <a:pPr algn="l">
              <a:spcAft>
                <a:spcPts val="200"/>
              </a:spcAft>
            </a:pPr>
            <a:r>
              <a:rPr lang="en-US" sz="1200" b="1" i="0" dirty="0">
                <a:solidFill>
                  <a:srgbClr val="017A34"/>
                </a:solidFill>
                <a:latin typeface="Montserrat"/>
                <a:cs typeface="Montserrat"/>
              </a:rPr>
              <a:t>[NEEDS INPUT: role of Jordan Pike]</a:t>
            </a:r>
            <a:endParaRPr lang="en-US" sz="1200" dirty="0"/>
          </a:p>
          <a:p>
            <a:pPr algn="l">
              <a:lnSpc>
                <a:spcPct val="105000"/>
              </a:lnSpc>
              <a:spcAft>
                <a:spcPts val="0"/>
              </a:spcAft>
            </a:pPr>
            <a:r>
              <a:rPr lang="en-US" sz="1100" b="0" i="0" dirty="0">
                <a:solidFill>
                  <a:srgbClr val="505858"/>
                </a:solidFill>
                <a:latin typeface="Montserrat"/>
                <a:cs typeface="Montserrat"/>
              </a:rPr>
              <a:t>The kickoff and questions on this plan</a:t>
            </a:r>
            <a:endParaRPr lang="en-US" sz="1100" dirty="0"/>
          </a:p>
        </p:txBody>
      </p:sp>
      <p:sp>
        <p:nvSpPr>
          <p:cNvPr id="14"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5" name="chrome:logo"/>
          <p:cNvPicPr>
            <a:picLocks noChangeAspect="1"/>
          </p:cNvPicPr>
          <p:nvPr/>
        </p:nvPicPr>
        <p:blipFill>
          <a:blip r:embed="rIdImg1"/>
          <a:stretch>
            <a:fillRect/>
          </a:stretch>
        </p:blipFill>
        <p:spPr>
          <a:xfrm>
            <a:off x="640080" y="6400800"/>
            <a:ext cx="665018" cy="274320"/>
          </a:xfrm>
          <a:prstGeom prst="rect">
            <a:avLst/>
          </a:prstGeom>
        </p:spPr>
      </p:pic>
      <p:sp>
        <p:nvSpPr>
          <p:cNvPr id="16"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7"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Happens Next</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Next we review this together, then collect your inputs and finish the build plan</a:t>
            </a:r>
            <a:endParaRPr lang="en-US" sz="2800" dirty="0"/>
          </a:p>
        </p:txBody>
      </p:sp>
      <p:sp>
        <p:nvSpPr>
          <p:cNvPr id="6" name="chrome:num"/>
          <p:cNvSpPr/>
          <p:nvPr/>
        </p:nvSpPr>
        <p:spPr>
          <a:xfrm>
            <a:off x="640080" y="2228088"/>
            <a:ext cx="420624" cy="420624"/>
          </a:xfrm>
          <a:prstGeom prst="ellipse">
            <a:avLst/>
          </a:prstGeom>
          <a:solidFill>
            <a:srgbClr val="019F44"/>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1</a:t>
            </a:r>
            <a:endParaRPr lang="en-US" sz="1300" dirty="0"/>
          </a:p>
        </p:txBody>
      </p:sp>
      <p:sp>
        <p:nvSpPr>
          <p:cNvPr id="7" name="action:1"/>
          <p:cNvSpPr txBox="1"/>
          <p:nvPr/>
        </p:nvSpPr>
        <p:spPr>
          <a:xfrm>
            <a:off x="1234440" y="210312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Walk through this Blueprint and note your questions</a:t>
            </a:r>
            <a:endParaRPr lang="en-US" sz="1700" dirty="0"/>
          </a:p>
        </p:txBody>
      </p:sp>
      <p:sp>
        <p:nvSpPr>
          <p:cNvPr id="8" name="owner:1"/>
          <p:cNvSpPr txBox="1"/>
          <p:nvPr/>
        </p:nvSpPr>
        <p:spPr>
          <a:xfrm>
            <a:off x="7772400" y="210312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Jordan Pike</a:t>
            </a:r>
            <a:r>
              <a:rPr lang="en-US" sz="1300" b="0" i="0" dirty="0">
                <a:solidFill>
                  <a:srgbClr val="505858"/>
                </a:solidFill>
                <a:latin typeface="Montserrat"/>
                <a:cs typeface="Montserrat"/>
              </a:rPr>
              <a:t>   Monday</a:t>
            </a:r>
            <a:endParaRPr lang="en-US" sz="1300" dirty="0"/>
          </a:p>
        </p:txBody>
      </p:sp>
      <p:sp>
        <p:nvSpPr>
          <p:cNvPr id="9" name="chrome:num"/>
          <p:cNvSpPr/>
          <p:nvPr/>
        </p:nvSpPr>
        <p:spPr>
          <a:xfrm>
            <a:off x="640080" y="289864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2</a:t>
            </a:r>
            <a:endParaRPr lang="en-US" sz="1300" dirty="0"/>
          </a:p>
        </p:txBody>
      </p:sp>
      <p:sp>
        <p:nvSpPr>
          <p:cNvPr id="10" name="action:2"/>
          <p:cNvSpPr txBox="1"/>
          <p:nvPr/>
        </p:nvSpPr>
        <p:spPr>
          <a:xfrm>
            <a:off x="1234440" y="277368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Provide team photos</a:t>
            </a:r>
            <a:endParaRPr lang="en-US" sz="1700" dirty="0"/>
          </a:p>
        </p:txBody>
      </p:sp>
      <p:sp>
        <p:nvSpPr>
          <p:cNvPr id="11" name="owner:2"/>
          <p:cNvSpPr txBox="1"/>
          <p:nvPr/>
        </p:nvSpPr>
        <p:spPr>
          <a:xfrm>
            <a:off x="7772400" y="277368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Larkspur Family Dental</a:t>
            </a:r>
            <a:r>
              <a:rPr lang="en-US" sz="1300" b="0" i="0" dirty="0">
                <a:solidFill>
                  <a:srgbClr val="505858"/>
                </a:solidFill>
                <a:latin typeface="Montserrat"/>
                <a:cs typeface="Montserrat"/>
              </a:rPr>
              <a:t>   November</a:t>
            </a:r>
            <a:endParaRPr lang="en-US" sz="1300" dirty="0"/>
          </a:p>
        </p:txBody>
      </p:sp>
      <p:sp>
        <p:nvSpPr>
          <p:cNvPr id="12" name="chrome:num"/>
          <p:cNvSpPr/>
          <p:nvPr/>
        </p:nvSpPr>
        <p:spPr>
          <a:xfrm>
            <a:off x="640080" y="356920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3</a:t>
            </a:r>
            <a:endParaRPr lang="en-US" sz="1300" dirty="0"/>
          </a:p>
        </p:txBody>
      </p:sp>
      <p:sp>
        <p:nvSpPr>
          <p:cNvPr id="13" name="action:3"/>
          <p:cNvSpPr txBox="1"/>
          <p:nvPr/>
        </p:nvSpPr>
        <p:spPr>
          <a:xfrm>
            <a:off x="1234440" y="344424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Supply pricing information and any awards or press</a:t>
            </a:r>
            <a:endParaRPr lang="en-US" sz="1700" dirty="0"/>
          </a:p>
        </p:txBody>
      </p:sp>
      <p:sp>
        <p:nvSpPr>
          <p:cNvPr id="14" name="owner:3"/>
          <p:cNvSpPr txBox="1"/>
          <p:nvPr/>
        </p:nvSpPr>
        <p:spPr>
          <a:xfrm>
            <a:off x="7772400" y="344424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Office manager and Dr. Maya Okafor</a:t>
            </a:r>
            <a:r>
              <a:rPr lang="en-US" sz="1300" b="0" i="0" dirty="0">
                <a:solidFill>
                  <a:srgbClr val="505858"/>
                </a:solidFill>
                <a:latin typeface="Montserrat"/>
                <a:cs typeface="Montserrat"/>
              </a:rPr>
              <a:t>   Before content review</a:t>
            </a:r>
            <a:endParaRPr lang="en-US" sz="1300" dirty="0"/>
          </a:p>
        </p:txBody>
      </p:sp>
      <p:sp>
        <p:nvSpPr>
          <p:cNvPr id="15" name="chrome:num"/>
          <p:cNvSpPr/>
          <p:nvPr/>
        </p:nvSpPr>
        <p:spPr>
          <a:xfrm>
            <a:off x="640080" y="423976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4</a:t>
            </a:r>
            <a:endParaRPr lang="en-US" sz="1300" dirty="0"/>
          </a:p>
        </p:txBody>
      </p:sp>
      <p:sp>
        <p:nvSpPr>
          <p:cNvPr id="16" name="action:4"/>
          <p:cNvSpPr txBox="1"/>
          <p:nvPr/>
        </p:nvSpPr>
        <p:spPr>
          <a:xfrm>
            <a:off x="1234440" y="411480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Approve clinical wording and the results disclaimer</a:t>
            </a:r>
            <a:endParaRPr lang="en-US" sz="1700" dirty="0"/>
          </a:p>
        </p:txBody>
      </p:sp>
      <p:sp>
        <p:nvSpPr>
          <p:cNvPr id="17" name="owner:4"/>
          <p:cNvSpPr txBox="1"/>
          <p:nvPr/>
        </p:nvSpPr>
        <p:spPr>
          <a:xfrm>
            <a:off x="7772400" y="411480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Dr. Maya Okafor</a:t>
            </a:r>
            <a:r>
              <a:rPr lang="en-US" sz="1300" b="0" i="0" dirty="0">
                <a:solidFill>
                  <a:srgbClr val="505858"/>
                </a:solidFill>
                <a:latin typeface="Montserrat"/>
                <a:cs typeface="Montserrat"/>
              </a:rPr>
              <a:t>   Before content review</a:t>
            </a:r>
            <a:endParaRPr lang="en-US" sz="1300" dirty="0"/>
          </a:p>
        </p:txBody>
      </p:sp>
      <p:sp>
        <p:nvSpPr>
          <p:cNvPr id="18" name="chrome:num"/>
          <p:cNvSpPr/>
          <p:nvPr/>
        </p:nvSpPr>
        <p:spPr>
          <a:xfrm>
            <a:off x="640080" y="491032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5</a:t>
            </a:r>
            <a:endParaRPr lang="en-US" sz="1300" dirty="0"/>
          </a:p>
        </p:txBody>
      </p:sp>
      <p:sp>
        <p:nvSpPr>
          <p:cNvPr id="19" name="action:5"/>
          <p:cNvSpPr txBox="1"/>
          <p:nvPr/>
        </p:nvSpPr>
        <p:spPr>
          <a:xfrm>
            <a:off x="1234440" y="478536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Complete the competitor review and add it to the Blueprint</a:t>
            </a:r>
            <a:endParaRPr lang="en-US" sz="1700" dirty="0"/>
          </a:p>
        </p:txBody>
      </p:sp>
      <p:sp>
        <p:nvSpPr>
          <p:cNvPr id="20" name="owner:5"/>
          <p:cNvSpPr txBox="1"/>
          <p:nvPr/>
        </p:nvSpPr>
        <p:spPr>
          <a:xfrm>
            <a:off x="7772400" y="478536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WISE Digital Partners</a:t>
            </a:r>
            <a:r>
              <a:rPr lang="en-US" sz="1300" b="0" i="0" dirty="0">
                <a:solidFill>
                  <a:srgbClr val="505858"/>
                </a:solidFill>
                <a:latin typeface="Montserrat"/>
                <a:cs typeface="Montserrat"/>
              </a:rPr>
              <a:t>   Before the Blueprint is final</a:t>
            </a:r>
            <a:endParaRPr lang="en-US" sz="1300" dirty="0"/>
          </a:p>
        </p:txBody>
      </p:sp>
      <p:sp>
        <p:nvSpPr>
          <p:cNvPr id="21" name="chrome:num"/>
          <p:cNvSpPr/>
          <p:nvPr/>
        </p:nvSpPr>
        <p:spPr>
          <a:xfrm>
            <a:off x="640080" y="558088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6</a:t>
            </a:r>
            <a:endParaRPr lang="en-US" sz="1300" dirty="0"/>
          </a:p>
        </p:txBody>
      </p:sp>
      <p:sp>
        <p:nvSpPr>
          <p:cNvPr id="22" name="action:6"/>
          <p:cNvSpPr txBox="1"/>
          <p:nvPr/>
        </p:nvSpPr>
        <p:spPr>
          <a:xfrm>
            <a:off x="1234440" y="545592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Write and design the pages in the sitemap</a:t>
            </a:r>
            <a:endParaRPr lang="en-US" sz="1700" dirty="0"/>
          </a:p>
        </p:txBody>
      </p:sp>
      <p:sp>
        <p:nvSpPr>
          <p:cNvPr id="23" name="owner:6"/>
          <p:cNvSpPr txBox="1"/>
          <p:nvPr/>
        </p:nvSpPr>
        <p:spPr>
          <a:xfrm>
            <a:off x="7772400" y="545592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WISE Digital Partners</a:t>
            </a:r>
            <a:r>
              <a:rPr lang="en-US" sz="1300" b="0" i="0" dirty="0">
                <a:solidFill>
                  <a:srgbClr val="505858"/>
                </a:solidFill>
                <a:latin typeface="Montserrat"/>
                <a:cs typeface="Montserrat"/>
              </a:rPr>
              <a:t>   After approval</a:t>
            </a:r>
            <a:endParaRPr lang="en-US" sz="1300" dirty="0"/>
          </a:p>
        </p:txBody>
      </p:sp>
      <p:sp>
        <p:nvSpPr>
          <p:cNvPr id="24"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25" name="chrome:logo"/>
          <p:cNvPicPr>
            <a:picLocks noChangeAspect="1"/>
          </p:cNvPicPr>
          <p:nvPr/>
        </p:nvPicPr>
        <p:blipFill>
          <a:blip r:embed="rIdImg1"/>
          <a:stretch>
            <a:fillRect/>
          </a:stretch>
        </p:blipFill>
        <p:spPr>
          <a:xfrm>
            <a:off x="640080" y="6400800"/>
            <a:ext cx="665018" cy="274320"/>
          </a:xfrm>
          <a:prstGeom prst="rect">
            <a:avLst/>
          </a:prstGeom>
        </p:spPr>
      </p:pic>
      <p:sp>
        <p:nvSpPr>
          <p:cNvPr id="26"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27"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19</a:t>
            </a:r>
            <a:endParaRPr lang="en-US" sz="1000" dirty="0"/>
          </a:p>
        </p:txBody>
      </p:sp>
    </p:spTree>
  </p:cSld>
  <p:clrMapOvr>
    <a:masterClrMapping/>
  </p:clrMapOvr>
</p:sld>
</file>

<file path=ppt/theme/theme1.xml><?xml version="1.0" encoding="utf-8"?>
<a:theme xmlns:a="http://schemas.openxmlformats.org/drawingml/2006/main" name="WISE">
  <a:themeElements>
    <a:clrScheme name="WISE">
      <a:dk1>
        <a:srgbClr val="111111"/>
      </a:dk1>
      <a:lt1>
        <a:srgbClr val="FFFFFF"/>
      </a:lt1>
      <a:dk2>
        <a:srgbClr val="051011"/>
      </a:dk2>
      <a:lt2>
        <a:srgbClr val="F7F7F7"/>
      </a:lt2>
      <a:accent1>
        <a:srgbClr val="019F44"/>
      </a:accent1>
      <a:accent2>
        <a:srgbClr val="017A34"/>
      </a:accent2>
      <a:accent3>
        <a:srgbClr val="4DBC7C"/>
      </a:accent3>
      <a:accent4>
        <a:srgbClr val="99D9B4"/>
      </a:accent4>
      <a:accent5>
        <a:srgbClr val="505858"/>
      </a:accent5>
      <a:accent6>
        <a:srgbClr val="7A7A7A"/>
      </a:accent6>
      <a:hlink>
        <a:srgbClr val="017A34"/>
      </a:hlink>
      <a:folHlink>
        <a:srgbClr val="505858"/>
      </a:folHlink>
    </a:clrScheme>
    <a:fontScheme name="WISE">
      <a:majorFont>
        <a:latin typeface="Montserrat"/>
        <a:ea typeface=""/>
        <a:cs typeface=""/>
      </a:majorFont>
      <a:minorFont>
        <a:latin typeface="Montserrat"/>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WISE Notes">
  <a:themeElements>
    <a:clrScheme name="WISE Notes">
      <a:dk1>
        <a:srgbClr val="111111"/>
      </a:dk1>
      <a:lt1>
        <a:srgbClr val="FFFFFF"/>
      </a:lt1>
      <a:dk2>
        <a:srgbClr val="051011"/>
      </a:dk2>
      <a:lt2>
        <a:srgbClr val="F7F7F7"/>
      </a:lt2>
      <a:accent1>
        <a:srgbClr val="019F44"/>
      </a:accent1>
      <a:accent2>
        <a:srgbClr val="017A34"/>
      </a:accent2>
      <a:accent3>
        <a:srgbClr val="4DBC7C"/>
      </a:accent3>
      <a:accent4>
        <a:srgbClr val="99D9B4"/>
      </a:accent4>
      <a:accent5>
        <a:srgbClr val="505858"/>
      </a:accent5>
      <a:accent6>
        <a:srgbClr val="7A7A7A"/>
      </a:accent6>
      <a:hlink>
        <a:srgbClr val="017A34"/>
      </a:hlink>
      <a:folHlink>
        <a:srgbClr val="505858"/>
      </a:folHlink>
    </a:clrScheme>
    <a:fontScheme name="WISE Notes">
      <a:majorFont>
        <a:latin typeface="Montserrat"/>
        <a:ea typeface=""/>
        <a:cs typeface=""/>
      </a:majorFont>
      <a:minorFont>
        <a:latin typeface="Montserrat"/>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blueprint-deck</Application>
  <Slides>19</Slides>
  <Notes>19</Notes>
</Properties>
</file>

<file path=docProps/core.xml><?xml version="1.0" encoding="utf-8"?>
<cp:coreProperties xmlns:cp="http://schemas.openxmlformats.org/package/2006/metadata/core-properties" xmlns:dc="http://purl.org/dc/elements/1.1/" xmlns:dcterms="http://purl.org/dc/terms/" xmlns:xsi="http://www.w3.org/2001/XMLSchema-instance">
  <dc:title>Larkspur Family Dental: Growth Blueprint</dc:title>
  <dc:creator>WISE Digital Partners</dc:creator>
  <dcterms:created xsi:type="dcterms:W3CDTF">2026-10-20T00:00:00Z</dcterms:created>
</cp:coreProperties>
</file>