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Lst>
  <p:sldSz cx="12192000" cy="6858000"/>
  <p:notesSz cx="6858000" cy="9144000"/>
  <p:defaultTextStyle/>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Thank you for the kickoff call. This deck is our plan for getting Larkspur found by new patients in Boise and Meridian. It follows what you told us and the research we did since.</a:t>
            </a:r>
          </a:p>
          <a:p>
            <a:r>
              <a:rPr lang="en-US" sz="1200" dirty="0">
                <a:latin typeface="Montserrat"/>
              </a:rPr>
              <a:t>Emphasise: Emergency care is the opening no competitor has taken.</a:t>
            </a:r>
          </a:p>
          <a:p>
            <a:r>
              <a:rPr lang="en-US" sz="1200" dirty="0">
                <a:latin typeface="Montserrat"/>
              </a:rPr>
              <a:t>Likely pushback: You asked for a twenty-page site. The agreed scope is up to 12 pages, and slide 14 explains how the plan works within 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Larkspur has no website today, so nobody searching for a dentist in Boise or Meridian can land on it. That is the one problem the rest of this plan solves.</a:t>
            </a:r>
          </a:p>
          <a:p>
            <a:r>
              <a:rPr lang="en-US" sz="1200" dirty="0">
                <a:latin typeface="Montserrat"/>
              </a:rPr>
              <a:t>Emphasise: 0 top-10 keywords today.</a:t>
            </a:r>
          </a:p>
          <a:p>
            <a:r>
              <a:rPr lang="en-US" sz="1200" dirty="0">
                <a:latin typeface="Montserrat"/>
              </a:rPr>
              <a:t>Likely pushback: Why not just buy ads? Paid media is outside the agreed scope, and a site is the base any ad would send people to.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Treasure Valley Smiles holds most of the estimated local organic traffic. Meanwhile 1,300 people a month search for an emergency dentist in Boise. Those are the patients the practice wants most.</a:t>
            </a:r>
          </a:p>
          <a:p>
            <a:r>
              <a:rPr lang="en-US" sz="1200" dirty="0">
                <a:latin typeface="Montserrat"/>
              </a:rPr>
              <a:t>Emphasise: 54.0% of estimated local organic traffic sits with one competitor.</a:t>
            </a:r>
          </a:p>
          <a:p>
            <a:r>
              <a:rPr lang="en-US" sz="1200" dirty="0">
                <a:latin typeface="Montserrat"/>
              </a:rPr>
              <a:t>Likely pushback: Are the traffic numbers exact? No. They are estimates from a third-party tool, and we label them that way.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These are your words from the kickoff call. Each one shaped a decision in the plan: what leads the homepage, who the site speaks to and how it sounds.</a:t>
            </a:r>
          </a:p>
          <a:p>
            <a:r>
              <a:rPr lang="en-US" sz="1200" dirty="0">
                <a:latin typeface="Montserrat"/>
              </a:rPr>
              <a:t>Emphasise: Emergency care leads the homepage.</a:t>
            </a:r>
          </a:p>
          <a:p>
            <a:r>
              <a:rPr lang="en-US" sz="1200" dirty="0">
                <a:latin typeface="Montserrat"/>
              </a:rPr>
              <a:t>Likely pushback: Will the site sound salesy? No. Calm, clear, no pressure is the voice we write in.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This section shows where Larkspur stands today and who it is up against.</a:t>
            </a:r>
          </a:p>
          <a:p>
            <a:r>
              <a:rPr lang="en-US" sz="1200" dirty="0">
                <a:latin typeface="Montserrat"/>
              </a:rPr>
              <a:t>Emphasise: The gap to close is authority, not service quality.</a:t>
            </a:r>
          </a:p>
          <a:p>
            <a:r>
              <a:rPr lang="en-US" sz="1200" dirty="0">
                <a:latin typeface="Montserrat"/>
              </a:rPr>
              <a:t>Likely pushback: Is the gap too big to close? It is a real gap, and the plan is built to close it in stages.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Search presence starts from zero. The review rating is the real asset: 4.9 from 212 Google reviews, and the site will put it in front of every visitor.</a:t>
            </a:r>
          </a:p>
          <a:p>
            <a:r>
              <a:rPr lang="en-US" sz="1200" dirty="0">
                <a:latin typeface="Montserrat"/>
              </a:rPr>
              <a:t>Emphasise: 4.9 average rating from 212 Google reviews.</a:t>
            </a:r>
          </a:p>
          <a:p>
            <a:r>
              <a:rPr lang="en-US" sz="1200" dirty="0">
                <a:latin typeface="Montserrat"/>
              </a:rPr>
              <a:t>Likely pushback: Do reviews matter for search? They build trust on the page, and we keep them current and visible.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We compared the new domain with the three Boise practices you named. Treasure Valley Smiles leads on rankings and links. Boise Bright Dental leads on AI citations.</a:t>
            </a:r>
          </a:p>
          <a:p>
            <a:r>
              <a:rPr lang="en-US" sz="1200" dirty="0">
                <a:latin typeface="Montserrat"/>
              </a:rPr>
              <a:t>Emphasise: Treasure Valley Smiles: 146 top-10 keywords and 312 referring domains.</a:t>
            </a:r>
          </a:p>
          <a:p>
            <a:r>
              <a:rPr lang="en-US" sz="1200" dirty="0">
                <a:latin typeface="Montserrat"/>
              </a:rPr>
              <a:t>Likely pushback: Should we copy the leader? We learn from it, but we win first where it has no page, which is emergency care.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Not every competitor deserves the same worry. Two of them matter. North End Family Dental is smaller and has a clear gap on sedation.</a:t>
            </a:r>
          </a:p>
          <a:p>
            <a:r>
              <a:rPr lang="en-US" sz="1200" dirty="0">
                <a:latin typeface="Montserrat"/>
              </a:rPr>
              <a:t>Emphasise: Treasure Valley Smiles and Boise Bright Dental are the two to watch.</a:t>
            </a:r>
          </a:p>
          <a:p>
            <a:r>
              <a:rPr lang="en-US" sz="1200" dirty="0">
                <a:latin typeface="Montserrat"/>
              </a:rPr>
              <a:t>Likely pushback: Why not call all three real threats? Because the figures show North End is well behind, and we should spend effort where it counts.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Tier 1 keywords are the main keywords of the pages in the new build. Tier 2 is next, in months 1 to 3. Tier 3 builds long-term authority. Searches and difficulty come from our keyword research.</a:t>
            </a:r>
          </a:p>
          <a:p>
            <a:r>
              <a:rPr lang="en-US" sz="1200" dirty="0">
                <a:latin typeface="Montserrat"/>
              </a:rPr>
              <a:t>Emphasise: 1,300 monthly searches for emergency dentist boise.</a:t>
            </a:r>
          </a:p>
          <a:p>
            <a:r>
              <a:rPr lang="en-US" sz="1200" dirty="0">
                <a:latin typeface="Montserrat"/>
              </a:rPr>
              <a:t>Likely pushback: Where is the biggest number? In Tier 2, and the next slide explains why it does not come first.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Everyone wants to rank for dentist boise. It is the largest search in the plan, but a new domain has to earn that position. We build the service pages first and earn authority after.</a:t>
            </a:r>
          </a:p>
          <a:p>
            <a:r>
              <a:rPr lang="en-US" sz="1200" dirty="0">
                <a:latin typeface="Montserrat"/>
              </a:rPr>
              <a:t>Emphasise: 6,600 monthly searches, and a difficulty of 61.</a:t>
            </a:r>
          </a:p>
          <a:p>
            <a:r>
              <a:rPr lang="en-US" sz="1200" dirty="0">
                <a:latin typeface="Montserrat"/>
              </a:rPr>
              <a:t>Likely pushback: Why not go for it first? A new domain would struggle, and the lower-difficulty pages bring patients sooner.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This section covers how Larkspur is positioned, the site we are building and what we are leaving out.</a:t>
            </a:r>
          </a:p>
          <a:p>
            <a:r>
              <a:rPr lang="en-US" sz="1200" dirty="0">
                <a:latin typeface="Montserrat"/>
              </a:rPr>
              <a:t>Emphasise: One positioning statement runs through every page.</a:t>
            </a:r>
          </a:p>
          <a:p>
            <a:r>
              <a:rPr lang="en-US" sz="1200" dirty="0">
                <a:latin typeface="Montserrat"/>
              </a:rPr>
              <a:t>Likely pushback: Can the positioning change later? Yes, if the practice's priorities change, and we would update the plan.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Same-day emergency care leads the homepage because it is the fastest-growing service and the topic no competitor has a page for. Sedation and the review rating back it up.</a:t>
            </a:r>
          </a:p>
          <a:p>
            <a:r>
              <a:rPr lang="en-US" sz="1200" dirty="0">
                <a:latin typeface="Montserrat"/>
              </a:rPr>
              <a:t>Emphasise: Same-day emergency appointments every weekday.</a:t>
            </a:r>
          </a:p>
          <a:p>
            <a:r>
              <a:rPr lang="en-US" sz="1200" dirty="0">
                <a:latin typeface="Montserrat"/>
              </a:rPr>
              <a:t>Likely pushback: Is the claim safe? Outcome claims are kept factual and reviewed by Dr. Okafor before they go live.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The site has a page for each main service and one for Meridian. The home page, contact page and other support pages sit outside the count, so the sitemap lists more rows than 11.</a:t>
            </a:r>
          </a:p>
          <a:p>
            <a:r>
              <a:rPr lang="en-US" sz="1200" dirty="0">
                <a:latin typeface="Montserrat"/>
              </a:rPr>
              <a:t>Emphasise: 11 pages counted against the 12-page scope.</a:t>
            </a:r>
          </a:p>
          <a:p>
            <a:r>
              <a:rPr lang="en-US" sz="1200" dirty="0">
                <a:latin typeface="Montserrat"/>
              </a:rPr>
              <a:t>Likely pushback: Can we add more pages? Possibly, through a scope change. Slide 14 covers the page-per-insurance request.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This slide protects the plan. We heard each of these asks and explain here why they are not in the first build and when they could return.</a:t>
            </a:r>
          </a:p>
          <a:p>
            <a:r>
              <a:rPr lang="en-US" sz="1200" dirty="0">
                <a:latin typeface="Montserrat"/>
              </a:rPr>
              <a:t>Emphasise: Twenty pages was the ask. Up to 12 pages is the agreed scope.</a:t>
            </a:r>
          </a:p>
          <a:p>
            <a:r>
              <a:rPr lang="en-US" sz="1200" dirty="0">
                <a:latin typeface="Montserrat"/>
              </a:rPr>
              <a:t>Likely pushback: Why not just do it all? Spreading effort thin would slow the pages that matter most.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This section covers what has to be true on both sides, how we measure progress and what happens next.</a:t>
            </a:r>
          </a:p>
          <a:p>
            <a:r>
              <a:rPr lang="en-US" sz="1200" dirty="0">
                <a:latin typeface="Montserrat"/>
              </a:rPr>
              <a:t>Emphasise: Both sides have work to do.</a:t>
            </a:r>
          </a:p>
          <a:p>
            <a:r>
              <a:rPr lang="en-US" sz="1200" dirty="0">
                <a:latin typeface="Montserrat"/>
              </a:rPr>
              <a:t>Likely pushback: Is this all on us? No, WISE owns the briefing and writing of the pages.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Most of what we need is small, but it holds up real pages. Photos are scheduled for November. Prices and the disclaimer approval gate the implant and Invisalign pages.</a:t>
            </a:r>
          </a:p>
          <a:p>
            <a:r>
              <a:rPr lang="en-US" sz="1200" dirty="0">
                <a:latin typeface="Montserrat"/>
              </a:rPr>
              <a:t>Emphasise: Prices have not been supplied yet.</a:t>
            </a:r>
          </a:p>
          <a:p>
            <a:r>
              <a:rPr lang="en-US" sz="1200" dirty="0">
                <a:latin typeface="Montserrat"/>
              </a:rPr>
              <a:t>Likely pushback: What if photos slip? We can still write the pages, but the Our Team page waits.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We track the two conversions you care about: booking requests and calls. Targets here are directions, not forecasts. We do not promise rankings, traffic or patient numbers.</a:t>
            </a:r>
          </a:p>
          <a:p>
            <a:r>
              <a:rPr lang="en-US" sz="1200" dirty="0">
                <a:latin typeface="Montserrat"/>
              </a:rPr>
              <a:t>Emphasise: Targets are directional, not promises.</a:t>
            </a:r>
          </a:p>
          <a:p>
            <a:r>
              <a:rPr lang="en-US" sz="1200" dirty="0">
                <a:latin typeface="Montserrat"/>
              </a:rPr>
              <a:t>Likely pushback: Will we hit twenty more patients a month? That is your goal and the plan is built to move toward it, but we do not promise it.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Dr. Okafor owns approvals and clinical claims. WISE owns the briefs and the writing. If someone is away, the approval waits, so we agree turnaround up front.</a:t>
            </a:r>
          </a:p>
          <a:p>
            <a:r>
              <a:rPr lang="en-US" sz="1200" dirty="0">
                <a:latin typeface="Montserrat"/>
              </a:rPr>
              <a:t>Emphasise: Dr. Okafor signs off on clinical claims.</a:t>
            </a:r>
          </a:p>
          <a:p>
            <a:r>
              <a:rPr lang="en-US" sz="1200" dirty="0">
                <a:latin typeface="Montserrat"/>
              </a:rPr>
              <a:t>Likely pushback: What if Dr. Okafor is away? Content that needs her review waits, so we plan around her schedule.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ontserrat"/>
              </a:rPr>
              <a:t>Say: The first step is approving this plan and the sitemap. After that we need prices, claims review, the disclaimer approval and the photos. WISE briefs and writes the pages.</a:t>
            </a:r>
          </a:p>
          <a:p>
            <a:r>
              <a:rPr lang="en-US" sz="1200" dirty="0">
                <a:latin typeface="Montserrat"/>
              </a:rPr>
              <a:t>Emphasise: Approving the plan and sitemap starts everything.</a:t>
            </a:r>
          </a:p>
          <a:p>
            <a:r>
              <a:rPr lang="en-US" sz="1200" dirty="0">
                <a:latin typeface="Montserrat"/>
              </a:rPr>
              <a:t>Likely pushback: Can we start before the photos arrive? Yes, only the Our Team page waits for them.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3200"/>
      </a:lvl1pPr>
    </p:titleStyle>
    <p:bodyStyle>
      <a:lvl1pPr>
        <a:defRPr sz="1600"/>
      </a:lvl1pPr>
    </p:bodyStyle>
    <p:otherStyle>
      <a:lvl1pPr>
        <a:defRPr sz="1400"/>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Img1" Type="http://schemas.openxmlformats.org/officeDocument/2006/relationships/image" Target="../media/image1_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Img1" Type="http://schemas.openxmlformats.org/officeDocument/2006/relationships/image" Target="../media/image2_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Img1" Type="http://schemas.openxmlformats.org/officeDocument/2006/relationships/image" Target="../media/image3_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Img1" Type="http://schemas.openxmlformats.org/officeDocument/2006/relationships/image" Target="../media/image4_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Img1" Type="http://schemas.openxmlformats.org/officeDocument/2006/relationships/image" Target="../media/image6_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Img1" Type="http://schemas.openxmlformats.org/officeDocument/2006/relationships/image" Target="../media/image7_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Img1" Type="http://schemas.openxmlformats.org/officeDocument/2006/relationships/image" Target="../media/image8_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Img1" Type="http://schemas.openxmlformats.org/officeDocument/2006/relationships/image" Target="../media/image9_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Img1" Type="http://schemas.openxmlformats.org/officeDocument/2006/relationships/image" Target="../media/image10_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Img1" Type="http://schemas.openxmlformats.org/officeDocument/2006/relationships/image" Target="../media/image12_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Img1" Type="http://schemas.openxmlformats.org/officeDocument/2006/relationships/image" Target="../media/image13_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Img1" Type="http://schemas.openxmlformats.org/officeDocument/2006/relationships/image" Target="../media/image14_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Img1" Type="http://schemas.openxmlformats.org/officeDocument/2006/relationships/image" Target="../media/image16_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Img1" Type="http://schemas.openxmlformats.org/officeDocument/2006/relationships/image" Target="../media/image17_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Img1" Type="http://schemas.openxmlformats.org/officeDocument/2006/relationships/image" Target="../media/image18_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Img1" Type="http://schemas.openxmlformats.org/officeDocument/2006/relationships/image" Target="../media/image19_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panel"/>
          <p:cNvSpPr/>
          <p:nvPr/>
        </p:nvSpPr>
        <p:spPr>
          <a:xfrm>
            <a:off x="8138160" y="0"/>
            <a:ext cx="4053535" cy="6858000"/>
          </a:xfrm>
          <a:prstGeom prst="rect">
            <a:avLst/>
          </a:prstGeom>
          <a:gradFill rotWithShape="1">
            <a:gsLst>
              <a:gs pos="0">
                <a:srgbClr val="020506"/>
              </a:gs>
              <a:gs pos="100000">
                <a:srgbClr val="061012"/>
              </a:gs>
            </a:gsLst>
            <a:lin ang="5400000" scaled="0"/>
          </a:gradFill>
          <a:ln>
            <a:noFill/>
          </a:ln>
        </p:spPr>
        <p:txBody>
          <a:bodyPr wrap="square" lIns="73152" tIns="73152" rIns="73152" bIns="73152" anchor="t" rtlCol="0">
            <a:noAutofit/>
          </a:bodyPr>
          <a:lstStyle/>
          <a:p>
            <a:endParaRPr lang="en-US" dirty="0"/>
          </a:p>
        </p:txBody>
      </p:sp>
      <p:sp>
        <p:nvSpPr>
          <p:cNvPr id="4" name="chrome:accent"/>
          <p:cNvSpPr/>
          <p:nvPr/>
        </p:nvSpPr>
        <p:spPr>
          <a:xfrm>
            <a:off x="8138160" y="0"/>
            <a:ext cx="109728" cy="6858000"/>
          </a:xfrm>
          <a:prstGeom prst="rect">
            <a:avLst/>
          </a:prstGeom>
          <a:solidFill>
            <a:srgbClr val="019F44"/>
          </a:solidFill>
          <a:ln>
            <a:noFill/>
          </a:ln>
        </p:spPr>
        <p:txBody>
          <a:bodyPr wrap="square" lIns="73152" tIns="73152" rIns="73152" bIns="73152" anchor="t" rtlCol="0">
            <a:noAutofit/>
          </a:bodyPr>
          <a:lstStyle/>
          <a:p>
            <a:endParaRPr lang="en-US" dirty="0"/>
          </a:p>
        </p:txBody>
      </p:sp>
      <p:pic>
        <p:nvPicPr>
          <p:cNvPr id="5" name="chrome:logo"/>
          <p:cNvPicPr>
            <a:picLocks noChangeAspect="1"/>
          </p:cNvPicPr>
          <p:nvPr/>
        </p:nvPicPr>
        <p:blipFill>
          <a:blip r:embed="rIdImg1"/>
          <a:stretch>
            <a:fillRect/>
          </a:stretch>
        </p:blipFill>
        <p:spPr>
          <a:xfrm>
            <a:off x="640080" y="548640"/>
            <a:ext cx="2216727" cy="914400"/>
          </a:xfrm>
          <a:prstGeom prst="rect">
            <a:avLst/>
          </a:prstGeom>
        </p:spPr>
      </p:pic>
      <p:sp>
        <p:nvSpPr>
          <p:cNvPr id="6" name="eyebrow"/>
          <p:cNvSpPr txBox="1"/>
          <p:nvPr/>
        </p:nvSpPr>
        <p:spPr>
          <a:xfrm>
            <a:off x="640080" y="2331720"/>
            <a:ext cx="6949440" cy="320040"/>
          </a:xfrm>
          <a:prstGeom prst="rect">
            <a:avLst/>
          </a:prstGeom>
          <a:noFill/>
          <a:ln>
            <a:noFill/>
          </a:ln>
        </p:spPr>
        <p:txBody>
          <a:bodyPr wrap="square" lIns="0" tIns="0" rIns="0" bIns="0" anchor="t" rtlCol="0">
            <a:noAutofit/>
          </a:bodyPr>
          <a:lstStyle/>
          <a:p>
            <a:pPr algn="l">
              <a:spcAft>
                <a:spcPts val="0"/>
              </a:spcAft>
            </a:pPr>
            <a:r>
              <a:rPr lang="en-US" sz="1200" b="1" i="0" spc="250" cap="all" dirty="0">
                <a:solidFill>
                  <a:srgbClr val="505858"/>
                </a:solidFill>
                <a:latin typeface="Montserrat"/>
                <a:cs typeface="Montserrat"/>
              </a:rPr>
              <a:t>WISE Digital Partners</a:t>
            </a:r>
            <a:endParaRPr lang="en-US" sz="1200" dirty="0"/>
          </a:p>
        </p:txBody>
      </p:sp>
      <p:sp>
        <p:nvSpPr>
          <p:cNvPr id="7" name="title"/>
          <p:cNvSpPr txBox="1"/>
          <p:nvPr/>
        </p:nvSpPr>
        <p:spPr>
          <a:xfrm>
            <a:off x="640080" y="2697480"/>
            <a:ext cx="7223760" cy="1097280"/>
          </a:xfrm>
          <a:prstGeom prst="rect">
            <a:avLst/>
          </a:prstGeom>
          <a:noFill/>
          <a:ln>
            <a:noFill/>
          </a:ln>
        </p:spPr>
        <p:txBody>
          <a:bodyPr wrap="square" lIns="0" tIns="0" rIns="0" bIns="0" anchor="t" rtlCol="0">
            <a:noAutofit/>
          </a:bodyPr>
          <a:lstStyle/>
          <a:p>
            <a:pPr algn="l">
              <a:spcAft>
                <a:spcPts val="0"/>
              </a:spcAft>
            </a:pPr>
            <a:r>
              <a:rPr lang="en-US" sz="5400" b="1" i="0" dirty="0">
                <a:solidFill>
                  <a:srgbClr val="111111"/>
                </a:solidFill>
                <a:latin typeface="Montserrat"/>
                <a:cs typeface="Montserrat"/>
              </a:rPr>
              <a:t>Growth Blueprint</a:t>
            </a:r>
            <a:endParaRPr lang="en-US" sz="5400" dirty="0"/>
          </a:p>
        </p:txBody>
      </p:sp>
      <p:sp>
        <p:nvSpPr>
          <p:cNvPr id="8" name="subtitle"/>
          <p:cNvSpPr txBox="1"/>
          <p:nvPr/>
        </p:nvSpPr>
        <p:spPr>
          <a:xfrm>
            <a:off x="640080" y="3840480"/>
            <a:ext cx="7223760" cy="548640"/>
          </a:xfrm>
          <a:prstGeom prst="rect">
            <a:avLst/>
          </a:prstGeom>
          <a:noFill/>
          <a:ln>
            <a:noFill/>
          </a:ln>
        </p:spPr>
        <p:txBody>
          <a:bodyPr wrap="square" lIns="0" tIns="0" rIns="0" bIns="0" anchor="t" rtlCol="0">
            <a:noAutofit/>
          </a:bodyPr>
          <a:lstStyle/>
          <a:p>
            <a:pPr algn="l">
              <a:spcAft>
                <a:spcPts val="0"/>
              </a:spcAft>
            </a:pPr>
            <a:r>
              <a:rPr lang="en-US" sz="2400" b="0" i="0" dirty="0">
                <a:solidFill>
                  <a:srgbClr val="111111"/>
                </a:solidFill>
                <a:latin typeface="Montserrat"/>
                <a:cs typeface="Montserrat"/>
              </a:rPr>
              <a:t>Prepared for Larkspur Family Dental</a:t>
            </a:r>
            <a:endParaRPr lang="en-US" sz="2400" dirty="0"/>
          </a:p>
        </p:txBody>
      </p:sp>
      <p:sp>
        <p:nvSpPr>
          <p:cNvPr id="9" name="by"/>
          <p:cNvSpPr txBox="1"/>
          <p:nvPr/>
        </p:nvSpPr>
        <p:spPr>
          <a:xfrm>
            <a:off x="640080" y="4389120"/>
            <a:ext cx="7223760" cy="457200"/>
          </a:xfrm>
          <a:prstGeom prst="rect">
            <a:avLst/>
          </a:prstGeom>
          <a:noFill/>
          <a:ln>
            <a:noFill/>
          </a:ln>
        </p:spPr>
        <p:txBody>
          <a:bodyPr wrap="square" lIns="0" tIns="0" rIns="0" bIns="0" anchor="t" rtlCol="0">
            <a:noAutofit/>
          </a:bodyPr>
          <a:lstStyle/>
          <a:p>
            <a:pPr algn="l">
              <a:spcAft>
                <a:spcPts val="0"/>
              </a:spcAft>
            </a:pPr>
            <a:r>
              <a:rPr lang="en-US" sz="1600" b="0" i="0" dirty="0">
                <a:solidFill>
                  <a:srgbClr val="505858"/>
                </a:solidFill>
                <a:latin typeface="Montserrat"/>
                <a:cs typeface="Montserrat"/>
              </a:rPr>
              <a:t>By WISE Digital Partners</a:t>
            </a:r>
            <a:endParaRPr lang="en-US" sz="1600" dirty="0"/>
          </a:p>
        </p:txBody>
      </p:sp>
      <p:sp>
        <p:nvSpPr>
          <p:cNvPr id="10" name="chrome:date"/>
          <p:cNvSpPr txBox="1"/>
          <p:nvPr/>
        </p:nvSpPr>
        <p:spPr>
          <a:xfrm>
            <a:off x="640080" y="5852160"/>
            <a:ext cx="7223760" cy="365760"/>
          </a:xfrm>
          <a:prstGeom prst="rect">
            <a:avLst/>
          </a:prstGeom>
          <a:noFill/>
          <a:ln>
            <a:noFill/>
          </a:ln>
        </p:spPr>
        <p:txBody>
          <a:bodyPr wrap="square" lIns="0" tIns="0" rIns="0" bIns="0" anchor="t" rtlCol="0">
            <a:noAutofit/>
          </a:bodyPr>
          <a:lstStyle/>
          <a:p>
            <a:pPr algn="l">
              <a:spcAft>
                <a:spcPts val="0"/>
              </a:spcAft>
            </a:pPr>
            <a:r>
              <a:rPr lang="en-US" sz="1400" b="0" i="0" dirty="0">
                <a:solidFill>
                  <a:srgbClr val="505858"/>
                </a:solidFill>
                <a:latin typeface="Montserrat"/>
                <a:cs typeface="Montserrat"/>
              </a:rPr>
              <a:t>October 20,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The Diagnosis</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New patients searching for emergency care in Boise cannot find Larkspur today</a:t>
            </a:r>
            <a:endParaRPr lang="en-US" sz="2800" dirty="0"/>
          </a:p>
        </p:txBody>
      </p:sp>
      <p:sp>
        <p:nvSpPr>
          <p:cNvPr id="6" name="stat:1"/>
          <p:cNvSpPr txBox="1"/>
          <p:nvPr/>
        </p:nvSpPr>
        <p:spPr>
          <a:xfrm>
            <a:off x="640080" y="2148840"/>
            <a:ext cx="10881360" cy="1737360"/>
          </a:xfrm>
          <a:prstGeom prst="rect">
            <a:avLst/>
          </a:prstGeom>
          <a:noFill/>
          <a:ln>
            <a:noFill/>
          </a:ln>
        </p:spPr>
        <p:txBody>
          <a:bodyPr wrap="square" lIns="0" tIns="0" rIns="0" bIns="0" anchor="b" rtlCol="0">
            <a:noAutofit/>
          </a:bodyPr>
          <a:lstStyle/>
          <a:p>
            <a:pPr algn="l">
              <a:spcAft>
                <a:spcPts val="0"/>
              </a:spcAft>
            </a:pPr>
            <a:r>
              <a:rPr lang="en-US" sz="11000" b="1" i="0" dirty="0">
                <a:solidFill>
                  <a:srgbClr val="017A34"/>
                </a:solidFill>
                <a:latin typeface="Montserrat"/>
                <a:cs typeface="Montserrat"/>
              </a:rPr>
              <a:t>0</a:t>
            </a:r>
            <a:endParaRPr lang="en-US" sz="11000" dirty="0"/>
          </a:p>
        </p:txBody>
      </p:sp>
      <p:sp>
        <p:nvSpPr>
          <p:cNvPr id="7" name="caption:1"/>
          <p:cNvSpPr txBox="1"/>
          <p:nvPr/>
        </p:nvSpPr>
        <p:spPr>
          <a:xfrm>
            <a:off x="640080" y="3931920"/>
            <a:ext cx="10881360" cy="457200"/>
          </a:xfrm>
          <a:prstGeom prst="rect">
            <a:avLst/>
          </a:prstGeom>
          <a:noFill/>
          <a:ln>
            <a:noFill/>
          </a:ln>
        </p:spPr>
        <p:txBody>
          <a:bodyPr wrap="square" lIns="0" tIns="0" rIns="0" bIns="0" anchor="t" rtlCol="0">
            <a:noAutofit/>
          </a:bodyPr>
          <a:lstStyle/>
          <a:p>
            <a:pPr algn="l">
              <a:spcAft>
                <a:spcPts val="0"/>
              </a:spcAft>
            </a:pPr>
            <a:r>
              <a:rPr lang="en-US" sz="1800" b="1" i="0" dirty="0">
                <a:solidFill>
                  <a:srgbClr val="111111"/>
                </a:solidFill>
                <a:latin typeface="Montserrat"/>
                <a:cs typeface="Montserrat"/>
              </a:rPr>
              <a:t>top-10 keywords for the new domain today</a:t>
            </a:r>
            <a:endParaRPr lang="en-US" sz="1800" dirty="0"/>
          </a:p>
        </p:txBody>
      </p:sp>
      <p:sp>
        <p:nvSpPr>
          <p:cNvPr id="8" name="body"/>
          <p:cNvSpPr txBox="1"/>
          <p:nvPr/>
        </p:nvSpPr>
        <p:spPr>
          <a:xfrm>
            <a:off x="640080" y="4526280"/>
            <a:ext cx="9601200" cy="1463040"/>
          </a:xfrm>
          <a:prstGeom prst="rect">
            <a:avLst/>
          </a:prstGeom>
          <a:noFill/>
          <a:ln>
            <a:noFill/>
          </a:ln>
        </p:spPr>
        <p:txBody>
          <a:bodyPr wrap="square" lIns="0" tIns="0" rIns="0" bIns="0" anchor="t" rtlCol="0">
            <a:noAutofit/>
          </a:bodyPr>
          <a:lstStyle/>
          <a:p>
            <a:pPr algn="l">
              <a:lnSpc>
                <a:spcPct val="110000"/>
              </a:lnSpc>
              <a:spcAft>
                <a:spcPts val="600"/>
              </a:spcAft>
            </a:pPr>
            <a:r>
              <a:rPr lang="en-US" sz="1700" b="0" i="0" dirty="0">
                <a:solidFill>
                  <a:srgbClr val="505858"/>
                </a:solidFill>
                <a:latin typeface="Montserrat"/>
                <a:cs typeface="Montserrat"/>
              </a:rPr>
              <a:t>The practice has no website, so it has no search presence yet.</a:t>
            </a:r>
            <a:endParaRPr lang="en-US" sz="1700" dirty="0"/>
          </a:p>
          <a:p>
            <a:pPr algn="l">
              <a:lnSpc>
                <a:spcPct val="110000"/>
              </a:lnSpc>
              <a:spcAft>
                <a:spcPts val="600"/>
              </a:spcAft>
            </a:pPr>
            <a:r>
              <a:rPr lang="en-US" sz="1700" b="0" i="0" dirty="0">
                <a:solidFill>
                  <a:srgbClr val="505858"/>
                </a:solidFill>
                <a:latin typeface="Montserrat"/>
                <a:cs typeface="Montserrat"/>
              </a:rPr>
              <a:t>The domain larkspurdental.com is registered but not built.</a:t>
            </a:r>
            <a:endParaRPr lang="en-US" sz="1700" dirty="0"/>
          </a:p>
        </p:txBody>
      </p:sp>
      <p:sp>
        <p:nvSpPr>
          <p:cNvPr id="9"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10" name="chrome:logo"/>
          <p:cNvPicPr>
            <a:picLocks noChangeAspect="1"/>
          </p:cNvPicPr>
          <p:nvPr/>
        </p:nvPicPr>
        <p:blipFill>
          <a:blip r:embed="rIdImg1"/>
          <a:stretch>
            <a:fillRect/>
          </a:stretch>
        </p:blipFill>
        <p:spPr>
          <a:xfrm>
            <a:off x="640080" y="6400800"/>
            <a:ext cx="665018" cy="274320"/>
          </a:xfrm>
          <a:prstGeom prst="rect">
            <a:avLst/>
          </a:prstGeom>
        </p:spPr>
      </p:pic>
      <p:sp>
        <p:nvSpPr>
          <p:cNvPr id="11"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2"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What This Costs You</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Competitors are collecting the emergency searches that should be booking Larkspur</a:t>
            </a:r>
            <a:endParaRPr lang="en-US" sz="2800" dirty="0"/>
          </a:p>
        </p:txBody>
      </p:sp>
      <p:sp>
        <p:nvSpPr>
          <p:cNvPr id="6" name="chrome:card"/>
          <p:cNvSpPr/>
          <p:nvPr/>
        </p:nvSpPr>
        <p:spPr>
          <a:xfrm>
            <a:off x="640080" y="2194560"/>
            <a:ext cx="5303520" cy="2377440"/>
          </a:xfrm>
          <a:prstGeom prst="roundRect">
            <a:avLst>
              <a:gd name="adj" fmla="val 6000"/>
            </a:avLst>
          </a:prstGeom>
          <a:solidFill>
            <a:srgbClr val="F2FAF6"/>
          </a:solidFill>
          <a:ln>
            <a:noFill/>
          </a:ln>
        </p:spPr>
        <p:txBody>
          <a:bodyPr wrap="square" lIns="73152" tIns="73152" rIns="73152" bIns="73152" anchor="t" rtlCol="0">
            <a:noAutofit/>
          </a:bodyPr>
          <a:lstStyle/>
          <a:p>
            <a:endParaRPr lang="en-US" dirty="0"/>
          </a:p>
        </p:txBody>
      </p:sp>
      <p:sp>
        <p:nvSpPr>
          <p:cNvPr id="7" name="stat:1"/>
          <p:cNvSpPr txBox="1"/>
          <p:nvPr/>
        </p:nvSpPr>
        <p:spPr>
          <a:xfrm>
            <a:off x="914400" y="2423160"/>
            <a:ext cx="4754880" cy="1188720"/>
          </a:xfrm>
          <a:prstGeom prst="rect">
            <a:avLst/>
          </a:prstGeom>
          <a:noFill/>
          <a:ln>
            <a:noFill/>
          </a:ln>
        </p:spPr>
        <p:txBody>
          <a:bodyPr wrap="square" lIns="0" tIns="0" rIns="0" bIns="0" anchor="b" rtlCol="0">
            <a:noAutofit/>
          </a:bodyPr>
          <a:lstStyle/>
          <a:p>
            <a:pPr algn="l">
              <a:spcAft>
                <a:spcPts val="0"/>
              </a:spcAft>
            </a:pPr>
            <a:r>
              <a:rPr lang="en-US" sz="4400" b="1" i="0" dirty="0">
                <a:solidFill>
                  <a:srgbClr val="017A34"/>
                </a:solidFill>
                <a:latin typeface="Montserrat"/>
                <a:cs typeface="Montserrat"/>
              </a:rPr>
              <a:t>54.0%</a:t>
            </a:r>
            <a:endParaRPr lang="en-US" sz="4400" dirty="0"/>
          </a:p>
        </p:txBody>
      </p:sp>
      <p:sp>
        <p:nvSpPr>
          <p:cNvPr id="8" name="caption:1"/>
          <p:cNvSpPr txBox="1"/>
          <p:nvPr/>
        </p:nvSpPr>
        <p:spPr>
          <a:xfrm>
            <a:off x="914400" y="3657600"/>
            <a:ext cx="4754880" cy="1069848"/>
          </a:xfrm>
          <a:prstGeom prst="rect">
            <a:avLst/>
          </a:prstGeom>
          <a:noFill/>
          <a:ln>
            <a:noFill/>
          </a:ln>
        </p:spPr>
        <p:txBody>
          <a:bodyPr wrap="square" lIns="0" tIns="0" rIns="0" bIns="0" anchor="t" rtlCol="0">
            <a:noAutofit/>
          </a:bodyPr>
          <a:lstStyle/>
          <a:p>
            <a:pPr algn="l">
              <a:lnSpc>
                <a:spcPct val="110000"/>
              </a:lnSpc>
              <a:spcAft>
                <a:spcPts val="0"/>
              </a:spcAft>
            </a:pPr>
            <a:r>
              <a:rPr lang="en-US" sz="1400" b="0" i="0" dirty="0">
                <a:solidFill>
                  <a:srgbClr val="505858"/>
                </a:solidFill>
                <a:latin typeface="Montserrat"/>
                <a:cs typeface="Montserrat"/>
              </a:rPr>
              <a:t>of local organic traffic held by the leading competitor</a:t>
            </a:r>
            <a:endParaRPr lang="en-US" sz="1400" dirty="0"/>
          </a:p>
        </p:txBody>
      </p:sp>
      <p:sp>
        <p:nvSpPr>
          <p:cNvPr id="9" name="chrome:card"/>
          <p:cNvSpPr/>
          <p:nvPr/>
        </p:nvSpPr>
        <p:spPr>
          <a:xfrm>
            <a:off x="6217920" y="2194560"/>
            <a:ext cx="5303520" cy="2377440"/>
          </a:xfrm>
          <a:prstGeom prst="roundRect">
            <a:avLst>
              <a:gd name="adj" fmla="val 6000"/>
            </a:avLst>
          </a:prstGeom>
          <a:solidFill>
            <a:srgbClr val="F2FAF6"/>
          </a:solidFill>
          <a:ln>
            <a:noFill/>
          </a:ln>
        </p:spPr>
        <p:txBody>
          <a:bodyPr wrap="square" lIns="73152" tIns="73152" rIns="73152" bIns="73152" anchor="t" rtlCol="0">
            <a:noAutofit/>
          </a:bodyPr>
          <a:lstStyle/>
          <a:p>
            <a:endParaRPr lang="en-US" dirty="0"/>
          </a:p>
        </p:txBody>
      </p:sp>
      <p:sp>
        <p:nvSpPr>
          <p:cNvPr id="10" name="stat:2"/>
          <p:cNvSpPr txBox="1"/>
          <p:nvPr/>
        </p:nvSpPr>
        <p:spPr>
          <a:xfrm>
            <a:off x="6492240" y="2423160"/>
            <a:ext cx="4754880" cy="1188720"/>
          </a:xfrm>
          <a:prstGeom prst="rect">
            <a:avLst/>
          </a:prstGeom>
          <a:noFill/>
          <a:ln>
            <a:noFill/>
          </a:ln>
        </p:spPr>
        <p:txBody>
          <a:bodyPr wrap="square" lIns="0" tIns="0" rIns="0" bIns="0" anchor="b" rtlCol="0">
            <a:noAutofit/>
          </a:bodyPr>
          <a:lstStyle/>
          <a:p>
            <a:pPr algn="l">
              <a:spcAft>
                <a:spcPts val="0"/>
              </a:spcAft>
            </a:pPr>
            <a:r>
              <a:rPr lang="en-US" sz="4400" b="1" i="0" dirty="0">
                <a:solidFill>
                  <a:srgbClr val="111111"/>
                </a:solidFill>
                <a:latin typeface="Montserrat"/>
                <a:cs typeface="Montserrat"/>
              </a:rPr>
              <a:t>1,300</a:t>
            </a:r>
            <a:endParaRPr lang="en-US" sz="4400" dirty="0"/>
          </a:p>
        </p:txBody>
      </p:sp>
      <p:sp>
        <p:nvSpPr>
          <p:cNvPr id="11" name="caption:2"/>
          <p:cNvSpPr txBox="1"/>
          <p:nvPr/>
        </p:nvSpPr>
        <p:spPr>
          <a:xfrm>
            <a:off x="6492240" y="3657600"/>
            <a:ext cx="4754880" cy="1069848"/>
          </a:xfrm>
          <a:prstGeom prst="rect">
            <a:avLst/>
          </a:prstGeom>
          <a:noFill/>
          <a:ln>
            <a:noFill/>
          </a:ln>
        </p:spPr>
        <p:txBody>
          <a:bodyPr wrap="square" lIns="0" tIns="0" rIns="0" bIns="0" anchor="t" rtlCol="0">
            <a:noAutofit/>
          </a:bodyPr>
          <a:lstStyle/>
          <a:p>
            <a:pPr algn="l">
              <a:lnSpc>
                <a:spcPct val="110000"/>
              </a:lnSpc>
              <a:spcAft>
                <a:spcPts val="0"/>
              </a:spcAft>
            </a:pPr>
            <a:r>
              <a:rPr lang="en-US" sz="1400" b="0" i="0" dirty="0">
                <a:solidFill>
                  <a:srgbClr val="505858"/>
                </a:solidFill>
                <a:latin typeface="Montserrat"/>
                <a:cs typeface="Montserrat"/>
              </a:rPr>
              <a:t>monthly searches for emergency dentist boise</a:t>
            </a:r>
            <a:endParaRPr lang="en-US" sz="1400" dirty="0"/>
          </a:p>
        </p:txBody>
      </p:sp>
      <p:sp>
        <p:nvSpPr>
          <p:cNvPr id="12" name="body"/>
          <p:cNvSpPr txBox="1"/>
          <p:nvPr/>
        </p:nvSpPr>
        <p:spPr>
          <a:xfrm>
            <a:off x="640080" y="4800600"/>
            <a:ext cx="10881360" cy="1280160"/>
          </a:xfrm>
          <a:prstGeom prst="rect">
            <a:avLst/>
          </a:prstGeom>
          <a:noFill/>
          <a:ln>
            <a:noFill/>
          </a:ln>
        </p:spPr>
        <p:txBody>
          <a:bodyPr wrap="square" lIns="0" tIns="0" rIns="0" bIns="0" anchor="t" rtlCol="0">
            <a:noAutofit/>
          </a:bodyPr>
          <a:lstStyle/>
          <a:p>
            <a:pPr algn="l">
              <a:lnSpc>
                <a:spcPct val="110000"/>
              </a:lnSpc>
              <a:spcAft>
                <a:spcPts val="800"/>
              </a:spcAft>
            </a:pPr>
            <a:r>
              <a:rPr lang="en-US" sz="1500" b="0" i="0" dirty="0">
                <a:solidFill>
                  <a:srgbClr val="017A34"/>
                </a:solidFill>
                <a:latin typeface="Montserrat"/>
                <a:cs typeface="Montserrat"/>
              </a:rPr>
              <a:t>▪  </a:t>
            </a:r>
            <a:r>
              <a:rPr lang="en-US" sz="1500" b="0" i="0" dirty="0">
                <a:solidFill>
                  <a:srgbClr val="505858"/>
                </a:solidFill>
                <a:latin typeface="Montserrat"/>
                <a:cs typeface="Montserrat"/>
              </a:rPr>
              <a:t>Every month without a site is a month those patients book elsewhere.</a:t>
            </a:r>
            <a:endParaRPr lang="en-US" sz="1500" dirty="0"/>
          </a:p>
        </p:txBody>
      </p:sp>
      <p:sp>
        <p:nvSpPr>
          <p:cNvPr id="13"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14" name="chrome:logo"/>
          <p:cNvPicPr>
            <a:picLocks noChangeAspect="1"/>
          </p:cNvPicPr>
          <p:nvPr/>
        </p:nvPicPr>
        <p:blipFill>
          <a:blip r:embed="rIdImg1"/>
          <a:stretch>
            <a:fillRect/>
          </a:stretch>
        </p:blipFill>
        <p:spPr>
          <a:xfrm>
            <a:off x="640080" y="6400800"/>
            <a:ext cx="665018" cy="274320"/>
          </a:xfrm>
          <a:prstGeom prst="rect">
            <a:avLst/>
          </a:prstGeom>
        </p:spPr>
      </p:pic>
      <p:sp>
        <p:nvSpPr>
          <p:cNvPr id="15"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6"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What You Told Us</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Your own words set the priorities: emergencies first, in a calm and clear voice</a:t>
            </a:r>
            <a:endParaRPr lang="en-US" sz="2800" dirty="0"/>
          </a:p>
        </p:txBody>
      </p:sp>
      <p:sp>
        <p:nvSpPr>
          <p:cNvPr id="6" name="chrome:card"/>
          <p:cNvSpPr/>
          <p:nvPr/>
        </p:nvSpPr>
        <p:spPr>
          <a:xfrm>
            <a:off x="640080" y="2103120"/>
            <a:ext cx="5303520" cy="187452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7" name="chrome:bar"/>
          <p:cNvSpPr/>
          <p:nvPr/>
        </p:nvSpPr>
        <p:spPr>
          <a:xfrm>
            <a:off x="640080" y="2331720"/>
            <a:ext cx="64008" cy="1417320"/>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8" name="quote:1"/>
          <p:cNvSpPr txBox="1"/>
          <p:nvPr/>
        </p:nvSpPr>
        <p:spPr>
          <a:xfrm>
            <a:off x="960120" y="2286000"/>
            <a:ext cx="4754880" cy="1005840"/>
          </a:xfrm>
          <a:prstGeom prst="rect">
            <a:avLst/>
          </a:prstGeom>
          <a:noFill/>
          <a:ln>
            <a:noFill/>
          </a:ln>
        </p:spPr>
        <p:txBody>
          <a:bodyPr wrap="square" lIns="0" tIns="0" rIns="0" bIns="0" anchor="t" rtlCol="0">
            <a:noAutofit/>
          </a:bodyPr>
          <a:lstStyle/>
          <a:p>
            <a:pPr algn="l">
              <a:lnSpc>
                <a:spcPct val="110000"/>
              </a:lnSpc>
              <a:spcAft>
                <a:spcPts val="0"/>
              </a:spcAft>
            </a:pPr>
            <a:r>
              <a:rPr lang="en-US" sz="1600" b="0" i="1" dirty="0">
                <a:solidFill>
                  <a:srgbClr val="111111"/>
                </a:solidFill>
                <a:latin typeface="Montserrat"/>
                <a:cs typeface="Montserrat"/>
              </a:rPr>
              <a:t>“When someone cracks a tooth on a Saturday night, I want us to be the first name they find.”</a:t>
            </a:r>
            <a:endParaRPr lang="en-US" sz="1600" dirty="0"/>
          </a:p>
        </p:txBody>
      </p:sp>
      <p:sp>
        <p:nvSpPr>
          <p:cNvPr id="9" name="attr:1"/>
          <p:cNvSpPr txBox="1"/>
          <p:nvPr/>
        </p:nvSpPr>
        <p:spPr>
          <a:xfrm>
            <a:off x="960120" y="3319272"/>
            <a:ext cx="4754880" cy="274320"/>
          </a:xfrm>
          <a:prstGeom prst="rect">
            <a:avLst/>
          </a:prstGeom>
          <a:noFill/>
          <a:ln>
            <a:noFill/>
          </a:ln>
        </p:spPr>
        <p:txBody>
          <a:bodyPr wrap="square" lIns="0" tIns="0" rIns="0" bIns="0" anchor="t" rtlCol="0">
            <a:noAutofit/>
          </a:bodyPr>
          <a:lstStyle/>
          <a:p>
            <a:pPr algn="l">
              <a:spcAft>
                <a:spcPts val="0"/>
              </a:spcAft>
            </a:pPr>
            <a:r>
              <a:rPr lang="en-US" sz="1100" b="1" i="0" dirty="0">
                <a:solidFill>
                  <a:srgbClr val="505858"/>
                </a:solidFill>
                <a:latin typeface="Montserrat"/>
                <a:cs typeface="Montserrat"/>
              </a:rPr>
              <a:t>Dr. Maya Okafor, kickoff call, 2026-10-09</a:t>
            </a:r>
            <a:endParaRPr lang="en-US" sz="1100" dirty="0"/>
          </a:p>
        </p:txBody>
      </p:sp>
      <p:sp>
        <p:nvSpPr>
          <p:cNvPr id="10" name="drives:1"/>
          <p:cNvSpPr txBox="1"/>
          <p:nvPr/>
        </p:nvSpPr>
        <p:spPr>
          <a:xfrm>
            <a:off x="960120" y="3593592"/>
            <a:ext cx="4754880" cy="274320"/>
          </a:xfrm>
          <a:prstGeom prst="rect">
            <a:avLst/>
          </a:prstGeom>
          <a:noFill/>
          <a:ln>
            <a:noFill/>
          </a:ln>
        </p:spPr>
        <p:txBody>
          <a:bodyPr wrap="square" lIns="0" tIns="0" rIns="0" bIns="0" anchor="t" rtlCol="0">
            <a:noAutofit/>
          </a:bodyPr>
          <a:lstStyle/>
          <a:p>
            <a:pPr algn="l">
              <a:spcAft>
                <a:spcPts val="0"/>
              </a:spcAft>
            </a:pPr>
            <a:r>
              <a:rPr lang="en-US" sz="1100" b="1" i="0" dirty="0">
                <a:solidFill>
                  <a:srgbClr val="017A34"/>
                </a:solidFill>
                <a:latin typeface="Montserrat"/>
                <a:cs typeface="Montserrat"/>
              </a:rPr>
              <a:t>Drives: Homepage leads on emergencies</a:t>
            </a:r>
            <a:endParaRPr lang="en-US" sz="1100" dirty="0"/>
          </a:p>
        </p:txBody>
      </p:sp>
      <p:sp>
        <p:nvSpPr>
          <p:cNvPr id="11" name="chrome:card"/>
          <p:cNvSpPr/>
          <p:nvPr/>
        </p:nvSpPr>
        <p:spPr>
          <a:xfrm>
            <a:off x="6217920" y="2103120"/>
            <a:ext cx="5303520" cy="187452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12" name="chrome:bar"/>
          <p:cNvSpPr/>
          <p:nvPr/>
        </p:nvSpPr>
        <p:spPr>
          <a:xfrm>
            <a:off x="6217920" y="2331720"/>
            <a:ext cx="64008" cy="1417320"/>
          </a:xfrm>
          <a:prstGeom prst="rect">
            <a:avLst/>
          </a:prstGeom>
          <a:solidFill>
            <a:srgbClr val="99D9B4"/>
          </a:solidFill>
          <a:ln>
            <a:noFill/>
          </a:ln>
        </p:spPr>
        <p:txBody>
          <a:bodyPr wrap="square" lIns="73152" tIns="73152" rIns="73152" bIns="73152" anchor="t" rtlCol="0">
            <a:noAutofit/>
          </a:bodyPr>
          <a:lstStyle/>
          <a:p>
            <a:endParaRPr lang="en-US" dirty="0"/>
          </a:p>
        </p:txBody>
      </p:sp>
      <p:sp>
        <p:nvSpPr>
          <p:cNvPr id="13" name="quote:2"/>
          <p:cNvSpPr txBox="1"/>
          <p:nvPr/>
        </p:nvSpPr>
        <p:spPr>
          <a:xfrm>
            <a:off x="6537960" y="2286000"/>
            <a:ext cx="4754880" cy="1005840"/>
          </a:xfrm>
          <a:prstGeom prst="rect">
            <a:avLst/>
          </a:prstGeom>
          <a:noFill/>
          <a:ln>
            <a:noFill/>
          </a:ln>
        </p:spPr>
        <p:txBody>
          <a:bodyPr wrap="square" lIns="0" tIns="0" rIns="0" bIns="0" anchor="t" rtlCol="0">
            <a:noAutofit/>
          </a:bodyPr>
          <a:lstStyle/>
          <a:p>
            <a:pPr algn="l">
              <a:lnSpc>
                <a:spcPct val="110000"/>
              </a:lnSpc>
              <a:spcAft>
                <a:spcPts val="0"/>
              </a:spcAft>
            </a:pPr>
            <a:r>
              <a:rPr lang="en-US" sz="1600" b="0" i="1" dirty="0">
                <a:solidFill>
                  <a:srgbClr val="111111"/>
                </a:solidFill>
                <a:latin typeface="Montserrat"/>
                <a:cs typeface="Montserrat"/>
              </a:rPr>
              <a:t>“Half our new patients tell us they hadn't seen a dentist in five years because they were scared.”</a:t>
            </a:r>
            <a:endParaRPr lang="en-US" sz="1600" dirty="0"/>
          </a:p>
        </p:txBody>
      </p:sp>
      <p:sp>
        <p:nvSpPr>
          <p:cNvPr id="14" name="attr:2"/>
          <p:cNvSpPr txBox="1"/>
          <p:nvPr/>
        </p:nvSpPr>
        <p:spPr>
          <a:xfrm>
            <a:off x="6537960" y="3319272"/>
            <a:ext cx="4754880" cy="274320"/>
          </a:xfrm>
          <a:prstGeom prst="rect">
            <a:avLst/>
          </a:prstGeom>
          <a:noFill/>
          <a:ln>
            <a:noFill/>
          </a:ln>
        </p:spPr>
        <p:txBody>
          <a:bodyPr wrap="square" lIns="0" tIns="0" rIns="0" bIns="0" anchor="t" rtlCol="0">
            <a:noAutofit/>
          </a:bodyPr>
          <a:lstStyle/>
          <a:p>
            <a:pPr algn="l">
              <a:spcAft>
                <a:spcPts val="0"/>
              </a:spcAft>
            </a:pPr>
            <a:r>
              <a:rPr lang="en-US" sz="1100" b="1" i="0" dirty="0">
                <a:solidFill>
                  <a:srgbClr val="505858"/>
                </a:solidFill>
                <a:latin typeface="Montserrat"/>
                <a:cs typeface="Montserrat"/>
              </a:rPr>
              <a:t>Dr. Maya Okafor, kickoff call, 2026-10-09</a:t>
            </a:r>
            <a:endParaRPr lang="en-US" sz="1100" dirty="0"/>
          </a:p>
        </p:txBody>
      </p:sp>
      <p:sp>
        <p:nvSpPr>
          <p:cNvPr id="15" name="drives:2"/>
          <p:cNvSpPr txBox="1"/>
          <p:nvPr/>
        </p:nvSpPr>
        <p:spPr>
          <a:xfrm>
            <a:off x="6537960" y="3593592"/>
            <a:ext cx="4754880" cy="274320"/>
          </a:xfrm>
          <a:prstGeom prst="rect">
            <a:avLst/>
          </a:prstGeom>
          <a:noFill/>
          <a:ln>
            <a:noFill/>
          </a:ln>
        </p:spPr>
        <p:txBody>
          <a:bodyPr wrap="square" lIns="0" tIns="0" rIns="0" bIns="0" anchor="t" rtlCol="0">
            <a:noAutofit/>
          </a:bodyPr>
          <a:lstStyle/>
          <a:p>
            <a:pPr algn="l">
              <a:spcAft>
                <a:spcPts val="0"/>
              </a:spcAft>
            </a:pPr>
            <a:r>
              <a:rPr lang="en-US" sz="1100" b="1" i="0" dirty="0">
                <a:solidFill>
                  <a:srgbClr val="017A34"/>
                </a:solidFill>
                <a:latin typeface="Montserrat"/>
                <a:cs typeface="Montserrat"/>
              </a:rPr>
              <a:t>Drives: Anxious adults are core</a:t>
            </a:r>
            <a:endParaRPr lang="en-US" sz="1100" dirty="0"/>
          </a:p>
        </p:txBody>
      </p:sp>
      <p:sp>
        <p:nvSpPr>
          <p:cNvPr id="16" name="chrome:card"/>
          <p:cNvSpPr/>
          <p:nvPr/>
        </p:nvSpPr>
        <p:spPr>
          <a:xfrm>
            <a:off x="640080" y="4251960"/>
            <a:ext cx="5303520" cy="187452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17" name="chrome:bar"/>
          <p:cNvSpPr/>
          <p:nvPr/>
        </p:nvSpPr>
        <p:spPr>
          <a:xfrm>
            <a:off x="640080" y="4480560"/>
            <a:ext cx="64008" cy="1417320"/>
          </a:xfrm>
          <a:prstGeom prst="rect">
            <a:avLst/>
          </a:prstGeom>
          <a:solidFill>
            <a:srgbClr val="99D9B4"/>
          </a:solidFill>
          <a:ln>
            <a:noFill/>
          </a:ln>
        </p:spPr>
        <p:txBody>
          <a:bodyPr wrap="square" lIns="73152" tIns="73152" rIns="73152" bIns="73152" anchor="t" rtlCol="0">
            <a:noAutofit/>
          </a:bodyPr>
          <a:lstStyle/>
          <a:p>
            <a:endParaRPr lang="en-US" dirty="0"/>
          </a:p>
        </p:txBody>
      </p:sp>
      <p:sp>
        <p:nvSpPr>
          <p:cNvPr id="18" name="quote:3"/>
          <p:cNvSpPr txBox="1"/>
          <p:nvPr/>
        </p:nvSpPr>
        <p:spPr>
          <a:xfrm>
            <a:off x="960120" y="4434840"/>
            <a:ext cx="4754880" cy="1005840"/>
          </a:xfrm>
          <a:prstGeom prst="rect">
            <a:avLst/>
          </a:prstGeom>
          <a:noFill/>
          <a:ln>
            <a:noFill/>
          </a:ln>
        </p:spPr>
        <p:txBody>
          <a:bodyPr wrap="square" lIns="0" tIns="0" rIns="0" bIns="0" anchor="t" rtlCol="0">
            <a:noAutofit/>
          </a:bodyPr>
          <a:lstStyle/>
          <a:p>
            <a:pPr algn="l">
              <a:lnSpc>
                <a:spcPct val="110000"/>
              </a:lnSpc>
              <a:spcAft>
                <a:spcPts val="0"/>
              </a:spcAft>
            </a:pPr>
            <a:r>
              <a:rPr lang="en-US" sz="1600" b="0" i="1" dirty="0">
                <a:solidFill>
                  <a:srgbClr val="111111"/>
                </a:solidFill>
                <a:latin typeface="Montserrat"/>
                <a:cs typeface="Montserrat"/>
              </a:rPr>
              <a:t>“We never want to sound like a used-car lot. Calm, clear, no pressure.”</a:t>
            </a:r>
            <a:endParaRPr lang="en-US" sz="1600" dirty="0"/>
          </a:p>
        </p:txBody>
      </p:sp>
      <p:sp>
        <p:nvSpPr>
          <p:cNvPr id="19" name="attr:3"/>
          <p:cNvSpPr txBox="1"/>
          <p:nvPr/>
        </p:nvSpPr>
        <p:spPr>
          <a:xfrm>
            <a:off x="960120" y="5468112"/>
            <a:ext cx="4754880" cy="274320"/>
          </a:xfrm>
          <a:prstGeom prst="rect">
            <a:avLst/>
          </a:prstGeom>
          <a:noFill/>
          <a:ln>
            <a:noFill/>
          </a:ln>
        </p:spPr>
        <p:txBody>
          <a:bodyPr wrap="square" lIns="0" tIns="0" rIns="0" bIns="0" anchor="t" rtlCol="0">
            <a:noAutofit/>
          </a:bodyPr>
          <a:lstStyle/>
          <a:p>
            <a:pPr algn="l">
              <a:spcAft>
                <a:spcPts val="0"/>
              </a:spcAft>
            </a:pPr>
            <a:r>
              <a:rPr lang="en-US" sz="1100" b="1" i="0" dirty="0">
                <a:solidFill>
                  <a:srgbClr val="505858"/>
                </a:solidFill>
                <a:latin typeface="Montserrat"/>
                <a:cs typeface="Montserrat"/>
              </a:rPr>
              <a:t>Dr. Maya Okafor, kickoff call, 2026-10-09</a:t>
            </a:r>
            <a:endParaRPr lang="en-US" sz="1100" dirty="0"/>
          </a:p>
        </p:txBody>
      </p:sp>
      <p:sp>
        <p:nvSpPr>
          <p:cNvPr id="20" name="drives:3"/>
          <p:cNvSpPr txBox="1"/>
          <p:nvPr/>
        </p:nvSpPr>
        <p:spPr>
          <a:xfrm>
            <a:off x="960120" y="5742432"/>
            <a:ext cx="4754880" cy="274320"/>
          </a:xfrm>
          <a:prstGeom prst="rect">
            <a:avLst/>
          </a:prstGeom>
          <a:noFill/>
          <a:ln>
            <a:noFill/>
          </a:ln>
        </p:spPr>
        <p:txBody>
          <a:bodyPr wrap="square" lIns="0" tIns="0" rIns="0" bIns="0" anchor="t" rtlCol="0">
            <a:noAutofit/>
          </a:bodyPr>
          <a:lstStyle/>
          <a:p>
            <a:pPr algn="l">
              <a:spcAft>
                <a:spcPts val="0"/>
              </a:spcAft>
            </a:pPr>
            <a:r>
              <a:rPr lang="en-US" sz="1100" b="1" i="0" dirty="0">
                <a:solidFill>
                  <a:srgbClr val="017A34"/>
                </a:solidFill>
                <a:latin typeface="Montserrat"/>
                <a:cs typeface="Montserrat"/>
              </a:rPr>
              <a:t>Drives: Voice: calm, no pressure</a:t>
            </a:r>
            <a:endParaRPr lang="en-US" sz="1100" dirty="0"/>
          </a:p>
        </p:txBody>
      </p:sp>
      <p:sp>
        <p:nvSpPr>
          <p:cNvPr id="21" name="chrome:card"/>
          <p:cNvSpPr/>
          <p:nvPr/>
        </p:nvSpPr>
        <p:spPr>
          <a:xfrm>
            <a:off x="6217920" y="4251960"/>
            <a:ext cx="5303520" cy="187452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22" name="chrome:bar"/>
          <p:cNvSpPr/>
          <p:nvPr/>
        </p:nvSpPr>
        <p:spPr>
          <a:xfrm>
            <a:off x="6217920" y="4480560"/>
            <a:ext cx="64008" cy="1417320"/>
          </a:xfrm>
          <a:prstGeom prst="rect">
            <a:avLst/>
          </a:prstGeom>
          <a:solidFill>
            <a:srgbClr val="99D9B4"/>
          </a:solidFill>
          <a:ln>
            <a:noFill/>
          </a:ln>
        </p:spPr>
        <p:txBody>
          <a:bodyPr wrap="square" lIns="73152" tIns="73152" rIns="73152" bIns="73152" anchor="t" rtlCol="0">
            <a:noAutofit/>
          </a:bodyPr>
          <a:lstStyle/>
          <a:p>
            <a:endParaRPr lang="en-US" dirty="0"/>
          </a:p>
        </p:txBody>
      </p:sp>
      <p:sp>
        <p:nvSpPr>
          <p:cNvPr id="23" name="quote:4"/>
          <p:cNvSpPr txBox="1"/>
          <p:nvPr/>
        </p:nvSpPr>
        <p:spPr>
          <a:xfrm>
            <a:off x="6537960" y="4434840"/>
            <a:ext cx="4754880" cy="1005840"/>
          </a:xfrm>
          <a:prstGeom prst="rect">
            <a:avLst/>
          </a:prstGeom>
          <a:noFill/>
          <a:ln>
            <a:noFill/>
          </a:ln>
        </p:spPr>
        <p:txBody>
          <a:bodyPr wrap="square" lIns="0" tIns="0" rIns="0" bIns="0" anchor="t" rtlCol="0">
            <a:noAutofit/>
          </a:bodyPr>
          <a:lstStyle/>
          <a:p>
            <a:pPr algn="l">
              <a:lnSpc>
                <a:spcPct val="110000"/>
              </a:lnSpc>
              <a:spcAft>
                <a:spcPts val="0"/>
              </a:spcAft>
            </a:pPr>
            <a:r>
              <a:rPr lang="en-US" sz="1600" b="0" i="1" dirty="0">
                <a:solidFill>
                  <a:srgbClr val="111111"/>
                </a:solidFill>
                <a:latin typeface="Montserrat"/>
                <a:cs typeface="Montserrat"/>
              </a:rPr>
              <a:t>“If the site can just explain sedation without making it scary, that's a win.”</a:t>
            </a:r>
            <a:endParaRPr lang="en-US" sz="1600" dirty="0"/>
          </a:p>
        </p:txBody>
      </p:sp>
      <p:sp>
        <p:nvSpPr>
          <p:cNvPr id="24" name="attr:4"/>
          <p:cNvSpPr txBox="1"/>
          <p:nvPr/>
        </p:nvSpPr>
        <p:spPr>
          <a:xfrm>
            <a:off x="6537960" y="5468112"/>
            <a:ext cx="4754880" cy="274320"/>
          </a:xfrm>
          <a:prstGeom prst="rect">
            <a:avLst/>
          </a:prstGeom>
          <a:noFill/>
          <a:ln>
            <a:noFill/>
          </a:ln>
        </p:spPr>
        <p:txBody>
          <a:bodyPr wrap="square" lIns="0" tIns="0" rIns="0" bIns="0" anchor="t" rtlCol="0">
            <a:noAutofit/>
          </a:bodyPr>
          <a:lstStyle/>
          <a:p>
            <a:pPr algn="l">
              <a:spcAft>
                <a:spcPts val="0"/>
              </a:spcAft>
            </a:pPr>
            <a:r>
              <a:rPr lang="en-US" sz="1100" b="1" i="0" dirty="0">
                <a:solidFill>
                  <a:srgbClr val="505858"/>
                </a:solidFill>
                <a:latin typeface="Montserrat"/>
                <a:cs typeface="Montserrat"/>
              </a:rPr>
              <a:t>Dr. Maya Okafor, kickoff call, 2026-10-09</a:t>
            </a:r>
            <a:endParaRPr lang="en-US" sz="1100" dirty="0"/>
          </a:p>
        </p:txBody>
      </p:sp>
      <p:sp>
        <p:nvSpPr>
          <p:cNvPr id="25" name="drives:4"/>
          <p:cNvSpPr txBox="1"/>
          <p:nvPr/>
        </p:nvSpPr>
        <p:spPr>
          <a:xfrm>
            <a:off x="6537960" y="5742432"/>
            <a:ext cx="4754880" cy="274320"/>
          </a:xfrm>
          <a:prstGeom prst="rect">
            <a:avLst/>
          </a:prstGeom>
          <a:noFill/>
          <a:ln>
            <a:noFill/>
          </a:ln>
        </p:spPr>
        <p:txBody>
          <a:bodyPr wrap="square" lIns="0" tIns="0" rIns="0" bIns="0" anchor="t" rtlCol="0">
            <a:noAutofit/>
          </a:bodyPr>
          <a:lstStyle/>
          <a:p>
            <a:pPr algn="l">
              <a:spcAft>
                <a:spcPts val="0"/>
              </a:spcAft>
            </a:pPr>
            <a:r>
              <a:rPr lang="en-US" sz="1100" b="1" i="0" dirty="0">
                <a:solidFill>
                  <a:srgbClr val="017A34"/>
                </a:solidFill>
                <a:latin typeface="Montserrat"/>
                <a:cs typeface="Montserrat"/>
              </a:rPr>
              <a:t>Drives: Sedation explained, not scary</a:t>
            </a:r>
            <a:endParaRPr lang="en-US" sz="1100" dirty="0"/>
          </a:p>
        </p:txBody>
      </p:sp>
      <p:sp>
        <p:nvSpPr>
          <p:cNvPr id="26"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27" name="chrome:logo"/>
          <p:cNvPicPr>
            <a:picLocks noChangeAspect="1"/>
          </p:cNvPicPr>
          <p:nvPr/>
        </p:nvPicPr>
        <p:blipFill>
          <a:blip r:embed="rIdImg1"/>
          <a:stretch>
            <a:fillRect/>
          </a:stretch>
        </p:blipFill>
        <p:spPr>
          <a:xfrm>
            <a:off x="640080" y="6400800"/>
            <a:ext cx="665018" cy="274320"/>
          </a:xfrm>
          <a:prstGeom prst="rect">
            <a:avLst/>
          </a:prstGeom>
        </p:spPr>
      </p:pic>
      <p:sp>
        <p:nvSpPr>
          <p:cNvPr id="28"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29"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0506"/>
            </a:gs>
            <a:gs pos="100000">
              <a:srgbClr val="061012"/>
            </a:gs>
          </a:gsLst>
          <a:lin ang="5400000" scaled="0"/>
        </a:gradFill>
        <a:effectLst/>
      </p:bgPr>
    </p:bg>
    <p:spTree>
      <p:nvGrpSpPr>
        <p:cNvPr id="1" name=""/>
        <p:cNvGrpSpPr/>
        <p:nvPr/>
      </p:nvGrpSpPr>
      <p:grpSpPr>
        <a:xfrm>
          <a:off x="0" y="0"/>
          <a:ext cx="0" cy="0"/>
          <a:chOff x="0" y="0"/>
          <a:chExt cx="0" cy="0"/>
        </a:xfrm>
      </p:grpSpPr>
      <p:sp>
        <p:nvSpPr>
          <p:cNvPr id="3" name="chrome:divnum"/>
          <p:cNvSpPr txBox="1"/>
          <p:nvPr/>
        </p:nvSpPr>
        <p:spPr>
          <a:xfrm>
            <a:off x="640080" y="1828800"/>
            <a:ext cx="3657600" cy="1097280"/>
          </a:xfrm>
          <a:prstGeom prst="rect">
            <a:avLst/>
          </a:prstGeom>
          <a:noFill/>
          <a:ln>
            <a:noFill/>
          </a:ln>
        </p:spPr>
        <p:txBody>
          <a:bodyPr wrap="square" lIns="0" tIns="0" rIns="0" bIns="0" anchor="t" rtlCol="0">
            <a:noAutofit/>
          </a:bodyPr>
          <a:lstStyle/>
          <a:p>
            <a:pPr algn="l">
              <a:spcAft>
                <a:spcPts val="0"/>
              </a:spcAft>
            </a:pPr>
            <a:r>
              <a:rPr lang="en-US" sz="6600" b="1" i="0" dirty="0">
                <a:solidFill>
                  <a:srgbClr val="4DBC7C"/>
                </a:solidFill>
                <a:latin typeface="Montserrat"/>
                <a:cs typeface="Montserrat"/>
              </a:rPr>
              <a:t>01</a:t>
            </a:r>
            <a:endParaRPr lang="en-US" sz="6600" dirty="0"/>
          </a:p>
        </p:txBody>
      </p:sp>
      <p:sp>
        <p:nvSpPr>
          <p:cNvPr id="4" name="chrome:accent"/>
          <p:cNvSpPr/>
          <p:nvPr/>
        </p:nvSpPr>
        <p:spPr>
          <a:xfrm>
            <a:off x="640080" y="3063240"/>
            <a:ext cx="822960" cy="64008"/>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5" name="headline"/>
          <p:cNvSpPr txBox="1"/>
          <p:nvPr/>
        </p:nvSpPr>
        <p:spPr>
          <a:xfrm>
            <a:off x="640080" y="3291840"/>
            <a:ext cx="10515600" cy="1371600"/>
          </a:xfrm>
          <a:prstGeom prst="rect">
            <a:avLst/>
          </a:prstGeom>
          <a:noFill/>
          <a:ln>
            <a:noFill/>
          </a:ln>
        </p:spPr>
        <p:txBody>
          <a:bodyPr wrap="square" lIns="0" tIns="0" rIns="0" bIns="0" anchor="t" rtlCol="0">
            <a:noAutofit/>
          </a:bodyPr>
          <a:lstStyle/>
          <a:p>
            <a:pPr algn="l">
              <a:spcAft>
                <a:spcPts val="0"/>
              </a:spcAft>
            </a:pPr>
            <a:r>
              <a:rPr lang="en-US" sz="4000" b="1" i="0" dirty="0">
                <a:solidFill>
                  <a:srgbClr val="FFFFFF"/>
                </a:solidFill>
                <a:latin typeface="Montserrat"/>
                <a:cs typeface="Montserrat"/>
              </a:rPr>
              <a:t>Where you stand today</a:t>
            </a:r>
            <a:endParaRPr lang="en-US" sz="4000" dirty="0"/>
          </a:p>
        </p:txBody>
      </p:sp>
      <p:sp>
        <p:nvSpPr>
          <p:cNvPr id="6" name="chrome:rule"/>
          <p:cNvSpPr/>
          <p:nvPr/>
        </p:nvSpPr>
        <p:spPr>
          <a:xfrm>
            <a:off x="640080" y="6327648"/>
            <a:ext cx="10908792" cy="9144"/>
          </a:xfrm>
          <a:prstGeom prst="rect">
            <a:avLst/>
          </a:prstGeom>
          <a:solidFill>
            <a:srgbClr val="051011"/>
          </a:solidFill>
          <a:ln>
            <a:noFill/>
          </a:ln>
        </p:spPr>
        <p:txBody>
          <a:bodyPr wrap="square" lIns="73152" tIns="73152" rIns="73152" bIns="73152" anchor="t" rtlCol="0">
            <a:noAutofit/>
          </a:bodyPr>
          <a:lstStyle/>
          <a:p>
            <a:endParaRPr lang="en-US" dirty="0"/>
          </a:p>
        </p:txBody>
      </p:sp>
      <p:sp>
        <p:nvSpPr>
          <p:cNvPr id="7"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CCCCCC"/>
                </a:solidFill>
                <a:latin typeface="Montserrat"/>
                <a:cs typeface="Montserrat"/>
              </a:rPr>
              <a:t>Larkspur Family Dental  |  Growth Blueprint</a:t>
            </a:r>
            <a:endParaRPr lang="en-US" sz="1000" dirty="0"/>
          </a:p>
        </p:txBody>
      </p:sp>
      <p:sp>
        <p:nvSpPr>
          <p:cNvPr id="8"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CCCCCC"/>
                </a:solidFill>
                <a:latin typeface="Montserrat"/>
                <a:cs typeface="Montserrat"/>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Where You Stand Today</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Larkspur starts with no website but already has a strong 4.9 rating to build on</a:t>
            </a:r>
            <a:endParaRPr lang="en-US" sz="2800" dirty="0"/>
          </a:p>
        </p:txBody>
      </p:sp>
      <p:sp>
        <p:nvSpPr>
          <p:cNvPr id="6" name="chrome:card"/>
          <p:cNvSpPr/>
          <p:nvPr/>
        </p:nvSpPr>
        <p:spPr>
          <a:xfrm>
            <a:off x="640080" y="2194560"/>
            <a:ext cx="3444240" cy="2377440"/>
          </a:xfrm>
          <a:prstGeom prst="roundRect">
            <a:avLst>
              <a:gd name="adj" fmla="val 6000"/>
            </a:avLst>
          </a:prstGeom>
          <a:solidFill>
            <a:srgbClr val="F2FAF6"/>
          </a:solidFill>
          <a:ln>
            <a:noFill/>
          </a:ln>
        </p:spPr>
        <p:txBody>
          <a:bodyPr wrap="square" lIns="73152" tIns="73152" rIns="73152" bIns="73152" anchor="t" rtlCol="0">
            <a:noAutofit/>
          </a:bodyPr>
          <a:lstStyle/>
          <a:p>
            <a:endParaRPr lang="en-US" dirty="0"/>
          </a:p>
        </p:txBody>
      </p:sp>
      <p:sp>
        <p:nvSpPr>
          <p:cNvPr id="7" name="stat:1"/>
          <p:cNvSpPr txBox="1"/>
          <p:nvPr/>
        </p:nvSpPr>
        <p:spPr>
          <a:xfrm>
            <a:off x="914400" y="2423160"/>
            <a:ext cx="2895600" cy="1188720"/>
          </a:xfrm>
          <a:prstGeom prst="rect">
            <a:avLst/>
          </a:prstGeom>
          <a:noFill/>
          <a:ln>
            <a:noFill/>
          </a:ln>
        </p:spPr>
        <p:txBody>
          <a:bodyPr wrap="square" lIns="0" tIns="0" rIns="0" bIns="0" anchor="b" rtlCol="0">
            <a:noAutofit/>
          </a:bodyPr>
          <a:lstStyle/>
          <a:p>
            <a:pPr algn="l">
              <a:spcAft>
                <a:spcPts val="0"/>
              </a:spcAft>
            </a:pPr>
            <a:r>
              <a:rPr lang="en-US" sz="4400" b="1" i="0" dirty="0">
                <a:solidFill>
                  <a:srgbClr val="111111"/>
                </a:solidFill>
                <a:latin typeface="Montserrat"/>
                <a:cs typeface="Montserrat"/>
              </a:rPr>
              <a:t>0</a:t>
            </a:r>
            <a:endParaRPr lang="en-US" sz="4400" dirty="0"/>
          </a:p>
        </p:txBody>
      </p:sp>
      <p:sp>
        <p:nvSpPr>
          <p:cNvPr id="8" name="caption:1"/>
          <p:cNvSpPr txBox="1"/>
          <p:nvPr/>
        </p:nvSpPr>
        <p:spPr>
          <a:xfrm>
            <a:off x="914400" y="3657600"/>
            <a:ext cx="2895600" cy="1069848"/>
          </a:xfrm>
          <a:prstGeom prst="rect">
            <a:avLst/>
          </a:prstGeom>
          <a:noFill/>
          <a:ln>
            <a:noFill/>
          </a:ln>
        </p:spPr>
        <p:txBody>
          <a:bodyPr wrap="square" lIns="0" tIns="0" rIns="0" bIns="0" anchor="t" rtlCol="0">
            <a:noAutofit/>
          </a:bodyPr>
          <a:lstStyle/>
          <a:p>
            <a:pPr algn="l">
              <a:lnSpc>
                <a:spcPct val="110000"/>
              </a:lnSpc>
              <a:spcAft>
                <a:spcPts val="0"/>
              </a:spcAft>
            </a:pPr>
            <a:r>
              <a:rPr lang="en-US" sz="1400" b="0" i="0" dirty="0">
                <a:solidFill>
                  <a:srgbClr val="505858"/>
                </a:solidFill>
                <a:latin typeface="Montserrat"/>
                <a:cs typeface="Montserrat"/>
              </a:rPr>
              <a:t>top-10 keywords today</a:t>
            </a:r>
            <a:endParaRPr lang="en-US" sz="1400" dirty="0"/>
          </a:p>
        </p:txBody>
      </p:sp>
      <p:sp>
        <p:nvSpPr>
          <p:cNvPr id="9" name="chrome:card"/>
          <p:cNvSpPr/>
          <p:nvPr/>
        </p:nvSpPr>
        <p:spPr>
          <a:xfrm>
            <a:off x="4358640" y="2194560"/>
            <a:ext cx="3444240" cy="2377440"/>
          </a:xfrm>
          <a:prstGeom prst="roundRect">
            <a:avLst>
              <a:gd name="adj" fmla="val 6000"/>
            </a:avLst>
          </a:prstGeom>
          <a:solidFill>
            <a:srgbClr val="F2FAF6"/>
          </a:solidFill>
          <a:ln>
            <a:noFill/>
          </a:ln>
        </p:spPr>
        <p:txBody>
          <a:bodyPr wrap="square" lIns="73152" tIns="73152" rIns="73152" bIns="73152" anchor="t" rtlCol="0">
            <a:noAutofit/>
          </a:bodyPr>
          <a:lstStyle/>
          <a:p>
            <a:endParaRPr lang="en-US" dirty="0"/>
          </a:p>
        </p:txBody>
      </p:sp>
      <p:sp>
        <p:nvSpPr>
          <p:cNvPr id="10" name="stat:2"/>
          <p:cNvSpPr txBox="1"/>
          <p:nvPr/>
        </p:nvSpPr>
        <p:spPr>
          <a:xfrm>
            <a:off x="4632960" y="2423160"/>
            <a:ext cx="2895600" cy="1188720"/>
          </a:xfrm>
          <a:prstGeom prst="rect">
            <a:avLst/>
          </a:prstGeom>
          <a:noFill/>
          <a:ln>
            <a:noFill/>
          </a:ln>
        </p:spPr>
        <p:txBody>
          <a:bodyPr wrap="square" lIns="0" tIns="0" rIns="0" bIns="0" anchor="b" rtlCol="0">
            <a:noAutofit/>
          </a:bodyPr>
          <a:lstStyle/>
          <a:p>
            <a:pPr algn="l">
              <a:spcAft>
                <a:spcPts val="0"/>
              </a:spcAft>
            </a:pPr>
            <a:r>
              <a:rPr lang="en-US" sz="4400" b="1" i="0" dirty="0">
                <a:solidFill>
                  <a:srgbClr val="111111"/>
                </a:solidFill>
                <a:latin typeface="Montserrat"/>
                <a:cs typeface="Montserrat"/>
              </a:rPr>
              <a:t>4.9</a:t>
            </a:r>
            <a:endParaRPr lang="en-US" sz="4400" dirty="0"/>
          </a:p>
        </p:txBody>
      </p:sp>
      <p:sp>
        <p:nvSpPr>
          <p:cNvPr id="11" name="caption:2"/>
          <p:cNvSpPr txBox="1"/>
          <p:nvPr/>
        </p:nvSpPr>
        <p:spPr>
          <a:xfrm>
            <a:off x="4632960" y="3657600"/>
            <a:ext cx="2895600" cy="1069848"/>
          </a:xfrm>
          <a:prstGeom prst="rect">
            <a:avLst/>
          </a:prstGeom>
          <a:noFill/>
          <a:ln>
            <a:noFill/>
          </a:ln>
        </p:spPr>
        <p:txBody>
          <a:bodyPr wrap="square" lIns="0" tIns="0" rIns="0" bIns="0" anchor="t" rtlCol="0">
            <a:noAutofit/>
          </a:bodyPr>
          <a:lstStyle/>
          <a:p>
            <a:pPr algn="l">
              <a:lnSpc>
                <a:spcPct val="110000"/>
              </a:lnSpc>
              <a:spcAft>
                <a:spcPts val="0"/>
              </a:spcAft>
            </a:pPr>
            <a:r>
              <a:rPr lang="en-US" sz="1400" b="0" i="0" dirty="0">
                <a:solidFill>
                  <a:srgbClr val="505858"/>
                </a:solidFill>
                <a:latin typeface="Montserrat"/>
                <a:cs typeface="Montserrat"/>
              </a:rPr>
              <a:t>average rating from 212 Google reviews</a:t>
            </a:r>
            <a:endParaRPr lang="en-US" sz="1400" dirty="0"/>
          </a:p>
        </p:txBody>
      </p:sp>
      <p:sp>
        <p:nvSpPr>
          <p:cNvPr id="12" name="chrome:card"/>
          <p:cNvSpPr/>
          <p:nvPr/>
        </p:nvSpPr>
        <p:spPr>
          <a:xfrm>
            <a:off x="8077200" y="2194560"/>
            <a:ext cx="3444240" cy="2377440"/>
          </a:xfrm>
          <a:prstGeom prst="roundRect">
            <a:avLst>
              <a:gd name="adj" fmla="val 6000"/>
            </a:avLst>
          </a:prstGeom>
          <a:solidFill>
            <a:srgbClr val="F2FAF6"/>
          </a:solidFill>
          <a:ln>
            <a:noFill/>
          </a:ln>
        </p:spPr>
        <p:txBody>
          <a:bodyPr wrap="square" lIns="73152" tIns="73152" rIns="73152" bIns="73152" anchor="t" rtlCol="0">
            <a:noAutofit/>
          </a:bodyPr>
          <a:lstStyle/>
          <a:p>
            <a:endParaRPr lang="en-US" dirty="0"/>
          </a:p>
        </p:txBody>
      </p:sp>
      <p:sp>
        <p:nvSpPr>
          <p:cNvPr id="13" name="stat:3"/>
          <p:cNvSpPr txBox="1"/>
          <p:nvPr/>
        </p:nvSpPr>
        <p:spPr>
          <a:xfrm>
            <a:off x="8351520" y="2423160"/>
            <a:ext cx="2895600" cy="1188720"/>
          </a:xfrm>
          <a:prstGeom prst="rect">
            <a:avLst/>
          </a:prstGeom>
          <a:noFill/>
          <a:ln>
            <a:noFill/>
          </a:ln>
        </p:spPr>
        <p:txBody>
          <a:bodyPr wrap="square" lIns="0" tIns="0" rIns="0" bIns="0" anchor="b" rtlCol="0">
            <a:noAutofit/>
          </a:bodyPr>
          <a:lstStyle/>
          <a:p>
            <a:pPr algn="l">
              <a:spcAft>
                <a:spcPts val="0"/>
              </a:spcAft>
            </a:pPr>
            <a:r>
              <a:rPr lang="en-US" sz="4400" b="1" i="0" dirty="0">
                <a:solidFill>
                  <a:srgbClr val="111111"/>
                </a:solidFill>
                <a:latin typeface="Montserrat"/>
                <a:cs typeface="Montserrat"/>
              </a:rPr>
              <a:t>14</a:t>
            </a:r>
            <a:endParaRPr lang="en-US" sz="4400" dirty="0"/>
          </a:p>
        </p:txBody>
      </p:sp>
      <p:sp>
        <p:nvSpPr>
          <p:cNvPr id="14" name="caption:3"/>
          <p:cNvSpPr txBox="1"/>
          <p:nvPr/>
        </p:nvSpPr>
        <p:spPr>
          <a:xfrm>
            <a:off x="8351520" y="3657600"/>
            <a:ext cx="2895600" cy="1069848"/>
          </a:xfrm>
          <a:prstGeom prst="rect">
            <a:avLst/>
          </a:prstGeom>
          <a:noFill/>
          <a:ln>
            <a:noFill/>
          </a:ln>
        </p:spPr>
        <p:txBody>
          <a:bodyPr wrap="square" lIns="0" tIns="0" rIns="0" bIns="0" anchor="t" rtlCol="0">
            <a:noAutofit/>
          </a:bodyPr>
          <a:lstStyle/>
          <a:p>
            <a:pPr algn="l">
              <a:lnSpc>
                <a:spcPct val="110000"/>
              </a:lnSpc>
              <a:spcAft>
                <a:spcPts val="0"/>
              </a:spcAft>
            </a:pPr>
            <a:r>
              <a:rPr lang="en-US" sz="1400" b="0" i="0" dirty="0">
                <a:solidFill>
                  <a:srgbClr val="505858"/>
                </a:solidFill>
                <a:latin typeface="Montserrat"/>
                <a:cs typeface="Montserrat"/>
              </a:rPr>
              <a:t>referring domains pointing to the new domain</a:t>
            </a:r>
            <a:endParaRPr lang="en-US" sz="1400" dirty="0"/>
          </a:p>
        </p:txBody>
      </p:sp>
      <p:sp>
        <p:nvSpPr>
          <p:cNvPr id="15" name="body"/>
          <p:cNvSpPr txBox="1"/>
          <p:nvPr/>
        </p:nvSpPr>
        <p:spPr>
          <a:xfrm>
            <a:off x="640080" y="4800600"/>
            <a:ext cx="10881360" cy="1280160"/>
          </a:xfrm>
          <a:prstGeom prst="rect">
            <a:avLst/>
          </a:prstGeom>
          <a:noFill/>
          <a:ln>
            <a:noFill/>
          </a:ln>
        </p:spPr>
        <p:txBody>
          <a:bodyPr wrap="square" lIns="0" tIns="0" rIns="0" bIns="0" anchor="t" rtlCol="0">
            <a:noAutofit/>
          </a:bodyPr>
          <a:lstStyle/>
          <a:p>
            <a:pPr algn="l">
              <a:lnSpc>
                <a:spcPct val="110000"/>
              </a:lnSpc>
              <a:spcAft>
                <a:spcPts val="800"/>
              </a:spcAft>
            </a:pPr>
            <a:r>
              <a:rPr lang="en-US" sz="1500" b="0" i="0" dirty="0">
                <a:solidFill>
                  <a:srgbClr val="017A34"/>
                </a:solidFill>
                <a:latin typeface="Montserrat"/>
                <a:cs typeface="Montserrat"/>
              </a:rPr>
              <a:t>▪  </a:t>
            </a:r>
            <a:r>
              <a:rPr lang="en-US" sz="1500" b="0" i="0" dirty="0">
                <a:solidFill>
                  <a:srgbClr val="505858"/>
                </a:solidFill>
                <a:latin typeface="Montserrat"/>
                <a:cs typeface="Montserrat"/>
              </a:rPr>
              <a:t>No website today, although larkspurdental.com is registered.</a:t>
            </a:r>
            <a:endParaRPr lang="en-US" sz="1500" dirty="0"/>
          </a:p>
        </p:txBody>
      </p:sp>
      <p:sp>
        <p:nvSpPr>
          <p:cNvPr id="16"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17" name="chrome:logo"/>
          <p:cNvPicPr>
            <a:picLocks noChangeAspect="1"/>
          </p:cNvPicPr>
          <p:nvPr/>
        </p:nvPicPr>
        <p:blipFill>
          <a:blip r:embed="rIdImg1"/>
          <a:stretch>
            <a:fillRect/>
          </a:stretch>
        </p:blipFill>
        <p:spPr>
          <a:xfrm>
            <a:off x="640080" y="6400800"/>
            <a:ext cx="665018" cy="274320"/>
          </a:xfrm>
          <a:prstGeom prst="rect">
            <a:avLst/>
          </a:prstGeom>
        </p:spPr>
      </p:pic>
      <p:sp>
        <p:nvSpPr>
          <p:cNvPr id="18"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9"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Who You're Up Against</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Treasure Valley Smiles holds 54.0% of local traffic and Larkspur starts from zero</a:t>
            </a:r>
            <a:endParaRPr lang="en-US" sz="2800" dirty="0"/>
          </a:p>
        </p:txBody>
      </p:sp>
      <p:graphicFrame>
        <p:nvGraphicFramePr>
          <p:cNvPr id="6" name="table"/>
          <p:cNvGraphicFramePr>
            <a:graphicFrameLocks noGrp="1"/>
          </p:cNvGraphicFramePr>
          <p:nvPr/>
        </p:nvGraphicFramePr>
        <p:xfrm>
          <a:off x="640080" y="2103120"/>
          <a:ext cx="10881360" cy="3072384"/>
        </p:xfrm>
        <a:graphic>
          <a:graphicData uri="http://schemas.openxmlformats.org/drawingml/2006/table">
            <a:tbl>
              <a:tblPr firstRow="1" bandRow="0"/>
              <a:tblGrid>
                <a:gridCol w="1915119"/>
                <a:gridCol w="1915119"/>
                <a:gridCol w="2437425"/>
                <a:gridCol w="2176272"/>
                <a:gridCol w="2437425"/>
              </a:tblGrid>
              <a:tr h="438912">
                <a:tc>
                  <a:txBody>
                    <a:bodyPr/>
                    <a:lstStyle/>
                    <a:p>
                      <a:pPr algn="l">
                        <a:spcAft>
                          <a:spcPts val="0"/>
                        </a:spcAft>
                      </a:pPr>
                      <a:r>
                        <a:rPr lang="en-US" sz="1200" b="1" i="0" dirty="0">
                          <a:solidFill>
                            <a:srgbClr val="FFFFFF"/>
                          </a:solidFill>
                          <a:latin typeface="Montserrat"/>
                          <a:cs typeface="Montserrat"/>
                        </a:rPr>
                        <a:t>Metric</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200" b="1" i="0" dirty="0">
                          <a:solidFill>
                            <a:srgbClr val="FFFFFF"/>
                          </a:solidFill>
                          <a:latin typeface="Montserrat"/>
                          <a:cs typeface="Montserrat"/>
                        </a:rPr>
                        <a:t>larkspurdental.com</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200" b="1" i="0" dirty="0">
                          <a:solidFill>
                            <a:srgbClr val="FFFFFF"/>
                          </a:solidFill>
                          <a:latin typeface="Montserrat"/>
                          <a:cs typeface="Montserrat"/>
                        </a:rPr>
                        <a:t>treasurevalleysmiles.com</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200" b="1" i="0" dirty="0">
                          <a:solidFill>
                            <a:srgbClr val="FFFFFF"/>
                          </a:solidFill>
                          <a:latin typeface="Montserrat"/>
                          <a:cs typeface="Montserrat"/>
                        </a:rPr>
                        <a:t>boisebrightdental.com</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200" b="1" i="0" dirty="0">
                          <a:solidFill>
                            <a:srgbClr val="FFFFFF"/>
                          </a:solidFill>
                          <a:latin typeface="Montserrat"/>
                          <a:cs typeface="Montserrat"/>
                        </a:rPr>
                        <a:t>northendfamilydental.com</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r>
              <a:tr h="438912">
                <a:tc>
                  <a:txBody>
                    <a:bodyPr/>
                    <a:lstStyle/>
                    <a:p>
                      <a:pPr algn="l">
                        <a:spcAft>
                          <a:spcPts val="0"/>
                        </a:spcAft>
                      </a:pPr>
                      <a:r>
                        <a:rPr lang="en-US" sz="1400" b="1" i="0" dirty="0">
                          <a:solidFill>
                            <a:srgbClr val="111111"/>
                          </a:solidFill>
                          <a:latin typeface="Montserrat"/>
                          <a:cs typeface="Montserrat"/>
                        </a:rPr>
                        <a:t>Domain Rating</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400" b="1" i="0" dirty="0">
                          <a:solidFill>
                            <a:srgbClr val="111111"/>
                          </a:solidFill>
                          <a:latin typeface="Montserrat"/>
                          <a:cs typeface="Montserrat"/>
                        </a:rPr>
                        <a:t>9</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E5F5EC"/>
                    </a:solidFill>
                  </a:tcPr>
                </a:tc>
                <a:tc>
                  <a:txBody>
                    <a:bodyPr/>
                    <a:lstStyle/>
                    <a:p>
                      <a:pPr algn="l">
                        <a:spcAft>
                          <a:spcPts val="0"/>
                        </a:spcAft>
                      </a:pPr>
                      <a:r>
                        <a:rPr lang="en-US" sz="1400" b="0" i="0" dirty="0">
                          <a:solidFill>
                            <a:srgbClr val="111111"/>
                          </a:solidFill>
                          <a:latin typeface="Montserrat"/>
                          <a:cs typeface="Montserrat"/>
                        </a:rPr>
                        <a:t>41</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400" b="0" i="0" dirty="0">
                          <a:solidFill>
                            <a:srgbClr val="111111"/>
                          </a:solidFill>
                          <a:latin typeface="Montserrat"/>
                          <a:cs typeface="Montserrat"/>
                        </a:rPr>
                        <a:t>33</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400" b="0" i="0" dirty="0">
                          <a:solidFill>
                            <a:srgbClr val="111111"/>
                          </a:solidFill>
                          <a:latin typeface="Montserrat"/>
                          <a:cs typeface="Montserrat"/>
                        </a:rPr>
                        <a:t>22</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438912">
                <a:tc>
                  <a:txBody>
                    <a:bodyPr/>
                    <a:lstStyle/>
                    <a:p>
                      <a:pPr algn="l">
                        <a:spcAft>
                          <a:spcPts val="0"/>
                        </a:spcAft>
                      </a:pPr>
                      <a:r>
                        <a:rPr lang="en-US" sz="1400" b="1" i="0" dirty="0">
                          <a:solidFill>
                            <a:srgbClr val="111111"/>
                          </a:solidFill>
                          <a:latin typeface="Montserrat"/>
                          <a:cs typeface="Montserrat"/>
                        </a:rPr>
                        <a:t>Referring domains</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400" b="1" i="0" dirty="0">
                          <a:solidFill>
                            <a:srgbClr val="111111"/>
                          </a:solidFill>
                          <a:latin typeface="Montserrat"/>
                          <a:cs typeface="Montserrat"/>
                        </a:rPr>
                        <a:t>14</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E5F5EC"/>
                    </a:solidFill>
                  </a:tcPr>
                </a:tc>
                <a:tc>
                  <a:txBody>
                    <a:bodyPr/>
                    <a:lstStyle/>
                    <a:p>
                      <a:pPr algn="l">
                        <a:spcAft>
                          <a:spcPts val="0"/>
                        </a:spcAft>
                      </a:pPr>
                      <a:r>
                        <a:rPr lang="en-US" sz="1400" b="0" i="0" dirty="0">
                          <a:solidFill>
                            <a:srgbClr val="111111"/>
                          </a:solidFill>
                          <a:latin typeface="Montserrat"/>
                          <a:cs typeface="Montserrat"/>
                        </a:rPr>
                        <a:t>312</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400" b="0" i="0" dirty="0">
                          <a:solidFill>
                            <a:srgbClr val="111111"/>
                          </a:solidFill>
                          <a:latin typeface="Montserrat"/>
                          <a:cs typeface="Montserrat"/>
                        </a:rPr>
                        <a:t>188</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400" b="0" i="0" dirty="0">
                          <a:solidFill>
                            <a:srgbClr val="111111"/>
                          </a:solidFill>
                          <a:latin typeface="Montserrat"/>
                          <a:cs typeface="Montserrat"/>
                        </a:rPr>
                        <a:t>76</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r h="438912">
                <a:tc>
                  <a:txBody>
                    <a:bodyPr/>
                    <a:lstStyle/>
                    <a:p>
                      <a:pPr algn="l">
                        <a:spcAft>
                          <a:spcPts val="0"/>
                        </a:spcAft>
                      </a:pPr>
                      <a:r>
                        <a:rPr lang="en-US" sz="1400" b="1" i="0" dirty="0">
                          <a:solidFill>
                            <a:srgbClr val="111111"/>
                          </a:solidFill>
                          <a:latin typeface="Montserrat"/>
                          <a:cs typeface="Montserrat"/>
                        </a:rPr>
                        <a:t>Top-10 keywords</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400" b="1" i="0" dirty="0">
                          <a:solidFill>
                            <a:srgbClr val="111111"/>
                          </a:solidFill>
                          <a:latin typeface="Montserrat"/>
                          <a:cs typeface="Montserrat"/>
                        </a:rPr>
                        <a:t>0</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E5F5EC"/>
                    </a:solidFill>
                  </a:tcPr>
                </a:tc>
                <a:tc>
                  <a:txBody>
                    <a:bodyPr/>
                    <a:lstStyle/>
                    <a:p>
                      <a:pPr algn="l">
                        <a:spcAft>
                          <a:spcPts val="0"/>
                        </a:spcAft>
                      </a:pPr>
                      <a:r>
                        <a:rPr lang="en-US" sz="1400" b="0" i="0" dirty="0">
                          <a:solidFill>
                            <a:srgbClr val="111111"/>
                          </a:solidFill>
                          <a:latin typeface="Montserrat"/>
                          <a:cs typeface="Montserrat"/>
                        </a:rPr>
                        <a:t>146</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400" b="0" i="0" dirty="0">
                          <a:solidFill>
                            <a:srgbClr val="111111"/>
                          </a:solidFill>
                          <a:latin typeface="Montserrat"/>
                          <a:cs typeface="Montserrat"/>
                        </a:rPr>
                        <a:t>91</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400" b="0" i="0" dirty="0">
                          <a:solidFill>
                            <a:srgbClr val="111111"/>
                          </a:solidFill>
                          <a:latin typeface="Montserrat"/>
                          <a:cs typeface="Montserrat"/>
                        </a:rPr>
                        <a:t>38</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438912">
                <a:tc>
                  <a:txBody>
                    <a:bodyPr/>
                    <a:lstStyle/>
                    <a:p>
                      <a:pPr algn="l">
                        <a:spcAft>
                          <a:spcPts val="0"/>
                        </a:spcAft>
                      </a:pPr>
                      <a:r>
                        <a:rPr lang="en-US" sz="1400" b="1" i="0" dirty="0">
                          <a:solidFill>
                            <a:srgbClr val="111111"/>
                          </a:solidFill>
                          <a:latin typeface="Montserrat"/>
                          <a:cs typeface="Montserrat"/>
                        </a:rPr>
                        <a:t>Est. monthly organic traffic</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400" b="1" i="0" dirty="0">
                          <a:solidFill>
                            <a:srgbClr val="111111"/>
                          </a:solidFill>
                          <a:latin typeface="Montserrat"/>
                          <a:cs typeface="Montserrat"/>
                        </a:rPr>
                        <a:t>0</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E5F5EC"/>
                    </a:solidFill>
                  </a:tcPr>
                </a:tc>
                <a:tc>
                  <a:txBody>
                    <a:bodyPr/>
                    <a:lstStyle/>
                    <a:p>
                      <a:pPr algn="l">
                        <a:spcAft>
                          <a:spcPts val="0"/>
                        </a:spcAft>
                      </a:pPr>
                      <a:r>
                        <a:rPr lang="en-US" sz="1400" b="0" i="0" dirty="0">
                          <a:solidFill>
                            <a:srgbClr val="111111"/>
                          </a:solidFill>
                          <a:latin typeface="Montserrat"/>
                          <a:cs typeface="Montserrat"/>
                        </a:rPr>
                        <a:t>4,820</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400" b="0" i="0" dirty="0">
                          <a:solidFill>
                            <a:srgbClr val="111111"/>
                          </a:solidFill>
                          <a:latin typeface="Montserrat"/>
                          <a:cs typeface="Montserrat"/>
                        </a:rPr>
                        <a:t>2,960</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400" b="0" i="0" dirty="0">
                          <a:solidFill>
                            <a:srgbClr val="111111"/>
                          </a:solidFill>
                          <a:latin typeface="Montserrat"/>
                          <a:cs typeface="Montserrat"/>
                        </a:rPr>
                        <a:t>1,140</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r h="438912">
                <a:tc>
                  <a:txBody>
                    <a:bodyPr/>
                    <a:lstStyle/>
                    <a:p>
                      <a:pPr algn="l">
                        <a:spcAft>
                          <a:spcPts val="0"/>
                        </a:spcAft>
                      </a:pPr>
                      <a:r>
                        <a:rPr lang="en-US" sz="1400" b="1" i="0" dirty="0">
                          <a:solidFill>
                            <a:srgbClr val="111111"/>
                          </a:solidFill>
                          <a:latin typeface="Montserrat"/>
                          <a:cs typeface="Montserrat"/>
                        </a:rPr>
                        <a:t>Traffic share</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400" b="1" i="0" dirty="0">
                          <a:solidFill>
                            <a:srgbClr val="111111"/>
                          </a:solidFill>
                          <a:latin typeface="Montserrat"/>
                          <a:cs typeface="Montserrat"/>
                        </a:rPr>
                        <a:t>0%</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E5F5EC"/>
                    </a:solidFill>
                  </a:tcPr>
                </a:tc>
                <a:tc>
                  <a:txBody>
                    <a:bodyPr/>
                    <a:lstStyle/>
                    <a:p>
                      <a:pPr algn="l">
                        <a:spcAft>
                          <a:spcPts val="0"/>
                        </a:spcAft>
                      </a:pPr>
                      <a:r>
                        <a:rPr lang="en-US" sz="1400" b="0" i="0" dirty="0">
                          <a:solidFill>
                            <a:srgbClr val="111111"/>
                          </a:solidFill>
                          <a:latin typeface="Montserrat"/>
                          <a:cs typeface="Montserrat"/>
                        </a:rPr>
                        <a:t>54.0%</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400" b="0" i="0" dirty="0">
                          <a:solidFill>
                            <a:srgbClr val="111111"/>
                          </a:solidFill>
                          <a:latin typeface="Montserrat"/>
                          <a:cs typeface="Montserrat"/>
                        </a:rPr>
                        <a:t>33.2%</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400" b="0" i="0" dirty="0">
                          <a:solidFill>
                            <a:srgbClr val="111111"/>
                          </a:solidFill>
                          <a:latin typeface="Montserrat"/>
                          <a:cs typeface="Montserrat"/>
                        </a:rPr>
                        <a:t>12.8%</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438912">
                <a:tc>
                  <a:txBody>
                    <a:bodyPr/>
                    <a:lstStyle/>
                    <a:p>
                      <a:pPr algn="l">
                        <a:spcAft>
                          <a:spcPts val="0"/>
                        </a:spcAft>
                      </a:pPr>
                      <a:r>
                        <a:rPr lang="en-US" sz="1400" b="1" i="0" dirty="0">
                          <a:solidFill>
                            <a:srgbClr val="111111"/>
                          </a:solidFill>
                          <a:latin typeface="Montserrat"/>
                          <a:cs typeface="Montserrat"/>
                        </a:rPr>
                        <a:t>CITE Score (how often AI answers cite the site)</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400" b="1" i="0" dirty="0">
                          <a:solidFill>
                            <a:srgbClr val="111111"/>
                          </a:solidFill>
                          <a:latin typeface="Montserrat"/>
                          <a:cs typeface="Montserrat"/>
                        </a:rPr>
                        <a:t>N/A</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E5F5EC"/>
                    </a:solidFill>
                  </a:tcPr>
                </a:tc>
                <a:tc>
                  <a:txBody>
                    <a:bodyPr/>
                    <a:lstStyle/>
                    <a:p>
                      <a:pPr algn="l">
                        <a:spcAft>
                          <a:spcPts val="0"/>
                        </a:spcAft>
                      </a:pPr>
                      <a:r>
                        <a:rPr lang="en-US" sz="1400" b="0" i="0" dirty="0">
                          <a:solidFill>
                            <a:srgbClr val="111111"/>
                          </a:solidFill>
                          <a:latin typeface="Montserrat"/>
                          <a:cs typeface="Montserrat"/>
                        </a:rPr>
                        <a:t>61</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400" b="0" i="0" dirty="0">
                          <a:solidFill>
                            <a:srgbClr val="111111"/>
                          </a:solidFill>
                          <a:latin typeface="Montserrat"/>
                          <a:cs typeface="Montserrat"/>
                        </a:rPr>
                        <a:t>58</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400" b="0" i="0" dirty="0">
                          <a:solidFill>
                            <a:srgbClr val="111111"/>
                          </a:solidFill>
                          <a:latin typeface="Montserrat"/>
                          <a:cs typeface="Montserrat"/>
                        </a:rPr>
                        <a:t>44</a:t>
                      </a:r>
                      <a:endParaRPr lang="en-US" sz="14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bl>
          </a:graphicData>
        </a:graphic>
      </p:graphicFrame>
      <p:sp>
        <p:nvSpPr>
          <p:cNvPr id="7" name="caption"/>
          <p:cNvSpPr txBox="1"/>
          <p:nvPr/>
        </p:nvSpPr>
        <p:spPr>
          <a:xfrm>
            <a:off x="640080" y="5897880"/>
            <a:ext cx="10881360" cy="320040"/>
          </a:xfrm>
          <a:prstGeom prst="rect">
            <a:avLst/>
          </a:prstGeom>
          <a:noFill/>
          <a:ln>
            <a:noFill/>
          </a:ln>
        </p:spPr>
        <p:txBody>
          <a:bodyPr wrap="square" lIns="0" tIns="0" rIns="0" bIns="0" anchor="t" rtlCol="0">
            <a:noAutofit/>
          </a:bodyPr>
          <a:lstStyle/>
          <a:p>
            <a:pPr algn="l">
              <a:spcAft>
                <a:spcPts val="0"/>
              </a:spcAft>
            </a:pPr>
            <a:r>
              <a:rPr lang="en-US" sz="1100" b="0" i="0" dirty="0">
                <a:solidFill>
                  <a:srgbClr val="505858"/>
                </a:solidFill>
                <a:latin typeface="Montserrat"/>
                <a:cs typeface="Montserrat"/>
              </a:rPr>
              <a:t>Traffic figures are third-party estimates; the rest are measured.</a:t>
            </a:r>
            <a:endParaRPr lang="en-US" sz="1100" dirty="0"/>
          </a:p>
        </p:txBody>
      </p:sp>
      <p:sp>
        <p:nvSpPr>
          <p:cNvPr id="8"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9" name="chrome:logo"/>
          <p:cNvPicPr>
            <a:picLocks noChangeAspect="1"/>
          </p:cNvPicPr>
          <p:nvPr/>
        </p:nvPicPr>
        <p:blipFill>
          <a:blip r:embed="rIdImg1"/>
          <a:stretch>
            <a:fillRect/>
          </a:stretch>
        </p:blipFill>
        <p:spPr>
          <a:xfrm>
            <a:off x="640080" y="6400800"/>
            <a:ext cx="665018" cy="274320"/>
          </a:xfrm>
          <a:prstGeom prst="rect">
            <a:avLst/>
          </a:prstGeom>
        </p:spPr>
      </p:pic>
      <p:sp>
        <p:nvSpPr>
          <p:cNvPr id="10"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1"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Which Competitors Actually Matter</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Two competitors are real threats and one only looks intimidating</a:t>
            </a:r>
            <a:endParaRPr lang="en-US" sz="2800" dirty="0"/>
          </a:p>
        </p:txBody>
      </p:sp>
      <p:sp>
        <p:nvSpPr>
          <p:cNvPr id="6" name="chrome:rule"/>
          <p:cNvSpPr/>
          <p:nvPr/>
        </p:nvSpPr>
        <p:spPr>
          <a:xfrm>
            <a:off x="640080" y="3035808"/>
            <a:ext cx="10881360" cy="9144"/>
          </a:xfrm>
          <a:prstGeom prst="rect">
            <a:avLst/>
          </a:prstGeom>
          <a:solidFill>
            <a:srgbClr val="CCCCCC"/>
          </a:solidFill>
          <a:ln>
            <a:noFill/>
          </a:ln>
        </p:spPr>
        <p:txBody>
          <a:bodyPr wrap="square" lIns="73152" tIns="73152" rIns="73152" bIns="73152" anchor="t" rtlCol="0">
            <a:noAutofit/>
          </a:bodyPr>
          <a:lstStyle/>
          <a:p>
            <a:endParaRPr lang="en-US" dirty="0"/>
          </a:p>
        </p:txBody>
      </p:sp>
      <p:sp>
        <p:nvSpPr>
          <p:cNvPr id="7" name="name:1"/>
          <p:cNvSpPr txBox="1"/>
          <p:nvPr/>
        </p:nvSpPr>
        <p:spPr>
          <a:xfrm>
            <a:off x="640080" y="2103120"/>
            <a:ext cx="3291840" cy="868680"/>
          </a:xfrm>
          <a:prstGeom prst="rect">
            <a:avLst/>
          </a:prstGeom>
          <a:noFill/>
          <a:ln>
            <a:noFill/>
          </a:ln>
        </p:spPr>
        <p:txBody>
          <a:bodyPr wrap="square" lIns="0" tIns="0" rIns="0" bIns="0" anchor="ctr" rtlCol="0">
            <a:noAutofit/>
          </a:bodyPr>
          <a:lstStyle/>
          <a:p>
            <a:pPr algn="l">
              <a:spcAft>
                <a:spcPts val="0"/>
              </a:spcAft>
            </a:pPr>
            <a:r>
              <a:rPr lang="en-US" sz="1600" b="1" i="0" dirty="0">
                <a:solidFill>
                  <a:srgbClr val="111111"/>
                </a:solidFill>
                <a:latin typeface="Montserrat"/>
                <a:cs typeface="Montserrat"/>
              </a:rPr>
              <a:t>treasurevalleysmiles.com</a:t>
            </a:r>
            <a:endParaRPr lang="en-US" sz="1600" dirty="0"/>
          </a:p>
        </p:txBody>
      </p:sp>
      <p:sp>
        <p:nvSpPr>
          <p:cNvPr id="8" name="grade:1"/>
          <p:cNvSpPr/>
          <p:nvPr/>
        </p:nvSpPr>
        <p:spPr>
          <a:xfrm>
            <a:off x="4023360" y="2336292"/>
            <a:ext cx="2011680" cy="402336"/>
          </a:xfrm>
          <a:prstGeom prst="roundRect">
            <a:avLst>
              <a:gd name="adj" fmla="val 50000"/>
            </a:avLst>
          </a:prstGeom>
          <a:solidFill>
            <a:srgbClr val="051011"/>
          </a:solidFill>
          <a:ln>
            <a:noFill/>
          </a:ln>
        </p:spPr>
        <p:txBody>
          <a:bodyPr wrap="square" lIns="36576" tIns="36576" rIns="36576" bIns="36576" anchor="ctr" rtlCol="0">
            <a:noAutofit/>
          </a:bodyPr>
          <a:lstStyle/>
          <a:p>
            <a:pPr algn="ctr">
              <a:spcAft>
                <a:spcPts val="0"/>
              </a:spcAft>
            </a:pPr>
            <a:r>
              <a:rPr lang="en-US" sz="1200" b="1" i="0" dirty="0">
                <a:solidFill>
                  <a:srgbClr val="FFFFFF"/>
                </a:solidFill>
                <a:latin typeface="Montserrat"/>
                <a:cs typeface="Montserrat"/>
              </a:rPr>
              <a:t>Real threat</a:t>
            </a:r>
            <a:endParaRPr lang="en-US" sz="1200" dirty="0"/>
          </a:p>
        </p:txBody>
      </p:sp>
      <p:sp>
        <p:nvSpPr>
          <p:cNvPr id="9" name="why:1"/>
          <p:cNvSpPr txBox="1"/>
          <p:nvPr/>
        </p:nvSpPr>
        <p:spPr>
          <a:xfrm>
            <a:off x="6309360" y="2103120"/>
            <a:ext cx="5212080" cy="868680"/>
          </a:xfrm>
          <a:prstGeom prst="rect">
            <a:avLst/>
          </a:prstGeom>
          <a:noFill/>
          <a:ln>
            <a:noFill/>
          </a:ln>
        </p:spPr>
        <p:txBody>
          <a:bodyPr wrap="square" lIns="0" tIns="0" rIns="0" bIns="0" anchor="ctr" rtlCol="0">
            <a:noAutofit/>
          </a:bodyPr>
          <a:lstStyle/>
          <a:p>
            <a:pPr algn="l">
              <a:lnSpc>
                <a:spcPct val="105000"/>
              </a:lnSpc>
              <a:spcAft>
                <a:spcPts val="0"/>
              </a:spcAft>
            </a:pPr>
            <a:r>
              <a:rPr lang="en-US" sz="1400" b="0" i="0" dirty="0">
                <a:solidFill>
                  <a:srgbClr val="505858"/>
                </a:solidFill>
                <a:latin typeface="Montserrat"/>
                <a:cs typeface="Montserrat"/>
              </a:rPr>
              <a:t>Leads local search on rankings and links, has a page for every treatment, and shows 64 published reviews on its implant page.</a:t>
            </a:r>
            <a:endParaRPr lang="en-US" sz="1400" dirty="0"/>
          </a:p>
        </p:txBody>
      </p:sp>
      <p:sp>
        <p:nvSpPr>
          <p:cNvPr id="10" name="chrome:rule"/>
          <p:cNvSpPr/>
          <p:nvPr/>
        </p:nvSpPr>
        <p:spPr>
          <a:xfrm>
            <a:off x="640080" y="4041648"/>
            <a:ext cx="10881360" cy="9144"/>
          </a:xfrm>
          <a:prstGeom prst="rect">
            <a:avLst/>
          </a:prstGeom>
          <a:solidFill>
            <a:srgbClr val="CCCCCC"/>
          </a:solidFill>
          <a:ln>
            <a:noFill/>
          </a:ln>
        </p:spPr>
        <p:txBody>
          <a:bodyPr wrap="square" lIns="73152" tIns="73152" rIns="73152" bIns="73152" anchor="t" rtlCol="0">
            <a:noAutofit/>
          </a:bodyPr>
          <a:lstStyle/>
          <a:p>
            <a:endParaRPr lang="en-US" dirty="0"/>
          </a:p>
        </p:txBody>
      </p:sp>
      <p:sp>
        <p:nvSpPr>
          <p:cNvPr id="11" name="name:2"/>
          <p:cNvSpPr txBox="1"/>
          <p:nvPr/>
        </p:nvSpPr>
        <p:spPr>
          <a:xfrm>
            <a:off x="640080" y="3108960"/>
            <a:ext cx="3291840" cy="868680"/>
          </a:xfrm>
          <a:prstGeom prst="rect">
            <a:avLst/>
          </a:prstGeom>
          <a:noFill/>
          <a:ln>
            <a:noFill/>
          </a:ln>
        </p:spPr>
        <p:txBody>
          <a:bodyPr wrap="square" lIns="0" tIns="0" rIns="0" bIns="0" anchor="ctr" rtlCol="0">
            <a:noAutofit/>
          </a:bodyPr>
          <a:lstStyle/>
          <a:p>
            <a:pPr algn="l">
              <a:spcAft>
                <a:spcPts val="0"/>
              </a:spcAft>
            </a:pPr>
            <a:r>
              <a:rPr lang="en-US" sz="1600" b="1" i="0" dirty="0">
                <a:solidFill>
                  <a:srgbClr val="111111"/>
                </a:solidFill>
                <a:latin typeface="Montserrat"/>
                <a:cs typeface="Montserrat"/>
              </a:rPr>
              <a:t>boisebrightdental.com</a:t>
            </a:r>
            <a:endParaRPr lang="en-US" sz="1600" dirty="0"/>
          </a:p>
        </p:txBody>
      </p:sp>
      <p:sp>
        <p:nvSpPr>
          <p:cNvPr id="12" name="grade:2"/>
          <p:cNvSpPr/>
          <p:nvPr/>
        </p:nvSpPr>
        <p:spPr>
          <a:xfrm>
            <a:off x="4023360" y="3342132"/>
            <a:ext cx="2011680" cy="402336"/>
          </a:xfrm>
          <a:prstGeom prst="roundRect">
            <a:avLst>
              <a:gd name="adj" fmla="val 50000"/>
            </a:avLst>
          </a:prstGeom>
          <a:solidFill>
            <a:srgbClr val="051011"/>
          </a:solidFill>
          <a:ln>
            <a:noFill/>
          </a:ln>
        </p:spPr>
        <p:txBody>
          <a:bodyPr wrap="square" lIns="36576" tIns="36576" rIns="36576" bIns="36576" anchor="ctr" rtlCol="0">
            <a:noAutofit/>
          </a:bodyPr>
          <a:lstStyle/>
          <a:p>
            <a:pPr algn="ctr">
              <a:spcAft>
                <a:spcPts val="0"/>
              </a:spcAft>
            </a:pPr>
            <a:r>
              <a:rPr lang="en-US" sz="1200" b="1" i="0" dirty="0">
                <a:solidFill>
                  <a:srgbClr val="FFFFFF"/>
                </a:solidFill>
                <a:latin typeface="Montserrat"/>
                <a:cs typeface="Montserrat"/>
              </a:rPr>
              <a:t>Real threat</a:t>
            </a:r>
            <a:endParaRPr lang="en-US" sz="1200" dirty="0"/>
          </a:p>
        </p:txBody>
      </p:sp>
      <p:sp>
        <p:nvSpPr>
          <p:cNvPr id="13" name="why:2"/>
          <p:cNvSpPr txBox="1"/>
          <p:nvPr/>
        </p:nvSpPr>
        <p:spPr>
          <a:xfrm>
            <a:off x="6309360" y="3108960"/>
            <a:ext cx="5212080" cy="868680"/>
          </a:xfrm>
          <a:prstGeom prst="rect">
            <a:avLst/>
          </a:prstGeom>
          <a:noFill/>
          <a:ln>
            <a:noFill/>
          </a:ln>
        </p:spPr>
        <p:txBody>
          <a:bodyPr wrap="square" lIns="0" tIns="0" rIns="0" bIns="0" anchor="ctr" rtlCol="0">
            <a:noAutofit/>
          </a:bodyPr>
          <a:lstStyle/>
          <a:p>
            <a:pPr algn="l">
              <a:lnSpc>
                <a:spcPct val="105000"/>
              </a:lnSpc>
              <a:spcAft>
                <a:spcPts val="0"/>
              </a:spcAft>
            </a:pPr>
            <a:r>
              <a:rPr lang="en-US" sz="1400" b="0" i="0" dirty="0">
                <a:solidFill>
                  <a:srgbClr val="505858"/>
                </a:solidFill>
                <a:latin typeface="Montserrat"/>
                <a:cs typeface="Montserrat"/>
              </a:rPr>
              <a:t>Leads on AI citations because it answers cost questions directly. That is the ground our implant cost guide goes after.</a:t>
            </a:r>
            <a:endParaRPr lang="en-US" sz="1400" dirty="0"/>
          </a:p>
        </p:txBody>
      </p:sp>
      <p:sp>
        <p:nvSpPr>
          <p:cNvPr id="14" name="chrome:rule"/>
          <p:cNvSpPr/>
          <p:nvPr/>
        </p:nvSpPr>
        <p:spPr>
          <a:xfrm>
            <a:off x="640080" y="5047488"/>
            <a:ext cx="10881360" cy="9144"/>
          </a:xfrm>
          <a:prstGeom prst="rect">
            <a:avLst/>
          </a:prstGeom>
          <a:solidFill>
            <a:srgbClr val="CCCCCC"/>
          </a:solidFill>
          <a:ln>
            <a:noFill/>
          </a:ln>
        </p:spPr>
        <p:txBody>
          <a:bodyPr wrap="square" lIns="73152" tIns="73152" rIns="73152" bIns="73152" anchor="t" rtlCol="0">
            <a:noAutofit/>
          </a:bodyPr>
          <a:lstStyle/>
          <a:p>
            <a:endParaRPr lang="en-US" dirty="0"/>
          </a:p>
        </p:txBody>
      </p:sp>
      <p:sp>
        <p:nvSpPr>
          <p:cNvPr id="15" name="name:3"/>
          <p:cNvSpPr txBox="1"/>
          <p:nvPr/>
        </p:nvSpPr>
        <p:spPr>
          <a:xfrm>
            <a:off x="640080" y="4114800"/>
            <a:ext cx="3291840" cy="868680"/>
          </a:xfrm>
          <a:prstGeom prst="rect">
            <a:avLst/>
          </a:prstGeom>
          <a:noFill/>
          <a:ln>
            <a:noFill/>
          </a:ln>
        </p:spPr>
        <p:txBody>
          <a:bodyPr wrap="square" lIns="0" tIns="0" rIns="0" bIns="0" anchor="ctr" rtlCol="0">
            <a:noAutofit/>
          </a:bodyPr>
          <a:lstStyle/>
          <a:p>
            <a:pPr algn="l">
              <a:spcAft>
                <a:spcPts val="0"/>
              </a:spcAft>
            </a:pPr>
            <a:r>
              <a:rPr lang="en-US" sz="1600" b="1" i="0" dirty="0">
                <a:solidFill>
                  <a:srgbClr val="111111"/>
                </a:solidFill>
                <a:latin typeface="Montserrat"/>
                <a:cs typeface="Montserrat"/>
              </a:rPr>
              <a:t>northendfamilydental.com</a:t>
            </a:r>
            <a:endParaRPr lang="en-US" sz="1600" dirty="0"/>
          </a:p>
        </p:txBody>
      </p:sp>
      <p:sp>
        <p:nvSpPr>
          <p:cNvPr id="16" name="grade:3"/>
          <p:cNvSpPr/>
          <p:nvPr/>
        </p:nvSpPr>
        <p:spPr>
          <a:xfrm>
            <a:off x="4023360" y="4347972"/>
            <a:ext cx="2011680" cy="402336"/>
          </a:xfrm>
          <a:prstGeom prst="roundRect">
            <a:avLst>
              <a:gd name="adj" fmla="val 50000"/>
            </a:avLst>
          </a:prstGeom>
          <a:solidFill>
            <a:srgbClr val="E5F5EC"/>
          </a:solidFill>
          <a:ln>
            <a:noFill/>
          </a:ln>
        </p:spPr>
        <p:txBody>
          <a:bodyPr wrap="square" lIns="36576" tIns="36576" rIns="36576" bIns="36576" anchor="ctr" rtlCol="0">
            <a:noAutofit/>
          </a:bodyPr>
          <a:lstStyle/>
          <a:p>
            <a:pPr algn="ctr">
              <a:spcAft>
                <a:spcPts val="0"/>
              </a:spcAft>
            </a:pPr>
            <a:r>
              <a:rPr lang="en-US" sz="1200" b="1" i="0" dirty="0">
                <a:solidFill>
                  <a:srgbClr val="111111"/>
                </a:solidFill>
                <a:latin typeface="Montserrat"/>
                <a:cs typeface="Montserrat"/>
              </a:rPr>
              <a:t>Overstated</a:t>
            </a:r>
            <a:endParaRPr lang="en-US" sz="1200" dirty="0"/>
          </a:p>
        </p:txBody>
      </p:sp>
      <p:sp>
        <p:nvSpPr>
          <p:cNvPr id="17" name="why:3"/>
          <p:cNvSpPr txBox="1"/>
          <p:nvPr/>
        </p:nvSpPr>
        <p:spPr>
          <a:xfrm>
            <a:off x="6309360" y="4114800"/>
            <a:ext cx="5212080" cy="868680"/>
          </a:xfrm>
          <a:prstGeom prst="rect">
            <a:avLst/>
          </a:prstGeom>
          <a:noFill/>
          <a:ln>
            <a:noFill/>
          </a:ln>
        </p:spPr>
        <p:txBody>
          <a:bodyPr wrap="square" lIns="0" tIns="0" rIns="0" bIns="0" anchor="ctr" rtlCol="0">
            <a:noAutofit/>
          </a:bodyPr>
          <a:lstStyle/>
          <a:p>
            <a:pPr algn="l">
              <a:lnSpc>
                <a:spcPct val="105000"/>
              </a:lnSpc>
              <a:spcAft>
                <a:spcPts val="0"/>
              </a:spcAft>
            </a:pPr>
            <a:r>
              <a:rPr lang="en-US" sz="1400" b="0" i="0" dirty="0">
                <a:solidFill>
                  <a:srgbClr val="505858"/>
                </a:solidFill>
                <a:latin typeface="Montserrat"/>
                <a:cs typeface="Montserrat"/>
              </a:rPr>
              <a:t>Smallest of the three, with 12.8% of traffic, and it has no page for sedation or anxious patients, where Larkspur is strongest.</a:t>
            </a:r>
            <a:endParaRPr lang="en-US" sz="1400" dirty="0"/>
          </a:p>
        </p:txBody>
      </p:sp>
      <p:sp>
        <p:nvSpPr>
          <p:cNvPr id="18"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19" name="chrome:logo"/>
          <p:cNvPicPr>
            <a:picLocks noChangeAspect="1"/>
          </p:cNvPicPr>
          <p:nvPr/>
        </p:nvPicPr>
        <p:blipFill>
          <a:blip r:embed="rIdImg1"/>
          <a:stretch>
            <a:fillRect/>
          </a:stretch>
        </p:blipFill>
        <p:spPr>
          <a:xfrm>
            <a:off x="640080" y="6400800"/>
            <a:ext cx="665018" cy="274320"/>
          </a:xfrm>
          <a:prstGeom prst="rect">
            <a:avLst/>
          </a:prstGeom>
        </p:spPr>
      </p:pic>
      <p:sp>
        <p:nvSpPr>
          <p:cNvPr id="20"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21"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What You'll Rank For</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Eight launch keywords target patients ready to book, starting with emergency care</a:t>
            </a:r>
            <a:endParaRPr lang="en-US" sz="2800" dirty="0"/>
          </a:p>
        </p:txBody>
      </p:sp>
      <p:graphicFrame>
        <p:nvGraphicFramePr>
          <p:cNvPr id="6" name="table"/>
          <p:cNvGraphicFramePr>
            <a:graphicFrameLocks noGrp="1"/>
          </p:cNvGraphicFramePr>
          <p:nvPr/>
        </p:nvGraphicFramePr>
        <p:xfrm>
          <a:off x="640080" y="2057400"/>
          <a:ext cx="10881360" cy="3749040"/>
        </p:xfrm>
        <a:graphic>
          <a:graphicData uri="http://schemas.openxmlformats.org/drawingml/2006/table">
            <a:tbl>
              <a:tblPr firstRow="1" bandRow="0"/>
              <a:tblGrid>
                <a:gridCol w="2418080"/>
                <a:gridCol w="1758604"/>
                <a:gridCol w="1538778"/>
                <a:gridCol w="1868516"/>
                <a:gridCol w="879302"/>
                <a:gridCol w="2418080"/>
              </a:tblGrid>
              <a:tr h="288388">
                <a:tc>
                  <a:txBody>
                    <a:bodyPr/>
                    <a:lstStyle/>
                    <a:p>
                      <a:pPr algn="l">
                        <a:spcAft>
                          <a:spcPts val="0"/>
                        </a:spcAft>
                      </a:pPr>
                      <a:r>
                        <a:rPr lang="en-US" sz="1000" b="1" i="0" dirty="0">
                          <a:solidFill>
                            <a:srgbClr val="FFFFFF"/>
                          </a:solidFill>
                          <a:latin typeface="Montserrat"/>
                          <a:cs typeface="Montserrat"/>
                        </a:rPr>
                        <a:t>Keyword</a:t>
                      </a:r>
                      <a:endParaRPr lang="en-US" sz="10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000" b="1" i="0" dirty="0">
                          <a:solidFill>
                            <a:srgbClr val="FFFFFF"/>
                          </a:solidFill>
                          <a:latin typeface="Montserrat"/>
                          <a:cs typeface="Montserrat"/>
                        </a:rPr>
                        <a:t>Monthly searches</a:t>
                      </a:r>
                      <a:endParaRPr lang="en-US" sz="10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000" b="1" i="0" dirty="0">
                          <a:solidFill>
                            <a:srgbClr val="FFFFFF"/>
                          </a:solidFill>
                          <a:latin typeface="Montserrat"/>
                          <a:cs typeface="Montserrat"/>
                        </a:rPr>
                        <a:t>Difficulty</a:t>
                      </a:r>
                      <a:endParaRPr lang="en-US" sz="10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000" b="1" i="0" dirty="0">
                          <a:solidFill>
                            <a:srgbClr val="FFFFFF"/>
                          </a:solidFill>
                          <a:latin typeface="Montserrat"/>
                          <a:cs typeface="Montserrat"/>
                        </a:rPr>
                        <a:t>Intent</a:t>
                      </a:r>
                      <a:endParaRPr lang="en-US" sz="10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000" b="1" i="0" dirty="0">
                          <a:solidFill>
                            <a:srgbClr val="FFFFFF"/>
                          </a:solidFill>
                          <a:latin typeface="Montserrat"/>
                          <a:cs typeface="Montserrat"/>
                        </a:rPr>
                        <a:t>Tier</a:t>
                      </a:r>
                      <a:endParaRPr lang="en-US" sz="10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000" b="1" i="0" dirty="0">
                          <a:solidFill>
                            <a:srgbClr val="FFFFFF"/>
                          </a:solidFill>
                          <a:latin typeface="Montserrat"/>
                          <a:cs typeface="Montserrat"/>
                        </a:rPr>
                        <a:t>Time to result</a:t>
                      </a:r>
                      <a:endParaRPr lang="en-US" sz="10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r>
              <a:tr h="288388">
                <a:tc>
                  <a:txBody>
                    <a:bodyPr/>
                    <a:lstStyle/>
                    <a:p>
                      <a:pPr algn="l">
                        <a:spcAft>
                          <a:spcPts val="0"/>
                        </a:spcAft>
                      </a:pPr>
                      <a:r>
                        <a:rPr lang="en-US" sz="1100" b="1" i="0" dirty="0">
                          <a:solidFill>
                            <a:srgbClr val="111111"/>
                          </a:solidFill>
                          <a:latin typeface="Montserrat"/>
                          <a:cs typeface="Montserrat"/>
                        </a:rPr>
                        <a:t>emergency dentist boise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1300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32</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transactional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1" i="0" dirty="0">
                          <a:solidFill>
                            <a:srgbClr val="FFFFFF"/>
                          </a:solidFill>
                          <a:latin typeface="Montserrat"/>
                          <a:cs typeface="Montserrat"/>
                        </a:rPr>
                        <a:t>Tier 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17A34"/>
                    </a:solidFill>
                  </a:tcPr>
                </a:tc>
                <a:tc>
                  <a:txBody>
                    <a:bodyPr/>
                    <a:lstStyle/>
                    <a:p>
                      <a:pPr algn="l">
                        <a:spcAft>
                          <a:spcPts val="0"/>
                        </a:spcAft>
                      </a:pPr>
                      <a:r>
                        <a:rPr lang="en-US" sz="1100" b="0" i="0" dirty="0">
                          <a:solidFill>
                            <a:srgbClr val="111111"/>
                          </a:solidFill>
                          <a:latin typeface="Montserrat"/>
                          <a:cs typeface="Montserrat"/>
                        </a:rPr>
                        <a:t>With the new site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288388">
                <a:tc>
                  <a:txBody>
                    <a:bodyPr/>
                    <a:lstStyle/>
                    <a:p>
                      <a:pPr algn="l">
                        <a:spcAft>
                          <a:spcPts val="0"/>
                        </a:spcAft>
                      </a:pPr>
                      <a:r>
                        <a:rPr lang="en-US" sz="1100" b="1" i="0" dirty="0">
                          <a:solidFill>
                            <a:srgbClr val="111111"/>
                          </a:solidFill>
                          <a:latin typeface="Montserrat"/>
                          <a:cs typeface="Montserrat"/>
                        </a:rPr>
                        <a:t>family dentist boise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720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28</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transactional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1" i="0" dirty="0">
                          <a:solidFill>
                            <a:srgbClr val="FFFFFF"/>
                          </a:solidFill>
                          <a:latin typeface="Montserrat"/>
                          <a:cs typeface="Montserrat"/>
                        </a:rPr>
                        <a:t>Tier 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17A34"/>
                    </a:solidFill>
                  </a:tcPr>
                </a:tc>
                <a:tc>
                  <a:txBody>
                    <a:bodyPr/>
                    <a:lstStyle/>
                    <a:p>
                      <a:pPr algn="l">
                        <a:spcAft>
                          <a:spcPts val="0"/>
                        </a:spcAft>
                      </a:pPr>
                      <a:r>
                        <a:rPr lang="en-US" sz="1100" b="0" i="0" dirty="0">
                          <a:solidFill>
                            <a:srgbClr val="111111"/>
                          </a:solidFill>
                          <a:latin typeface="Montserrat"/>
                          <a:cs typeface="Montserrat"/>
                        </a:rPr>
                        <a:t>With the new site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r h="288388">
                <a:tc>
                  <a:txBody>
                    <a:bodyPr/>
                    <a:lstStyle/>
                    <a:p>
                      <a:pPr algn="l">
                        <a:spcAft>
                          <a:spcPts val="0"/>
                        </a:spcAft>
                      </a:pPr>
                      <a:r>
                        <a:rPr lang="en-US" sz="1100" b="1" i="0" dirty="0">
                          <a:solidFill>
                            <a:srgbClr val="111111"/>
                          </a:solidFill>
                          <a:latin typeface="Montserrat"/>
                          <a:cs typeface="Montserrat"/>
                        </a:rPr>
                        <a:t>dental implants boise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880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44</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commercial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1" i="0" dirty="0">
                          <a:solidFill>
                            <a:srgbClr val="FFFFFF"/>
                          </a:solidFill>
                          <a:latin typeface="Montserrat"/>
                          <a:cs typeface="Montserrat"/>
                        </a:rPr>
                        <a:t>Tier 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17A34"/>
                    </a:solidFill>
                  </a:tcPr>
                </a:tc>
                <a:tc>
                  <a:txBody>
                    <a:bodyPr/>
                    <a:lstStyle/>
                    <a:p>
                      <a:pPr algn="l">
                        <a:spcAft>
                          <a:spcPts val="0"/>
                        </a:spcAft>
                      </a:pPr>
                      <a:r>
                        <a:rPr lang="en-US" sz="1100" b="0" i="0" dirty="0">
                          <a:solidFill>
                            <a:srgbClr val="111111"/>
                          </a:solidFill>
                          <a:latin typeface="Montserrat"/>
                          <a:cs typeface="Montserrat"/>
                        </a:rPr>
                        <a:t>With the new site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288388">
                <a:tc>
                  <a:txBody>
                    <a:bodyPr/>
                    <a:lstStyle/>
                    <a:p>
                      <a:pPr algn="l">
                        <a:spcAft>
                          <a:spcPts val="0"/>
                        </a:spcAft>
                      </a:pPr>
                      <a:r>
                        <a:rPr lang="en-US" sz="1100" b="1" i="0" dirty="0">
                          <a:solidFill>
                            <a:srgbClr val="111111"/>
                          </a:solidFill>
                          <a:latin typeface="Montserrat"/>
                          <a:cs typeface="Montserrat"/>
                        </a:rPr>
                        <a:t>sedation dentistry boise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210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21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transactional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1" i="0" dirty="0">
                          <a:solidFill>
                            <a:srgbClr val="FFFFFF"/>
                          </a:solidFill>
                          <a:latin typeface="Montserrat"/>
                          <a:cs typeface="Montserrat"/>
                        </a:rPr>
                        <a:t>Tier 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17A34"/>
                    </a:solidFill>
                  </a:tcPr>
                </a:tc>
                <a:tc>
                  <a:txBody>
                    <a:bodyPr/>
                    <a:lstStyle/>
                    <a:p>
                      <a:pPr algn="l">
                        <a:spcAft>
                          <a:spcPts val="0"/>
                        </a:spcAft>
                      </a:pPr>
                      <a:r>
                        <a:rPr lang="en-US" sz="1100" b="0" i="0" dirty="0">
                          <a:solidFill>
                            <a:srgbClr val="111111"/>
                          </a:solidFill>
                          <a:latin typeface="Montserrat"/>
                          <a:cs typeface="Montserrat"/>
                        </a:rPr>
                        <a:t>With the new site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r h="288388">
                <a:tc>
                  <a:txBody>
                    <a:bodyPr/>
                    <a:lstStyle/>
                    <a:p>
                      <a:pPr algn="l">
                        <a:spcAft>
                          <a:spcPts val="0"/>
                        </a:spcAft>
                      </a:pPr>
                      <a:r>
                        <a:rPr lang="en-US" sz="1100" b="1" i="0" dirty="0">
                          <a:solidFill>
                            <a:srgbClr val="111111"/>
                          </a:solidFill>
                          <a:latin typeface="Montserrat"/>
                          <a:cs typeface="Montserrat"/>
                        </a:rPr>
                        <a:t>dentist meridian idaho</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1600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37</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transactional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1" i="0" dirty="0">
                          <a:solidFill>
                            <a:srgbClr val="FFFFFF"/>
                          </a:solidFill>
                          <a:latin typeface="Montserrat"/>
                          <a:cs typeface="Montserrat"/>
                        </a:rPr>
                        <a:t>Tier 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17A34"/>
                    </a:solidFill>
                  </a:tcPr>
                </a:tc>
                <a:tc>
                  <a:txBody>
                    <a:bodyPr/>
                    <a:lstStyle/>
                    <a:p>
                      <a:pPr algn="l">
                        <a:spcAft>
                          <a:spcPts val="0"/>
                        </a:spcAft>
                      </a:pPr>
                      <a:r>
                        <a:rPr lang="en-US" sz="1100" b="0" i="0" dirty="0">
                          <a:solidFill>
                            <a:srgbClr val="111111"/>
                          </a:solidFill>
                          <a:latin typeface="Montserrat"/>
                          <a:cs typeface="Montserrat"/>
                        </a:rPr>
                        <a:t>With the new site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288388">
                <a:tc>
                  <a:txBody>
                    <a:bodyPr/>
                    <a:lstStyle/>
                    <a:p>
                      <a:pPr algn="l">
                        <a:spcAft>
                          <a:spcPts val="0"/>
                        </a:spcAft>
                      </a:pPr>
                      <a:r>
                        <a:rPr lang="en-US" sz="1100" b="1" i="0" dirty="0">
                          <a:solidFill>
                            <a:srgbClr val="111111"/>
                          </a:solidFill>
                          <a:latin typeface="Montserrat"/>
                          <a:cs typeface="Montserrat"/>
                        </a:rPr>
                        <a:t>pediatric dentist boise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1000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39</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transactional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1" i="0" dirty="0">
                          <a:solidFill>
                            <a:srgbClr val="FFFFFF"/>
                          </a:solidFill>
                          <a:latin typeface="Montserrat"/>
                          <a:cs typeface="Montserrat"/>
                        </a:rPr>
                        <a:t>Tier 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17A34"/>
                    </a:solidFill>
                  </a:tcPr>
                </a:tc>
                <a:tc>
                  <a:txBody>
                    <a:bodyPr/>
                    <a:lstStyle/>
                    <a:p>
                      <a:pPr algn="l">
                        <a:spcAft>
                          <a:spcPts val="0"/>
                        </a:spcAft>
                      </a:pPr>
                      <a:r>
                        <a:rPr lang="en-US" sz="1100" b="0" i="0" dirty="0">
                          <a:solidFill>
                            <a:srgbClr val="111111"/>
                          </a:solidFill>
                          <a:latin typeface="Montserrat"/>
                          <a:cs typeface="Montserrat"/>
                        </a:rPr>
                        <a:t>With the new site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r h="288388">
                <a:tc>
                  <a:txBody>
                    <a:bodyPr/>
                    <a:lstStyle/>
                    <a:p>
                      <a:pPr algn="l">
                        <a:spcAft>
                          <a:spcPts val="0"/>
                        </a:spcAft>
                      </a:pPr>
                      <a:r>
                        <a:rPr lang="en-US" sz="1100" b="1" i="0" dirty="0">
                          <a:solidFill>
                            <a:srgbClr val="111111"/>
                          </a:solidFill>
                          <a:latin typeface="Montserrat"/>
                          <a:cs typeface="Montserrat"/>
                        </a:rPr>
                        <a:t>invisalign boise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590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42</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commercial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1" i="0" dirty="0">
                          <a:solidFill>
                            <a:srgbClr val="FFFFFF"/>
                          </a:solidFill>
                          <a:latin typeface="Montserrat"/>
                          <a:cs typeface="Montserrat"/>
                        </a:rPr>
                        <a:t>Tier 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17A34"/>
                    </a:solidFill>
                  </a:tcPr>
                </a:tc>
                <a:tc>
                  <a:txBody>
                    <a:bodyPr/>
                    <a:lstStyle/>
                    <a:p>
                      <a:pPr algn="l">
                        <a:spcAft>
                          <a:spcPts val="0"/>
                        </a:spcAft>
                      </a:pPr>
                      <a:r>
                        <a:rPr lang="en-US" sz="1100" b="0" i="0" dirty="0">
                          <a:solidFill>
                            <a:srgbClr val="111111"/>
                          </a:solidFill>
                          <a:latin typeface="Montserrat"/>
                          <a:cs typeface="Montserrat"/>
                        </a:rPr>
                        <a:t>With the new site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288388">
                <a:tc>
                  <a:txBody>
                    <a:bodyPr/>
                    <a:lstStyle/>
                    <a:p>
                      <a:pPr algn="l">
                        <a:spcAft>
                          <a:spcPts val="0"/>
                        </a:spcAft>
                      </a:pPr>
                      <a:r>
                        <a:rPr lang="en-US" sz="1100" b="1" i="0" dirty="0">
                          <a:solidFill>
                            <a:srgbClr val="111111"/>
                          </a:solidFill>
                          <a:latin typeface="Montserrat"/>
                          <a:cs typeface="Montserrat"/>
                        </a:rPr>
                        <a:t>teeth whitening boise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480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26</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commercial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1" i="0" dirty="0">
                          <a:solidFill>
                            <a:srgbClr val="FFFFFF"/>
                          </a:solidFill>
                          <a:latin typeface="Montserrat"/>
                          <a:cs typeface="Montserrat"/>
                        </a:rPr>
                        <a:t>Tier 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17A34"/>
                    </a:solidFill>
                  </a:tcPr>
                </a:tc>
                <a:tc>
                  <a:txBody>
                    <a:bodyPr/>
                    <a:lstStyle/>
                    <a:p>
                      <a:pPr algn="l">
                        <a:spcAft>
                          <a:spcPts val="0"/>
                        </a:spcAft>
                      </a:pPr>
                      <a:r>
                        <a:rPr lang="en-US" sz="1100" b="0" i="0" dirty="0">
                          <a:solidFill>
                            <a:srgbClr val="111111"/>
                          </a:solidFill>
                          <a:latin typeface="Montserrat"/>
                          <a:cs typeface="Montserrat"/>
                        </a:rPr>
                        <a:t>With the new site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r h="288388">
                <a:tc>
                  <a:txBody>
                    <a:bodyPr/>
                    <a:lstStyle/>
                    <a:p>
                      <a:pPr algn="l">
                        <a:spcAft>
                          <a:spcPts val="0"/>
                        </a:spcAft>
                      </a:pPr>
                      <a:r>
                        <a:rPr lang="en-US" sz="1100" b="1" i="0" dirty="0">
                          <a:solidFill>
                            <a:srgbClr val="111111"/>
                          </a:solidFill>
                          <a:latin typeface="Montserrat"/>
                          <a:cs typeface="Montserrat"/>
                        </a:rPr>
                        <a:t>dentist boise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6600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61</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transactional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1" i="0" dirty="0">
                          <a:solidFill>
                            <a:srgbClr val="111111"/>
                          </a:solidFill>
                          <a:latin typeface="Montserrat"/>
                          <a:cs typeface="Montserrat"/>
                        </a:rPr>
                        <a:t>Tier 2</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E5F5EC"/>
                    </a:solidFill>
                  </a:tcPr>
                </a:tc>
                <a:tc>
                  <a:txBody>
                    <a:bodyPr/>
                    <a:lstStyle/>
                    <a:p>
                      <a:pPr algn="l">
                        <a:spcAft>
                          <a:spcPts val="0"/>
                        </a:spcAft>
                      </a:pPr>
                      <a:r>
                        <a:rPr lang="en-US" sz="1100" b="0" i="0" dirty="0">
                          <a:solidFill>
                            <a:srgbClr val="111111"/>
                          </a:solidFill>
                          <a:latin typeface="Montserrat"/>
                          <a:cs typeface="Montserrat"/>
                        </a:rPr>
                        <a:t>Months 1 to 3</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288388">
                <a:tc>
                  <a:txBody>
                    <a:bodyPr/>
                    <a:lstStyle/>
                    <a:p>
                      <a:pPr algn="l">
                        <a:spcAft>
                          <a:spcPts val="0"/>
                        </a:spcAft>
                      </a:pPr>
                      <a:r>
                        <a:rPr lang="en-US" sz="1100" b="1" i="0" dirty="0">
                          <a:solidFill>
                            <a:srgbClr val="111111"/>
                          </a:solidFill>
                          <a:latin typeface="Montserrat"/>
                          <a:cs typeface="Montserrat"/>
                        </a:rPr>
                        <a:t>how much do dental implants cost</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9900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48</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informational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1" i="0" dirty="0">
                          <a:solidFill>
                            <a:srgbClr val="111111"/>
                          </a:solidFill>
                          <a:latin typeface="Montserrat"/>
                          <a:cs typeface="Montserrat"/>
                        </a:rPr>
                        <a:t>Tier 2</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E5F5EC"/>
                    </a:solidFill>
                  </a:tcPr>
                </a:tc>
                <a:tc>
                  <a:txBody>
                    <a:bodyPr/>
                    <a:lstStyle/>
                    <a:p>
                      <a:pPr algn="l">
                        <a:spcAft>
                          <a:spcPts val="0"/>
                        </a:spcAft>
                      </a:pPr>
                      <a:r>
                        <a:rPr lang="en-US" sz="1100" b="0" i="0" dirty="0">
                          <a:solidFill>
                            <a:srgbClr val="111111"/>
                          </a:solidFill>
                          <a:latin typeface="Montserrat"/>
                          <a:cs typeface="Montserrat"/>
                        </a:rPr>
                        <a:t>Months 1 to 3</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r h="288388">
                <a:tc>
                  <a:txBody>
                    <a:bodyPr/>
                    <a:lstStyle/>
                    <a:p>
                      <a:pPr algn="l">
                        <a:spcAft>
                          <a:spcPts val="0"/>
                        </a:spcAft>
                      </a:pPr>
                      <a:r>
                        <a:rPr lang="en-US" sz="1100" b="1" i="0" dirty="0">
                          <a:solidFill>
                            <a:srgbClr val="111111"/>
                          </a:solidFill>
                          <a:latin typeface="Montserrat"/>
                          <a:cs typeface="Montserrat"/>
                        </a:rPr>
                        <a:t>what to do for a cracked tooth</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2900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17</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0" i="0" dirty="0">
                          <a:solidFill>
                            <a:srgbClr val="111111"/>
                          </a:solidFill>
                          <a:latin typeface="Montserrat"/>
                          <a:cs typeface="Montserrat"/>
                        </a:rPr>
                        <a:t>informational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100" b="1" i="0" dirty="0">
                          <a:solidFill>
                            <a:srgbClr val="111111"/>
                          </a:solidFill>
                          <a:latin typeface="Montserrat"/>
                          <a:cs typeface="Montserrat"/>
                        </a:rPr>
                        <a:t>Tier 2</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E5F5EC"/>
                    </a:solidFill>
                  </a:tcPr>
                </a:tc>
                <a:tc>
                  <a:txBody>
                    <a:bodyPr/>
                    <a:lstStyle/>
                    <a:p>
                      <a:pPr algn="l">
                        <a:spcAft>
                          <a:spcPts val="0"/>
                        </a:spcAft>
                      </a:pPr>
                      <a:r>
                        <a:rPr lang="en-US" sz="1100" b="0" i="0" dirty="0">
                          <a:solidFill>
                            <a:srgbClr val="111111"/>
                          </a:solidFill>
                          <a:latin typeface="Montserrat"/>
                          <a:cs typeface="Montserrat"/>
                        </a:rPr>
                        <a:t>Months 1 to 3</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288388">
                <a:tc>
                  <a:txBody>
                    <a:bodyPr/>
                    <a:lstStyle/>
                    <a:p>
                      <a:pPr algn="l">
                        <a:spcAft>
                          <a:spcPts val="0"/>
                        </a:spcAft>
                      </a:pPr>
                      <a:r>
                        <a:rPr lang="en-US" sz="1100" b="1" i="0" dirty="0">
                          <a:solidFill>
                            <a:srgbClr val="111111"/>
                          </a:solidFill>
                          <a:latin typeface="Montserrat"/>
                          <a:cs typeface="Montserrat"/>
                        </a:rPr>
                        <a:t>are dental x rays safe</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1900</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22</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informational</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1" i="0" dirty="0">
                          <a:solidFill>
                            <a:srgbClr val="111111"/>
                          </a:solidFill>
                          <a:latin typeface="Montserrat"/>
                          <a:cs typeface="Montserrat"/>
                        </a:rPr>
                        <a:t>Tier 3</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100" b="0" i="0" dirty="0">
                          <a:solidFill>
                            <a:srgbClr val="111111"/>
                          </a:solidFill>
                          <a:latin typeface="Montserrat"/>
                          <a:cs typeface="Montserrat"/>
                        </a:rPr>
                        <a:t>Months 4 to 6 and beyond</a:t>
                      </a:r>
                      <a:endParaRPr lang="en-US" sz="11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bl>
          </a:graphicData>
        </a:graphic>
      </p:graphicFrame>
      <p:sp>
        <p:nvSpPr>
          <p:cNvPr id="7" name="caption"/>
          <p:cNvSpPr txBox="1"/>
          <p:nvPr/>
        </p:nvSpPr>
        <p:spPr>
          <a:xfrm>
            <a:off x="640080" y="5943600"/>
            <a:ext cx="10881360" cy="320040"/>
          </a:xfrm>
          <a:prstGeom prst="rect">
            <a:avLst/>
          </a:prstGeom>
          <a:noFill/>
          <a:ln>
            <a:noFill/>
          </a:ln>
        </p:spPr>
        <p:txBody>
          <a:bodyPr wrap="square" lIns="0" tIns="0" rIns="0" bIns="0" anchor="t" rtlCol="0">
            <a:noAutofit/>
          </a:bodyPr>
          <a:lstStyle/>
          <a:p>
            <a:pPr algn="l">
              <a:spcAft>
                <a:spcPts val="0"/>
              </a:spcAft>
            </a:pPr>
            <a:r>
              <a:rPr lang="en-US" sz="1100" b="0" i="0" dirty="0">
                <a:solidFill>
                  <a:srgbClr val="505858"/>
                </a:solidFill>
                <a:latin typeface="Montserrat"/>
                <a:cs typeface="Montserrat"/>
              </a:rPr>
              <a:t>Monthly searches and difficulty from our keyword research.</a:t>
            </a:r>
            <a:endParaRPr lang="en-US" sz="1100" dirty="0"/>
          </a:p>
        </p:txBody>
      </p:sp>
      <p:sp>
        <p:nvSpPr>
          <p:cNvPr id="8"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9" name="chrome:logo"/>
          <p:cNvPicPr>
            <a:picLocks noChangeAspect="1"/>
          </p:cNvPicPr>
          <p:nvPr/>
        </p:nvPicPr>
        <p:blipFill>
          <a:blip r:embed="rIdImg1"/>
          <a:stretch>
            <a:fillRect/>
          </a:stretch>
        </p:blipFill>
        <p:spPr>
          <a:xfrm>
            <a:off x="640080" y="6400800"/>
            <a:ext cx="665018" cy="274320"/>
          </a:xfrm>
          <a:prstGeom prst="rect">
            <a:avLst/>
          </a:prstGeom>
        </p:spPr>
      </p:pic>
      <p:sp>
        <p:nvSpPr>
          <p:cNvPr id="10"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1"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Why Your Top Keyword Isn't Month One</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The biggest prize, dentist boise, needs authority the new domain does not have yet</a:t>
            </a:r>
            <a:endParaRPr lang="en-US" sz="2800" dirty="0"/>
          </a:p>
        </p:txBody>
      </p:sp>
      <p:sp>
        <p:nvSpPr>
          <p:cNvPr id="6" name="chrome:card"/>
          <p:cNvSpPr/>
          <p:nvPr/>
        </p:nvSpPr>
        <p:spPr>
          <a:xfrm>
            <a:off x="640080" y="2194560"/>
            <a:ext cx="4206240" cy="374904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7" name="keyword"/>
          <p:cNvSpPr txBox="1"/>
          <p:nvPr/>
        </p:nvSpPr>
        <p:spPr>
          <a:xfrm>
            <a:off x="914400" y="2423160"/>
            <a:ext cx="3657600" cy="822960"/>
          </a:xfrm>
          <a:prstGeom prst="rect">
            <a:avLst/>
          </a:prstGeom>
          <a:noFill/>
          <a:ln>
            <a:noFill/>
          </a:ln>
        </p:spPr>
        <p:txBody>
          <a:bodyPr wrap="square" lIns="0" tIns="0" rIns="0" bIns="0" anchor="t" rtlCol="0">
            <a:noAutofit/>
          </a:bodyPr>
          <a:lstStyle/>
          <a:p>
            <a:pPr algn="l">
              <a:spcAft>
                <a:spcPts val="0"/>
              </a:spcAft>
            </a:pPr>
            <a:r>
              <a:rPr lang="en-US" sz="1800" b="1" i="0" dirty="0">
                <a:solidFill>
                  <a:srgbClr val="111111"/>
                </a:solidFill>
                <a:latin typeface="Montserrat"/>
                <a:cs typeface="Montserrat"/>
              </a:rPr>
              <a:t>dentist boise</a:t>
            </a:r>
            <a:endParaRPr lang="en-US" sz="1800" dirty="0"/>
          </a:p>
        </p:txBody>
      </p:sp>
      <p:sp>
        <p:nvSpPr>
          <p:cNvPr id="8" name="stat:1"/>
          <p:cNvSpPr txBox="1"/>
          <p:nvPr/>
        </p:nvSpPr>
        <p:spPr>
          <a:xfrm>
            <a:off x="914400" y="3246120"/>
            <a:ext cx="3657600" cy="1188720"/>
          </a:xfrm>
          <a:prstGeom prst="rect">
            <a:avLst/>
          </a:prstGeom>
          <a:noFill/>
          <a:ln>
            <a:noFill/>
          </a:ln>
        </p:spPr>
        <p:txBody>
          <a:bodyPr wrap="square" lIns="0" tIns="0" rIns="0" bIns="0" anchor="b" rtlCol="0">
            <a:noAutofit/>
          </a:bodyPr>
          <a:lstStyle/>
          <a:p>
            <a:pPr algn="l">
              <a:spcAft>
                <a:spcPts val="0"/>
              </a:spcAft>
            </a:pPr>
            <a:r>
              <a:rPr lang="en-US" sz="5400" b="1" i="0" dirty="0">
                <a:solidFill>
                  <a:srgbClr val="017A34"/>
                </a:solidFill>
                <a:latin typeface="Montserrat"/>
                <a:cs typeface="Montserrat"/>
              </a:rPr>
              <a:t>6,600</a:t>
            </a:r>
            <a:endParaRPr lang="en-US" sz="5400" dirty="0"/>
          </a:p>
        </p:txBody>
      </p:sp>
      <p:sp>
        <p:nvSpPr>
          <p:cNvPr id="9" name="caption:1"/>
          <p:cNvSpPr txBox="1"/>
          <p:nvPr/>
        </p:nvSpPr>
        <p:spPr>
          <a:xfrm>
            <a:off x="914400" y="4480560"/>
            <a:ext cx="3657600" cy="731520"/>
          </a:xfrm>
          <a:prstGeom prst="rect">
            <a:avLst/>
          </a:prstGeom>
          <a:noFill/>
          <a:ln>
            <a:noFill/>
          </a:ln>
        </p:spPr>
        <p:txBody>
          <a:bodyPr wrap="square" lIns="0" tIns="0" rIns="0" bIns="0" anchor="t" rtlCol="0">
            <a:noAutofit/>
          </a:bodyPr>
          <a:lstStyle/>
          <a:p>
            <a:pPr algn="l">
              <a:spcAft>
                <a:spcPts val="0"/>
              </a:spcAft>
            </a:pPr>
            <a:r>
              <a:rPr lang="en-US" sz="1400" b="0" i="0" dirty="0">
                <a:solidFill>
                  <a:srgbClr val="505858"/>
                </a:solidFill>
                <a:latin typeface="Montserrat"/>
                <a:cs typeface="Montserrat"/>
              </a:rPr>
              <a:t>monthly searches for dentist boise</a:t>
            </a:r>
            <a:endParaRPr lang="en-US" sz="1400" dirty="0"/>
          </a:p>
        </p:txBody>
      </p:sp>
      <p:sp>
        <p:nvSpPr>
          <p:cNvPr id="10" name="tier"/>
          <p:cNvSpPr txBox="1"/>
          <p:nvPr/>
        </p:nvSpPr>
        <p:spPr>
          <a:xfrm>
            <a:off x="914400" y="5257800"/>
            <a:ext cx="3657600" cy="457200"/>
          </a:xfrm>
          <a:prstGeom prst="rect">
            <a:avLst/>
          </a:prstGeom>
          <a:noFill/>
          <a:ln>
            <a:noFill/>
          </a:ln>
        </p:spPr>
        <p:txBody>
          <a:bodyPr wrap="square" lIns="0" tIns="0" rIns="0" bIns="0" anchor="t" rtlCol="0">
            <a:noAutofit/>
          </a:bodyPr>
          <a:lstStyle/>
          <a:p>
            <a:pPr algn="l">
              <a:spcAft>
                <a:spcPts val="0"/>
              </a:spcAft>
            </a:pPr>
            <a:r>
              <a:rPr lang="en-US" sz="1400" b="1" i="0" dirty="0">
                <a:solidFill>
                  <a:srgbClr val="111111"/>
                </a:solidFill>
                <a:latin typeface="Montserrat"/>
                <a:cs typeface="Montserrat"/>
              </a:rPr>
              <a:t>Tier 2, months 1 to 3 after launch</a:t>
            </a:r>
            <a:endParaRPr lang="en-US" sz="1400" dirty="0"/>
          </a:p>
        </p:txBody>
      </p:sp>
      <p:sp>
        <p:nvSpPr>
          <p:cNvPr id="11" name="points"/>
          <p:cNvSpPr txBox="1"/>
          <p:nvPr/>
        </p:nvSpPr>
        <p:spPr>
          <a:xfrm>
            <a:off x="5303520" y="2286000"/>
            <a:ext cx="6217920" cy="3657600"/>
          </a:xfrm>
          <a:prstGeom prst="rect">
            <a:avLst/>
          </a:prstGeom>
          <a:noFill/>
          <a:ln>
            <a:noFill/>
          </a:ln>
        </p:spPr>
        <p:txBody>
          <a:bodyPr wrap="square" lIns="0" tIns="0" rIns="0" bIns="0" anchor="t" rtlCol="0">
            <a:noAutofit/>
          </a:bodyPr>
          <a:lstStyle/>
          <a:p>
            <a:pPr algn="l">
              <a:lnSpc>
                <a:spcPct val="110000"/>
              </a:lnSpc>
              <a:spcAft>
                <a:spcPts val="800"/>
              </a:spcAft>
            </a:pPr>
            <a:r>
              <a:rPr lang="en-US" sz="1700" b="0" i="0" dirty="0">
                <a:solidFill>
                  <a:srgbClr val="017A34"/>
                </a:solidFill>
                <a:latin typeface="Montserrat"/>
                <a:cs typeface="Montserrat"/>
              </a:rPr>
              <a:t>▪  </a:t>
            </a:r>
            <a:r>
              <a:rPr lang="en-US" sz="1700" b="0" i="0" dirty="0">
                <a:solidFill>
                  <a:srgbClr val="505858"/>
                </a:solidFill>
                <a:latin typeface="Montserrat"/>
                <a:cs typeface="Montserrat"/>
              </a:rPr>
              <a:t>It is the biggest prize but needs authority the domain does not have yet.</a:t>
            </a:r>
            <a:endParaRPr lang="en-US" sz="1700" dirty="0"/>
          </a:p>
          <a:p>
            <a:pPr algn="l">
              <a:lnSpc>
                <a:spcPct val="110000"/>
              </a:lnSpc>
              <a:spcAft>
                <a:spcPts val="800"/>
              </a:spcAft>
            </a:pPr>
            <a:r>
              <a:rPr lang="en-US" sz="1700" b="0" i="0" dirty="0">
                <a:solidFill>
                  <a:srgbClr val="017A34"/>
                </a:solidFill>
                <a:latin typeface="Montserrat"/>
                <a:cs typeface="Montserrat"/>
              </a:rPr>
              <a:t>▪  </a:t>
            </a:r>
            <a:r>
              <a:rPr lang="en-US" sz="1700" b="0" i="0" dirty="0">
                <a:solidFill>
                  <a:srgbClr val="505858"/>
                </a:solidFill>
                <a:latin typeface="Montserrat"/>
                <a:cs typeface="Montserrat"/>
              </a:rPr>
              <a:t>The service pages come first, then authority is built behind them.</a:t>
            </a:r>
            <a:endParaRPr lang="en-US" sz="1700" dirty="0"/>
          </a:p>
          <a:p>
            <a:pPr algn="l">
              <a:lnSpc>
                <a:spcPct val="110000"/>
              </a:lnSpc>
              <a:spcAft>
                <a:spcPts val="800"/>
              </a:spcAft>
            </a:pPr>
            <a:r>
              <a:rPr lang="en-US" sz="1700" b="0" i="0" dirty="0">
                <a:solidFill>
                  <a:srgbClr val="017A34"/>
                </a:solidFill>
                <a:latin typeface="Montserrat"/>
                <a:cs typeface="Montserrat"/>
              </a:rPr>
              <a:t>▪  </a:t>
            </a:r>
            <a:r>
              <a:rPr lang="en-US" sz="1700" b="0" i="0" dirty="0">
                <a:solidFill>
                  <a:srgbClr val="505858"/>
                </a:solidFill>
                <a:latin typeface="Montserrat"/>
                <a:cs typeface="Montserrat"/>
              </a:rPr>
              <a:t>We treat it as a longer-term goal, not a launch promise.</a:t>
            </a:r>
            <a:endParaRPr lang="en-US" sz="1700" dirty="0"/>
          </a:p>
        </p:txBody>
      </p:sp>
      <p:sp>
        <p:nvSpPr>
          <p:cNvPr id="12"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13" name="chrome:logo"/>
          <p:cNvPicPr>
            <a:picLocks noChangeAspect="1"/>
          </p:cNvPicPr>
          <p:nvPr/>
        </p:nvPicPr>
        <p:blipFill>
          <a:blip r:embed="rIdImg1"/>
          <a:stretch>
            <a:fillRect/>
          </a:stretch>
        </p:blipFill>
        <p:spPr>
          <a:xfrm>
            <a:off x="640080" y="6400800"/>
            <a:ext cx="665018" cy="274320"/>
          </a:xfrm>
          <a:prstGeom prst="rect">
            <a:avLst/>
          </a:prstGeom>
        </p:spPr>
      </p:pic>
      <p:sp>
        <p:nvSpPr>
          <p:cNvPr id="14"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5"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0506"/>
            </a:gs>
            <a:gs pos="100000">
              <a:srgbClr val="061012"/>
            </a:gs>
          </a:gsLst>
          <a:lin ang="5400000" scaled="0"/>
        </a:gradFill>
        <a:effectLst/>
      </p:bgPr>
    </p:bg>
    <p:spTree>
      <p:nvGrpSpPr>
        <p:cNvPr id="1" name=""/>
        <p:cNvGrpSpPr/>
        <p:nvPr/>
      </p:nvGrpSpPr>
      <p:grpSpPr>
        <a:xfrm>
          <a:off x="0" y="0"/>
          <a:ext cx="0" cy="0"/>
          <a:chOff x="0" y="0"/>
          <a:chExt cx="0" cy="0"/>
        </a:xfrm>
      </p:grpSpPr>
      <p:sp>
        <p:nvSpPr>
          <p:cNvPr id="3" name="chrome:divnum"/>
          <p:cNvSpPr txBox="1"/>
          <p:nvPr/>
        </p:nvSpPr>
        <p:spPr>
          <a:xfrm>
            <a:off x="640080" y="1828800"/>
            <a:ext cx="3657600" cy="1097280"/>
          </a:xfrm>
          <a:prstGeom prst="rect">
            <a:avLst/>
          </a:prstGeom>
          <a:noFill/>
          <a:ln>
            <a:noFill/>
          </a:ln>
        </p:spPr>
        <p:txBody>
          <a:bodyPr wrap="square" lIns="0" tIns="0" rIns="0" bIns="0" anchor="t" rtlCol="0">
            <a:noAutofit/>
          </a:bodyPr>
          <a:lstStyle/>
          <a:p>
            <a:pPr algn="l">
              <a:spcAft>
                <a:spcPts val="0"/>
              </a:spcAft>
            </a:pPr>
            <a:r>
              <a:rPr lang="en-US" sz="6600" b="1" i="0" dirty="0">
                <a:solidFill>
                  <a:srgbClr val="4DBC7C"/>
                </a:solidFill>
                <a:latin typeface="Montserrat"/>
                <a:cs typeface="Montserrat"/>
              </a:rPr>
              <a:t>02</a:t>
            </a:r>
            <a:endParaRPr lang="en-US" sz="6600" dirty="0"/>
          </a:p>
        </p:txBody>
      </p:sp>
      <p:sp>
        <p:nvSpPr>
          <p:cNvPr id="4" name="chrome:accent"/>
          <p:cNvSpPr/>
          <p:nvPr/>
        </p:nvSpPr>
        <p:spPr>
          <a:xfrm>
            <a:off x="640080" y="3063240"/>
            <a:ext cx="822960" cy="64008"/>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5" name="headline"/>
          <p:cNvSpPr txBox="1"/>
          <p:nvPr/>
        </p:nvSpPr>
        <p:spPr>
          <a:xfrm>
            <a:off x="640080" y="3291840"/>
            <a:ext cx="10515600" cy="1371600"/>
          </a:xfrm>
          <a:prstGeom prst="rect">
            <a:avLst/>
          </a:prstGeom>
          <a:noFill/>
          <a:ln>
            <a:noFill/>
          </a:ln>
        </p:spPr>
        <p:txBody>
          <a:bodyPr wrap="square" lIns="0" tIns="0" rIns="0" bIns="0" anchor="t" rtlCol="0">
            <a:noAutofit/>
          </a:bodyPr>
          <a:lstStyle/>
          <a:p>
            <a:pPr algn="l">
              <a:spcAft>
                <a:spcPts val="0"/>
              </a:spcAft>
            </a:pPr>
            <a:r>
              <a:rPr lang="en-US" sz="4000" b="1" i="0" dirty="0">
                <a:solidFill>
                  <a:srgbClr val="FFFFFF"/>
                </a:solidFill>
                <a:latin typeface="Montserrat"/>
                <a:cs typeface="Montserrat"/>
              </a:rPr>
              <a:t>The plan</a:t>
            </a:r>
            <a:endParaRPr lang="en-US" sz="4000" dirty="0"/>
          </a:p>
        </p:txBody>
      </p:sp>
      <p:sp>
        <p:nvSpPr>
          <p:cNvPr id="6" name="chrome:rule"/>
          <p:cNvSpPr/>
          <p:nvPr/>
        </p:nvSpPr>
        <p:spPr>
          <a:xfrm>
            <a:off x="640080" y="6327648"/>
            <a:ext cx="10908792" cy="9144"/>
          </a:xfrm>
          <a:prstGeom prst="rect">
            <a:avLst/>
          </a:prstGeom>
          <a:solidFill>
            <a:srgbClr val="051011"/>
          </a:solidFill>
          <a:ln>
            <a:noFill/>
          </a:ln>
        </p:spPr>
        <p:txBody>
          <a:bodyPr wrap="square" lIns="73152" tIns="73152" rIns="73152" bIns="73152" anchor="t" rtlCol="0">
            <a:noAutofit/>
          </a:bodyPr>
          <a:lstStyle/>
          <a:p>
            <a:endParaRPr lang="en-US" dirty="0"/>
          </a:p>
        </p:txBody>
      </p:sp>
      <p:sp>
        <p:nvSpPr>
          <p:cNvPr id="7"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CCCCCC"/>
                </a:solidFill>
                <a:latin typeface="Montserrat"/>
                <a:cs typeface="Montserrat"/>
              </a:rPr>
              <a:t>Larkspur Family Dental  |  Growth Blueprint</a:t>
            </a:r>
            <a:endParaRPr lang="en-US" sz="1000" dirty="0"/>
          </a:p>
        </p:txBody>
      </p:sp>
      <p:sp>
        <p:nvSpPr>
          <p:cNvPr id="8"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CCCCCC"/>
                </a:solidFill>
                <a:latin typeface="Montserrat"/>
                <a:cs typeface="Montserrat"/>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How You'll Be Positioned</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Same-day emergency care is what sets Larkspur apart from every Boise competitor</a:t>
            </a:r>
            <a:endParaRPr lang="en-US" sz="2800" dirty="0"/>
          </a:p>
        </p:txBody>
      </p:sp>
      <p:sp>
        <p:nvSpPr>
          <p:cNvPr id="6" name="chrome:card"/>
          <p:cNvSpPr/>
          <p:nvPr/>
        </p:nvSpPr>
        <p:spPr>
          <a:xfrm>
            <a:off x="640080" y="2148840"/>
            <a:ext cx="3444240" cy="192024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7" name="point:1"/>
          <p:cNvSpPr txBox="1"/>
          <p:nvPr/>
        </p:nvSpPr>
        <p:spPr>
          <a:xfrm>
            <a:off x="914400" y="2377440"/>
            <a:ext cx="2895600" cy="1554480"/>
          </a:xfrm>
          <a:prstGeom prst="rect">
            <a:avLst/>
          </a:prstGeom>
          <a:noFill/>
          <a:ln>
            <a:noFill/>
          </a:ln>
        </p:spPr>
        <p:txBody>
          <a:bodyPr wrap="square" lIns="0" tIns="0" rIns="0" bIns="0" anchor="t" rtlCol="0">
            <a:noAutofit/>
          </a:bodyPr>
          <a:lstStyle/>
          <a:p>
            <a:pPr algn="l">
              <a:lnSpc>
                <a:spcPct val="110000"/>
              </a:lnSpc>
              <a:spcAft>
                <a:spcPts val="0"/>
              </a:spcAft>
            </a:pPr>
            <a:r>
              <a:rPr lang="en-US" sz="1600" b="0" i="0" dirty="0">
                <a:solidFill>
                  <a:srgbClr val="111111"/>
                </a:solidFill>
                <a:latin typeface="Montserrat"/>
                <a:cs typeface="Montserrat"/>
              </a:rPr>
              <a:t>Same-day emergency appointments every weekday</a:t>
            </a:r>
            <a:endParaRPr lang="en-US" sz="1600" dirty="0"/>
          </a:p>
        </p:txBody>
      </p:sp>
      <p:sp>
        <p:nvSpPr>
          <p:cNvPr id="8" name="chrome:card"/>
          <p:cNvSpPr/>
          <p:nvPr/>
        </p:nvSpPr>
        <p:spPr>
          <a:xfrm>
            <a:off x="4358640" y="2148840"/>
            <a:ext cx="3444240" cy="192024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9" name="point:2"/>
          <p:cNvSpPr txBox="1"/>
          <p:nvPr/>
        </p:nvSpPr>
        <p:spPr>
          <a:xfrm>
            <a:off x="4632960" y="2377440"/>
            <a:ext cx="2895600" cy="1554480"/>
          </a:xfrm>
          <a:prstGeom prst="rect">
            <a:avLst/>
          </a:prstGeom>
          <a:noFill/>
          <a:ln>
            <a:noFill/>
          </a:ln>
        </p:spPr>
        <p:txBody>
          <a:bodyPr wrap="square" lIns="0" tIns="0" rIns="0" bIns="0" anchor="t" rtlCol="0">
            <a:noAutofit/>
          </a:bodyPr>
          <a:lstStyle/>
          <a:p>
            <a:pPr algn="l">
              <a:lnSpc>
                <a:spcPct val="110000"/>
              </a:lnSpc>
              <a:spcAft>
                <a:spcPts val="0"/>
              </a:spcAft>
            </a:pPr>
            <a:r>
              <a:rPr lang="en-US" sz="1600" b="0" i="0" dirty="0">
                <a:solidFill>
                  <a:srgbClr val="111111"/>
                </a:solidFill>
                <a:latin typeface="Montserrat"/>
                <a:cs typeface="Montserrat"/>
              </a:rPr>
              <a:t>Sedation options for anxious patients</a:t>
            </a:r>
            <a:endParaRPr lang="en-US" sz="1600" dirty="0"/>
          </a:p>
        </p:txBody>
      </p:sp>
      <p:sp>
        <p:nvSpPr>
          <p:cNvPr id="10" name="chrome:card"/>
          <p:cNvSpPr/>
          <p:nvPr/>
        </p:nvSpPr>
        <p:spPr>
          <a:xfrm>
            <a:off x="8077200" y="2148840"/>
            <a:ext cx="3444240" cy="192024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11" name="point:3"/>
          <p:cNvSpPr txBox="1"/>
          <p:nvPr/>
        </p:nvSpPr>
        <p:spPr>
          <a:xfrm>
            <a:off x="8351520" y="2377440"/>
            <a:ext cx="2895600" cy="1554480"/>
          </a:xfrm>
          <a:prstGeom prst="rect">
            <a:avLst/>
          </a:prstGeom>
          <a:noFill/>
          <a:ln>
            <a:noFill/>
          </a:ln>
        </p:spPr>
        <p:txBody>
          <a:bodyPr wrap="square" lIns="0" tIns="0" rIns="0" bIns="0" anchor="t" rtlCol="0">
            <a:noAutofit/>
          </a:bodyPr>
          <a:lstStyle/>
          <a:p>
            <a:pPr algn="l">
              <a:lnSpc>
                <a:spcPct val="110000"/>
              </a:lnSpc>
              <a:spcAft>
                <a:spcPts val="0"/>
              </a:spcAft>
            </a:pPr>
            <a:r>
              <a:rPr lang="en-US" sz="1600" b="0" i="0" dirty="0">
                <a:solidFill>
                  <a:srgbClr val="111111"/>
                </a:solidFill>
                <a:latin typeface="Montserrat"/>
                <a:cs typeface="Montserrat"/>
              </a:rPr>
              <a:t>4.9 average rating from 212 Google reviews</a:t>
            </a:r>
            <a:endParaRPr lang="en-US" sz="1600" dirty="0"/>
          </a:p>
        </p:txBody>
      </p:sp>
      <p:sp>
        <p:nvSpPr>
          <p:cNvPr id="12" name="chrome:band"/>
          <p:cNvSpPr/>
          <p:nvPr/>
        </p:nvSpPr>
        <p:spPr>
          <a:xfrm>
            <a:off x="640080" y="4389120"/>
            <a:ext cx="10881360" cy="1600200"/>
          </a:xfrm>
          <a:prstGeom prst="roundRect">
            <a:avLst>
              <a:gd name="adj" fmla="val 5000"/>
            </a:avLst>
          </a:prstGeom>
          <a:gradFill rotWithShape="1">
            <a:gsLst>
              <a:gs pos="0">
                <a:srgbClr val="020506"/>
              </a:gs>
              <a:gs pos="100000">
                <a:srgbClr val="061012"/>
              </a:gs>
            </a:gsLst>
            <a:lin ang="5400000" scaled="0"/>
          </a:gradFill>
          <a:ln>
            <a:noFill/>
          </a:ln>
        </p:spPr>
        <p:txBody>
          <a:bodyPr wrap="square" lIns="73152" tIns="73152" rIns="73152" bIns="73152" anchor="t" rtlCol="0">
            <a:noAutofit/>
          </a:bodyPr>
          <a:lstStyle/>
          <a:p>
            <a:endParaRPr lang="en-US" dirty="0"/>
          </a:p>
        </p:txBody>
      </p:sp>
      <p:sp>
        <p:nvSpPr>
          <p:cNvPr id="13" name="chrome:msglabel"/>
          <p:cNvSpPr txBox="1"/>
          <p:nvPr/>
        </p:nvSpPr>
        <p:spPr>
          <a:xfrm>
            <a:off x="1005840" y="4572000"/>
            <a:ext cx="10058400" cy="320040"/>
          </a:xfrm>
          <a:prstGeom prst="rect">
            <a:avLst/>
          </a:prstGeom>
          <a:noFill/>
          <a:ln>
            <a:noFill/>
          </a:ln>
        </p:spPr>
        <p:txBody>
          <a:bodyPr wrap="square" lIns="0" tIns="0" rIns="0" bIns="0" anchor="t" rtlCol="0">
            <a:noAutofit/>
          </a:bodyPr>
          <a:lstStyle/>
          <a:p>
            <a:pPr algn="l">
              <a:spcAft>
                <a:spcPts val="0"/>
              </a:spcAft>
            </a:pPr>
            <a:r>
              <a:rPr lang="en-US" sz="1100" b="1" i="0" spc="200" cap="all" dirty="0">
                <a:solidFill>
                  <a:srgbClr val="4DBC7C"/>
                </a:solidFill>
                <a:latin typeface="Montserrat"/>
                <a:cs typeface="Montserrat"/>
              </a:rPr>
              <a:t>The homepage will say</a:t>
            </a:r>
            <a:endParaRPr lang="en-US" sz="1100" dirty="0"/>
          </a:p>
        </p:txBody>
      </p:sp>
      <p:sp>
        <p:nvSpPr>
          <p:cNvPr id="14" name="message"/>
          <p:cNvSpPr txBox="1"/>
          <p:nvPr/>
        </p:nvSpPr>
        <p:spPr>
          <a:xfrm>
            <a:off x="1005840" y="4892040"/>
            <a:ext cx="10149840" cy="1005840"/>
          </a:xfrm>
          <a:prstGeom prst="rect">
            <a:avLst/>
          </a:prstGeom>
          <a:noFill/>
          <a:ln>
            <a:noFill/>
          </a:ln>
        </p:spPr>
        <p:txBody>
          <a:bodyPr wrap="square" lIns="0" tIns="0" rIns="0" bIns="0" anchor="t" rtlCol="0">
            <a:noAutofit/>
          </a:bodyPr>
          <a:lstStyle/>
          <a:p>
            <a:pPr algn="l">
              <a:lnSpc>
                <a:spcPct val="105000"/>
              </a:lnSpc>
              <a:spcAft>
                <a:spcPts val="0"/>
              </a:spcAft>
            </a:pPr>
            <a:r>
              <a:rPr lang="en-US" sz="2200" b="1" i="0" dirty="0">
                <a:solidFill>
                  <a:srgbClr val="FFFFFF"/>
                </a:solidFill>
                <a:latin typeface="Montserrat"/>
                <a:cs typeface="Montserrat"/>
              </a:rPr>
              <a:t>The calm, same-day family practice that treats emergencies and implants under one roof.</a:t>
            </a:r>
            <a:endParaRPr lang="en-US" sz="2200" dirty="0"/>
          </a:p>
        </p:txBody>
      </p:sp>
      <p:sp>
        <p:nvSpPr>
          <p:cNvPr id="15"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16" name="chrome:logo"/>
          <p:cNvPicPr>
            <a:picLocks noChangeAspect="1"/>
          </p:cNvPicPr>
          <p:nvPr/>
        </p:nvPicPr>
        <p:blipFill>
          <a:blip r:embed="rIdImg1"/>
          <a:stretch>
            <a:fillRect/>
          </a:stretch>
        </p:blipFill>
        <p:spPr>
          <a:xfrm>
            <a:off x="640080" y="6400800"/>
            <a:ext cx="665018" cy="274320"/>
          </a:xfrm>
          <a:prstGeom prst="rect">
            <a:avLst/>
          </a:prstGeom>
        </p:spPr>
      </p:pic>
      <p:sp>
        <p:nvSpPr>
          <p:cNvPr id="17"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8"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The Site We're Building</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Eleven pages cover every main service and the Meridian area within the agreed scope</a:t>
            </a:r>
            <a:endParaRPr lang="en-US" sz="2800" dirty="0"/>
          </a:p>
        </p:txBody>
      </p:sp>
      <p:sp>
        <p:nvSpPr>
          <p:cNvPr id="6" name="chrome:card"/>
          <p:cNvSpPr/>
          <p:nvPr/>
        </p:nvSpPr>
        <p:spPr>
          <a:xfrm>
            <a:off x="640080" y="2194560"/>
            <a:ext cx="3108960" cy="3749040"/>
          </a:xfrm>
          <a:prstGeom prst="roundRect">
            <a:avLst>
              <a:gd name="adj" fmla="val 5000"/>
            </a:avLst>
          </a:prstGeom>
          <a:solidFill>
            <a:srgbClr val="F2FAF6"/>
          </a:solidFill>
          <a:ln>
            <a:noFill/>
          </a:ln>
        </p:spPr>
        <p:txBody>
          <a:bodyPr wrap="square" lIns="73152" tIns="73152" rIns="73152" bIns="73152" anchor="t" rtlCol="0">
            <a:noAutofit/>
          </a:bodyPr>
          <a:lstStyle/>
          <a:p>
            <a:endParaRPr lang="en-US" dirty="0"/>
          </a:p>
        </p:txBody>
      </p:sp>
      <p:sp>
        <p:nvSpPr>
          <p:cNvPr id="7" name="stat:1"/>
          <p:cNvSpPr txBox="1"/>
          <p:nvPr/>
        </p:nvSpPr>
        <p:spPr>
          <a:xfrm>
            <a:off x="868680" y="2468880"/>
            <a:ext cx="2651760" cy="1645920"/>
          </a:xfrm>
          <a:prstGeom prst="rect">
            <a:avLst/>
          </a:prstGeom>
          <a:noFill/>
          <a:ln>
            <a:noFill/>
          </a:ln>
        </p:spPr>
        <p:txBody>
          <a:bodyPr wrap="square" lIns="0" tIns="0" rIns="0" bIns="0" anchor="b" rtlCol="0">
            <a:noAutofit/>
          </a:bodyPr>
          <a:lstStyle/>
          <a:p>
            <a:pPr algn="l">
              <a:spcAft>
                <a:spcPts val="0"/>
              </a:spcAft>
            </a:pPr>
            <a:r>
              <a:rPr lang="en-US" sz="9600" b="1" i="0" dirty="0">
                <a:solidFill>
                  <a:srgbClr val="017A34"/>
                </a:solidFill>
                <a:latin typeface="Montserrat"/>
                <a:cs typeface="Montserrat"/>
              </a:rPr>
              <a:t>11</a:t>
            </a:r>
            <a:endParaRPr lang="en-US" sz="9600" dirty="0"/>
          </a:p>
        </p:txBody>
      </p:sp>
      <p:sp>
        <p:nvSpPr>
          <p:cNvPr id="8" name="caption:1"/>
          <p:cNvSpPr txBox="1"/>
          <p:nvPr/>
        </p:nvSpPr>
        <p:spPr>
          <a:xfrm>
            <a:off x="868680" y="4251960"/>
            <a:ext cx="2651760" cy="1097280"/>
          </a:xfrm>
          <a:prstGeom prst="rect">
            <a:avLst/>
          </a:prstGeom>
          <a:noFill/>
          <a:ln>
            <a:noFill/>
          </a:ln>
        </p:spPr>
        <p:txBody>
          <a:bodyPr wrap="square" lIns="0" tIns="0" rIns="0" bIns="0" anchor="t" rtlCol="0">
            <a:noAutofit/>
          </a:bodyPr>
          <a:lstStyle/>
          <a:p>
            <a:pPr algn="l">
              <a:spcAft>
                <a:spcPts val="0"/>
              </a:spcAft>
            </a:pPr>
            <a:r>
              <a:rPr lang="en-US" sz="1500" b="0" i="0" dirty="0">
                <a:solidFill>
                  <a:srgbClr val="505858"/>
                </a:solidFill>
                <a:latin typeface="Montserrat"/>
                <a:cs typeface="Montserrat"/>
              </a:rPr>
              <a:t>pages in the agreed 12-page scope</a:t>
            </a:r>
            <a:endParaRPr lang="en-US" sz="1500" dirty="0"/>
          </a:p>
        </p:txBody>
      </p:sp>
      <p:sp>
        <p:nvSpPr>
          <p:cNvPr id="9" name="page:1"/>
          <p:cNvSpPr/>
          <p:nvPr/>
        </p:nvSpPr>
        <p:spPr>
          <a:xfrm>
            <a:off x="4160520" y="2194560"/>
            <a:ext cx="3543300" cy="374904"/>
          </a:xfrm>
          <a:prstGeom prst="roundRect">
            <a:avLst>
              <a:gd name="adj" fmla="val 20000"/>
            </a:avLst>
          </a:prstGeom>
          <a:solidFill>
            <a:srgbClr val="051011"/>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FFFFFF"/>
                </a:solidFill>
                <a:latin typeface="Montserrat"/>
                <a:cs typeface="Montserrat"/>
              </a:rPr>
              <a:t>Home</a:t>
            </a:r>
            <a:r>
              <a:rPr lang="en-US" sz="1000" b="0" i="0" dirty="0">
                <a:solidFill>
                  <a:srgbClr val="FFFFFF"/>
                </a:solidFill>
                <a:latin typeface="Montserrat"/>
                <a:cs typeface="Montserrat"/>
              </a:rPr>
              <a:t>   home</a:t>
            </a:r>
            <a:endParaRPr lang="en-US" sz="1200" dirty="0"/>
          </a:p>
        </p:txBody>
      </p:sp>
      <p:sp>
        <p:nvSpPr>
          <p:cNvPr id="10" name="page:2"/>
          <p:cNvSpPr/>
          <p:nvPr/>
        </p:nvSpPr>
        <p:spPr>
          <a:xfrm>
            <a:off x="4160520" y="2633472"/>
            <a:ext cx="3543300" cy="374904"/>
          </a:xfrm>
          <a:prstGeom prst="roundRect">
            <a:avLst>
              <a:gd name="adj" fmla="val 20000"/>
            </a:avLst>
          </a:prstGeom>
          <a:solidFill>
            <a:srgbClr val="017A34"/>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FFFFFF"/>
                </a:solidFill>
                <a:latin typeface="Montserrat"/>
                <a:cs typeface="Montserrat"/>
              </a:rPr>
              <a:t>Emergency Dentist</a:t>
            </a:r>
            <a:r>
              <a:rPr lang="en-US" sz="1000" b="0" i="0" dirty="0">
                <a:solidFill>
                  <a:srgbClr val="FFFFFF"/>
                </a:solidFill>
                <a:latin typeface="Montserrat"/>
                <a:cs typeface="Montserrat"/>
              </a:rPr>
              <a:t>   service</a:t>
            </a:r>
            <a:endParaRPr lang="en-US" sz="1200" dirty="0"/>
          </a:p>
        </p:txBody>
      </p:sp>
      <p:sp>
        <p:nvSpPr>
          <p:cNvPr id="11" name="page:3"/>
          <p:cNvSpPr/>
          <p:nvPr/>
        </p:nvSpPr>
        <p:spPr>
          <a:xfrm>
            <a:off x="4160520" y="3072384"/>
            <a:ext cx="3543300" cy="374904"/>
          </a:xfrm>
          <a:prstGeom prst="roundRect">
            <a:avLst>
              <a:gd name="adj" fmla="val 20000"/>
            </a:avLst>
          </a:prstGeom>
          <a:solidFill>
            <a:srgbClr val="017A34"/>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FFFFFF"/>
                </a:solidFill>
                <a:latin typeface="Montserrat"/>
                <a:cs typeface="Montserrat"/>
              </a:rPr>
              <a:t>Family Dentistry</a:t>
            </a:r>
            <a:r>
              <a:rPr lang="en-US" sz="1000" b="0" i="0" dirty="0">
                <a:solidFill>
                  <a:srgbClr val="FFFFFF"/>
                </a:solidFill>
                <a:latin typeface="Montserrat"/>
                <a:cs typeface="Montserrat"/>
              </a:rPr>
              <a:t>   service</a:t>
            </a:r>
            <a:endParaRPr lang="en-US" sz="1200" dirty="0"/>
          </a:p>
        </p:txBody>
      </p:sp>
      <p:sp>
        <p:nvSpPr>
          <p:cNvPr id="12" name="page:4"/>
          <p:cNvSpPr/>
          <p:nvPr/>
        </p:nvSpPr>
        <p:spPr>
          <a:xfrm>
            <a:off x="4160520" y="3511296"/>
            <a:ext cx="3543300" cy="374904"/>
          </a:xfrm>
          <a:prstGeom prst="roundRect">
            <a:avLst>
              <a:gd name="adj" fmla="val 20000"/>
            </a:avLst>
          </a:prstGeom>
          <a:solidFill>
            <a:srgbClr val="017A34"/>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FFFFFF"/>
                </a:solidFill>
                <a:latin typeface="Montserrat"/>
                <a:cs typeface="Montserrat"/>
              </a:rPr>
              <a:t>Dental Implants</a:t>
            </a:r>
            <a:r>
              <a:rPr lang="en-US" sz="1000" b="0" i="0" dirty="0">
                <a:solidFill>
                  <a:srgbClr val="FFFFFF"/>
                </a:solidFill>
                <a:latin typeface="Montserrat"/>
                <a:cs typeface="Montserrat"/>
              </a:rPr>
              <a:t>   service</a:t>
            </a:r>
            <a:endParaRPr lang="en-US" sz="1200" dirty="0"/>
          </a:p>
        </p:txBody>
      </p:sp>
      <p:sp>
        <p:nvSpPr>
          <p:cNvPr id="13" name="page:5"/>
          <p:cNvSpPr/>
          <p:nvPr/>
        </p:nvSpPr>
        <p:spPr>
          <a:xfrm>
            <a:off x="4160520" y="3950208"/>
            <a:ext cx="3543300" cy="374904"/>
          </a:xfrm>
          <a:prstGeom prst="roundRect">
            <a:avLst>
              <a:gd name="adj" fmla="val 20000"/>
            </a:avLst>
          </a:prstGeom>
          <a:solidFill>
            <a:srgbClr val="017A34"/>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FFFFFF"/>
                </a:solidFill>
                <a:latin typeface="Montserrat"/>
                <a:cs typeface="Montserrat"/>
              </a:rPr>
              <a:t>Sedation Dentistry</a:t>
            </a:r>
            <a:r>
              <a:rPr lang="en-US" sz="1000" b="0" i="0" dirty="0">
                <a:solidFill>
                  <a:srgbClr val="FFFFFF"/>
                </a:solidFill>
                <a:latin typeface="Montserrat"/>
                <a:cs typeface="Montserrat"/>
              </a:rPr>
              <a:t>   service</a:t>
            </a:r>
            <a:endParaRPr lang="en-US" sz="1200" dirty="0"/>
          </a:p>
        </p:txBody>
      </p:sp>
      <p:sp>
        <p:nvSpPr>
          <p:cNvPr id="14" name="page:6"/>
          <p:cNvSpPr/>
          <p:nvPr/>
        </p:nvSpPr>
        <p:spPr>
          <a:xfrm>
            <a:off x="4160520" y="4389120"/>
            <a:ext cx="3543300" cy="374904"/>
          </a:xfrm>
          <a:prstGeom prst="roundRect">
            <a:avLst>
              <a:gd name="adj" fmla="val 20000"/>
            </a:avLst>
          </a:prstGeom>
          <a:solidFill>
            <a:srgbClr val="017A34"/>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FFFFFF"/>
                </a:solidFill>
                <a:latin typeface="Montserrat"/>
                <a:cs typeface="Montserrat"/>
              </a:rPr>
              <a:t>Pediatric Dentistry</a:t>
            </a:r>
            <a:r>
              <a:rPr lang="en-US" sz="1000" b="0" i="0" dirty="0">
                <a:solidFill>
                  <a:srgbClr val="FFFFFF"/>
                </a:solidFill>
                <a:latin typeface="Montserrat"/>
                <a:cs typeface="Montserrat"/>
              </a:rPr>
              <a:t>   service</a:t>
            </a:r>
            <a:endParaRPr lang="en-US" sz="1200" dirty="0"/>
          </a:p>
        </p:txBody>
      </p:sp>
      <p:sp>
        <p:nvSpPr>
          <p:cNvPr id="15" name="page:7"/>
          <p:cNvSpPr/>
          <p:nvPr/>
        </p:nvSpPr>
        <p:spPr>
          <a:xfrm>
            <a:off x="4160520" y="4828032"/>
            <a:ext cx="3543300" cy="374904"/>
          </a:xfrm>
          <a:prstGeom prst="roundRect">
            <a:avLst>
              <a:gd name="adj" fmla="val 20000"/>
            </a:avLst>
          </a:prstGeom>
          <a:solidFill>
            <a:srgbClr val="017A34"/>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FFFFFF"/>
                </a:solidFill>
                <a:latin typeface="Montserrat"/>
                <a:cs typeface="Montserrat"/>
              </a:rPr>
              <a:t>Invisalign</a:t>
            </a:r>
            <a:r>
              <a:rPr lang="en-US" sz="1000" b="0" i="0" dirty="0">
                <a:solidFill>
                  <a:srgbClr val="FFFFFF"/>
                </a:solidFill>
                <a:latin typeface="Montserrat"/>
                <a:cs typeface="Montserrat"/>
              </a:rPr>
              <a:t>   service</a:t>
            </a:r>
            <a:endParaRPr lang="en-US" sz="1200" dirty="0"/>
          </a:p>
        </p:txBody>
      </p:sp>
      <p:sp>
        <p:nvSpPr>
          <p:cNvPr id="16" name="page:8"/>
          <p:cNvSpPr/>
          <p:nvPr/>
        </p:nvSpPr>
        <p:spPr>
          <a:xfrm>
            <a:off x="7932420" y="2194560"/>
            <a:ext cx="3543300" cy="374904"/>
          </a:xfrm>
          <a:prstGeom prst="roundRect">
            <a:avLst>
              <a:gd name="adj" fmla="val 20000"/>
            </a:avLst>
          </a:prstGeom>
          <a:solidFill>
            <a:srgbClr val="017A34"/>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FFFFFF"/>
                </a:solidFill>
                <a:latin typeface="Montserrat"/>
                <a:cs typeface="Montserrat"/>
              </a:rPr>
              <a:t>Teeth Whitening</a:t>
            </a:r>
            <a:r>
              <a:rPr lang="en-US" sz="1000" b="0" i="0" dirty="0">
                <a:solidFill>
                  <a:srgbClr val="FFFFFF"/>
                </a:solidFill>
                <a:latin typeface="Montserrat"/>
                <a:cs typeface="Montserrat"/>
              </a:rPr>
              <a:t>   service</a:t>
            </a:r>
            <a:endParaRPr lang="en-US" sz="1200" dirty="0"/>
          </a:p>
        </p:txBody>
      </p:sp>
      <p:sp>
        <p:nvSpPr>
          <p:cNvPr id="17" name="page:9"/>
          <p:cNvSpPr/>
          <p:nvPr/>
        </p:nvSpPr>
        <p:spPr>
          <a:xfrm>
            <a:off x="7932420" y="2633472"/>
            <a:ext cx="3543300" cy="374904"/>
          </a:xfrm>
          <a:prstGeom prst="roundRect">
            <a:avLst>
              <a:gd name="adj" fmla="val 20000"/>
            </a:avLst>
          </a:prstGeom>
          <a:solidFill>
            <a:srgbClr val="E5F5EC"/>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111111"/>
                </a:solidFill>
                <a:latin typeface="Montserrat"/>
                <a:cs typeface="Montserrat"/>
              </a:rPr>
              <a:t>Meridian Location</a:t>
            </a:r>
            <a:r>
              <a:rPr lang="en-US" sz="1000" b="0" i="0" dirty="0">
                <a:solidFill>
                  <a:srgbClr val="111111"/>
                </a:solidFill>
                <a:latin typeface="Montserrat"/>
                <a:cs typeface="Montserrat"/>
              </a:rPr>
              <a:t>   location</a:t>
            </a:r>
            <a:endParaRPr lang="en-US" sz="1200" dirty="0"/>
          </a:p>
        </p:txBody>
      </p:sp>
      <p:sp>
        <p:nvSpPr>
          <p:cNvPr id="18" name="page:10"/>
          <p:cNvSpPr/>
          <p:nvPr/>
        </p:nvSpPr>
        <p:spPr>
          <a:xfrm>
            <a:off x="7932420" y="3072384"/>
            <a:ext cx="3543300" cy="374904"/>
          </a:xfrm>
          <a:prstGeom prst="roundRect">
            <a:avLst>
              <a:gd name="adj" fmla="val 20000"/>
            </a:avLst>
          </a:prstGeom>
          <a:solidFill>
            <a:srgbClr val="F7F7F7"/>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111111"/>
                </a:solidFill>
                <a:latin typeface="Montserrat"/>
                <a:cs typeface="Montserrat"/>
              </a:rPr>
              <a:t>About</a:t>
            </a:r>
            <a:r>
              <a:rPr lang="en-US" sz="1000" b="0" i="0" dirty="0">
                <a:solidFill>
                  <a:srgbClr val="111111"/>
                </a:solidFill>
                <a:latin typeface="Montserrat"/>
                <a:cs typeface="Montserrat"/>
              </a:rPr>
              <a:t>   about</a:t>
            </a:r>
            <a:endParaRPr lang="en-US" sz="1200" dirty="0"/>
          </a:p>
        </p:txBody>
      </p:sp>
      <p:sp>
        <p:nvSpPr>
          <p:cNvPr id="19" name="page:11"/>
          <p:cNvSpPr/>
          <p:nvPr/>
        </p:nvSpPr>
        <p:spPr>
          <a:xfrm>
            <a:off x="7932420" y="3511296"/>
            <a:ext cx="3543300" cy="374904"/>
          </a:xfrm>
          <a:prstGeom prst="roundRect">
            <a:avLst>
              <a:gd name="adj" fmla="val 20000"/>
            </a:avLst>
          </a:prstGeom>
          <a:solidFill>
            <a:srgbClr val="F7F7F7"/>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111111"/>
                </a:solidFill>
                <a:latin typeface="Montserrat"/>
                <a:cs typeface="Montserrat"/>
              </a:rPr>
              <a:t>Our Team</a:t>
            </a:r>
            <a:r>
              <a:rPr lang="en-US" sz="1000" b="0" i="0" dirty="0">
                <a:solidFill>
                  <a:srgbClr val="111111"/>
                </a:solidFill>
                <a:latin typeface="Montserrat"/>
                <a:cs typeface="Montserrat"/>
              </a:rPr>
              <a:t>   about</a:t>
            </a:r>
            <a:endParaRPr lang="en-US" sz="1200" dirty="0"/>
          </a:p>
        </p:txBody>
      </p:sp>
      <p:sp>
        <p:nvSpPr>
          <p:cNvPr id="20" name="page:12"/>
          <p:cNvSpPr/>
          <p:nvPr/>
        </p:nvSpPr>
        <p:spPr>
          <a:xfrm>
            <a:off x="7932420" y="3950208"/>
            <a:ext cx="3543300" cy="374904"/>
          </a:xfrm>
          <a:prstGeom prst="roundRect">
            <a:avLst>
              <a:gd name="adj" fmla="val 20000"/>
            </a:avLst>
          </a:prstGeom>
          <a:solidFill>
            <a:srgbClr val="F7F7F7"/>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111111"/>
                </a:solidFill>
                <a:latin typeface="Montserrat"/>
                <a:cs typeface="Montserrat"/>
              </a:rPr>
              <a:t>New Patients</a:t>
            </a:r>
            <a:r>
              <a:rPr lang="en-US" sz="1000" b="0" i="0" dirty="0">
                <a:solidFill>
                  <a:srgbClr val="111111"/>
                </a:solidFill>
                <a:latin typeface="Montserrat"/>
                <a:cs typeface="Montserrat"/>
              </a:rPr>
              <a:t>   other</a:t>
            </a:r>
            <a:endParaRPr lang="en-US" sz="1200" dirty="0"/>
          </a:p>
        </p:txBody>
      </p:sp>
      <p:sp>
        <p:nvSpPr>
          <p:cNvPr id="21" name="page:13"/>
          <p:cNvSpPr/>
          <p:nvPr/>
        </p:nvSpPr>
        <p:spPr>
          <a:xfrm>
            <a:off x="7932420" y="4389120"/>
            <a:ext cx="3543300" cy="374904"/>
          </a:xfrm>
          <a:prstGeom prst="roundRect">
            <a:avLst>
              <a:gd name="adj" fmla="val 20000"/>
            </a:avLst>
          </a:prstGeom>
          <a:solidFill>
            <a:srgbClr val="FFFFFF"/>
          </a:solidFill>
          <a:ln w="9525">
            <a:solidFill>
              <a:srgbClr val="CCCCCC"/>
            </a:solidFill>
          </a:ln>
        </p:spPr>
        <p:txBody>
          <a:bodyPr wrap="square" lIns="109728" tIns="109728" rIns="109728" bIns="109728" anchor="ctr" rtlCol="0">
            <a:noAutofit/>
          </a:bodyPr>
          <a:lstStyle/>
          <a:p>
            <a:pPr algn="l">
              <a:spcAft>
                <a:spcPts val="0"/>
              </a:spcAft>
            </a:pPr>
            <a:r>
              <a:rPr lang="en-US" sz="1200" b="1" i="0" dirty="0">
                <a:solidFill>
                  <a:srgbClr val="111111"/>
                </a:solidFill>
                <a:latin typeface="Montserrat"/>
                <a:cs typeface="Montserrat"/>
              </a:rPr>
              <a:t>Contact</a:t>
            </a:r>
            <a:r>
              <a:rPr lang="en-US" sz="1000" b="0" i="0" dirty="0">
                <a:solidFill>
                  <a:srgbClr val="111111"/>
                </a:solidFill>
                <a:latin typeface="Montserrat"/>
                <a:cs typeface="Montserrat"/>
              </a:rPr>
              <a:t>   contact</a:t>
            </a:r>
            <a:endParaRPr lang="en-US" sz="1200" dirty="0"/>
          </a:p>
        </p:txBody>
      </p:sp>
      <p:sp>
        <p:nvSpPr>
          <p:cNvPr id="22" name="chrome:legend"/>
          <p:cNvSpPr txBox="1"/>
          <p:nvPr/>
        </p:nvSpPr>
        <p:spPr>
          <a:xfrm>
            <a:off x="4160520" y="5897880"/>
            <a:ext cx="7315200" cy="320040"/>
          </a:xfrm>
          <a:prstGeom prst="rect">
            <a:avLst/>
          </a:prstGeom>
          <a:noFill/>
          <a:ln>
            <a:noFill/>
          </a:ln>
        </p:spPr>
        <p:txBody>
          <a:bodyPr wrap="square" lIns="0" tIns="0" rIns="0" bIns="0" anchor="t" rtlCol="0">
            <a:noAutofit/>
          </a:bodyPr>
          <a:lstStyle/>
          <a:p>
            <a:pPr algn="l">
              <a:spcAft>
                <a:spcPts val="0"/>
              </a:spcAft>
            </a:pPr>
            <a:r>
              <a:rPr lang="en-US" sz="1100" b="0" i="0" dirty="0">
                <a:solidFill>
                  <a:srgbClr val="505858"/>
                </a:solidFill>
                <a:latin typeface="Montserrat"/>
                <a:cs typeface="Montserrat"/>
              </a:rPr>
              <a:t>Page types: home, service, location, about, contact, other</a:t>
            </a:r>
            <a:endParaRPr lang="en-US" sz="1100" dirty="0"/>
          </a:p>
        </p:txBody>
      </p:sp>
      <p:sp>
        <p:nvSpPr>
          <p:cNvPr id="23"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24" name="chrome:logo"/>
          <p:cNvPicPr>
            <a:picLocks noChangeAspect="1"/>
          </p:cNvPicPr>
          <p:nvPr/>
        </p:nvPicPr>
        <p:blipFill>
          <a:blip r:embed="rIdImg1"/>
          <a:stretch>
            <a:fillRect/>
          </a:stretch>
        </p:blipFill>
        <p:spPr>
          <a:xfrm>
            <a:off x="640080" y="6400800"/>
            <a:ext cx="665018" cy="274320"/>
          </a:xfrm>
          <a:prstGeom prst="rect">
            <a:avLst/>
          </a:prstGeom>
        </p:spPr>
      </p:pic>
      <p:sp>
        <p:nvSpPr>
          <p:cNvPr id="25"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26"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What We're Not Doing</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Four things stay out of scope for now, each with a clear reason</a:t>
            </a:r>
            <a:endParaRPr lang="en-US" sz="2800" dirty="0"/>
          </a:p>
        </p:txBody>
      </p:sp>
      <p:graphicFrame>
        <p:nvGraphicFramePr>
          <p:cNvPr id="6" name="table"/>
          <p:cNvGraphicFramePr>
            <a:graphicFrameLocks noGrp="1"/>
          </p:cNvGraphicFramePr>
          <p:nvPr/>
        </p:nvGraphicFramePr>
        <p:xfrm>
          <a:off x="640080" y="2103120"/>
          <a:ext cx="10881360" cy="2194560"/>
        </p:xfrm>
        <a:graphic>
          <a:graphicData uri="http://schemas.openxmlformats.org/drawingml/2006/table">
            <a:tbl>
              <a:tblPr firstRow="1" bandRow="0"/>
              <a:tblGrid>
                <a:gridCol w="3627120"/>
                <a:gridCol w="3627120"/>
                <a:gridCol w="3627120"/>
              </a:tblGrid>
              <a:tr h="438912">
                <a:tc>
                  <a:txBody>
                    <a:bodyPr/>
                    <a:lstStyle/>
                    <a:p>
                      <a:pPr algn="l">
                        <a:spcAft>
                          <a:spcPts val="0"/>
                        </a:spcAft>
                      </a:pPr>
                      <a:r>
                        <a:rPr lang="en-US" sz="1200" b="1" i="0" dirty="0">
                          <a:solidFill>
                            <a:srgbClr val="FFFFFF"/>
                          </a:solidFill>
                          <a:latin typeface="Montserrat"/>
                          <a:cs typeface="Montserrat"/>
                        </a:rPr>
                        <a:t>What</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200" b="1" i="0" dirty="0">
                          <a:solidFill>
                            <a:srgbClr val="FFFFFF"/>
                          </a:solidFill>
                          <a:latin typeface="Montserrat"/>
                          <a:cs typeface="Montserrat"/>
                        </a:rPr>
                        <a:t>Why not now</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200" b="1" i="0" dirty="0">
                          <a:solidFill>
                            <a:srgbClr val="FFFFFF"/>
                          </a:solidFill>
                          <a:latin typeface="Montserrat"/>
                          <a:cs typeface="Montserrat"/>
                        </a:rPr>
                        <a:t>What would change that</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r>
              <a:tr h="438912">
                <a:tc>
                  <a:txBody>
                    <a:bodyPr/>
                    <a:lstStyle/>
                    <a:p>
                      <a:pPr algn="l">
                        <a:spcAft>
                          <a:spcPts val="0"/>
                        </a:spcAft>
                      </a:pPr>
                      <a:r>
                        <a:rPr lang="en-US" sz="1300" b="1" i="0" dirty="0">
                          <a:solidFill>
                            <a:srgbClr val="111111"/>
                          </a:solidFill>
                          <a:latin typeface="Montserrat"/>
                          <a:cs typeface="Montserrat"/>
                        </a:rPr>
                        <a:t>A twenty-page site with a page per insurance plan</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The agreed scope is a site of up to 12 pages, and the sitemap follows that scope.</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A scope change agreed with WISE</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438912">
                <a:tc>
                  <a:txBody>
                    <a:bodyPr/>
                    <a:lstStyle/>
                    <a:p>
                      <a:pPr algn="l">
                        <a:spcAft>
                          <a:spcPts val="0"/>
                        </a:spcAft>
                      </a:pPr>
                      <a:r>
                        <a:rPr lang="en-US" sz="1300" b="1" i="0" dirty="0">
                          <a:solidFill>
                            <a:srgbClr val="111111"/>
                          </a:solidFill>
                          <a:latin typeface="Montserrat"/>
                          <a:cs typeface="Montserrat"/>
                        </a:rPr>
                        <a:t>Blog writing</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Blog writing is outside the current scope, so the guides in the content calendar need a separate agreement or an in-house writer.</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A separate agreement or an in-house writer</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r h="438912">
                <a:tc>
                  <a:txBody>
                    <a:bodyPr/>
                    <a:lstStyle/>
                    <a:p>
                      <a:pPr algn="l">
                        <a:spcAft>
                          <a:spcPts val="0"/>
                        </a:spcAft>
                      </a:pPr>
                      <a:r>
                        <a:rPr lang="en-US" sz="1300" b="1" i="0" dirty="0">
                          <a:solidFill>
                            <a:srgbClr val="111111"/>
                          </a:solidFill>
                          <a:latin typeface="Montserrat"/>
                          <a:cs typeface="Montserrat"/>
                        </a:rPr>
                        <a:t>Paid media</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Paid media is excluded from the agreed scope, so this plan covers search only.</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A scope change agreed with WISE</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438912">
                <a:tc>
                  <a:txBody>
                    <a:bodyPr/>
                    <a:lstStyle/>
                    <a:p>
                      <a:pPr algn="l">
                        <a:spcAft>
                          <a:spcPts val="0"/>
                        </a:spcAft>
                      </a:pPr>
                      <a:r>
                        <a:rPr lang="en-US" sz="1300" b="1" i="0" dirty="0">
                          <a:solidFill>
                            <a:srgbClr val="111111"/>
                          </a:solidFill>
                          <a:latin typeface="Montserrat"/>
                          <a:cs typeface="Montserrat"/>
                        </a:rPr>
                        <a:t>Top dentist on Google in Boise within a month</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The sources do not support it. A new domain has to earn its position, and the figures show the gap to close.</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Once authority and rankings have grown after launch</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bl>
          </a:graphicData>
        </a:graphic>
      </p:graphicFrame>
      <p:sp>
        <p:nvSpPr>
          <p:cNvPr id="7"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8" name="chrome:logo"/>
          <p:cNvPicPr>
            <a:picLocks noChangeAspect="1"/>
          </p:cNvPicPr>
          <p:nvPr/>
        </p:nvPicPr>
        <p:blipFill>
          <a:blip r:embed="rIdImg1"/>
          <a:stretch>
            <a:fillRect/>
          </a:stretch>
        </p:blipFill>
        <p:spPr>
          <a:xfrm>
            <a:off x="640080" y="6400800"/>
            <a:ext cx="665018" cy="274320"/>
          </a:xfrm>
          <a:prstGeom prst="rect">
            <a:avLst/>
          </a:prstGeom>
        </p:spPr>
      </p:pic>
      <p:sp>
        <p:nvSpPr>
          <p:cNvPr id="9"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0"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20506"/>
            </a:gs>
            <a:gs pos="100000">
              <a:srgbClr val="061012"/>
            </a:gs>
          </a:gsLst>
          <a:lin ang="5400000" scaled="0"/>
        </a:gradFill>
        <a:effectLst/>
      </p:bgPr>
    </p:bg>
    <p:spTree>
      <p:nvGrpSpPr>
        <p:cNvPr id="1" name=""/>
        <p:cNvGrpSpPr/>
        <p:nvPr/>
      </p:nvGrpSpPr>
      <p:grpSpPr>
        <a:xfrm>
          <a:off x="0" y="0"/>
          <a:ext cx="0" cy="0"/>
          <a:chOff x="0" y="0"/>
          <a:chExt cx="0" cy="0"/>
        </a:xfrm>
      </p:grpSpPr>
      <p:sp>
        <p:nvSpPr>
          <p:cNvPr id="3" name="chrome:divnum"/>
          <p:cNvSpPr txBox="1"/>
          <p:nvPr/>
        </p:nvSpPr>
        <p:spPr>
          <a:xfrm>
            <a:off x="640080" y="1828800"/>
            <a:ext cx="3657600" cy="1097280"/>
          </a:xfrm>
          <a:prstGeom prst="rect">
            <a:avLst/>
          </a:prstGeom>
          <a:noFill/>
          <a:ln>
            <a:noFill/>
          </a:ln>
        </p:spPr>
        <p:txBody>
          <a:bodyPr wrap="square" lIns="0" tIns="0" rIns="0" bIns="0" anchor="t" rtlCol="0">
            <a:noAutofit/>
          </a:bodyPr>
          <a:lstStyle/>
          <a:p>
            <a:pPr algn="l">
              <a:spcAft>
                <a:spcPts val="0"/>
              </a:spcAft>
            </a:pPr>
            <a:r>
              <a:rPr lang="en-US" sz="6600" b="1" i="0" dirty="0">
                <a:solidFill>
                  <a:srgbClr val="4DBC7C"/>
                </a:solidFill>
                <a:latin typeface="Montserrat"/>
                <a:cs typeface="Montserrat"/>
              </a:rPr>
              <a:t>03</a:t>
            </a:r>
            <a:endParaRPr lang="en-US" sz="6600" dirty="0"/>
          </a:p>
        </p:txBody>
      </p:sp>
      <p:sp>
        <p:nvSpPr>
          <p:cNvPr id="4" name="chrome:accent"/>
          <p:cNvSpPr/>
          <p:nvPr/>
        </p:nvSpPr>
        <p:spPr>
          <a:xfrm>
            <a:off x="640080" y="3063240"/>
            <a:ext cx="822960" cy="64008"/>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5" name="headline"/>
          <p:cNvSpPr txBox="1"/>
          <p:nvPr/>
        </p:nvSpPr>
        <p:spPr>
          <a:xfrm>
            <a:off x="640080" y="3291840"/>
            <a:ext cx="10515600" cy="1371600"/>
          </a:xfrm>
          <a:prstGeom prst="rect">
            <a:avLst/>
          </a:prstGeom>
          <a:noFill/>
          <a:ln>
            <a:noFill/>
          </a:ln>
        </p:spPr>
        <p:txBody>
          <a:bodyPr wrap="square" lIns="0" tIns="0" rIns="0" bIns="0" anchor="t" rtlCol="0">
            <a:noAutofit/>
          </a:bodyPr>
          <a:lstStyle/>
          <a:p>
            <a:pPr algn="l">
              <a:spcAft>
                <a:spcPts val="0"/>
              </a:spcAft>
            </a:pPr>
            <a:r>
              <a:rPr lang="en-US" sz="4000" b="1" i="0" dirty="0">
                <a:solidFill>
                  <a:srgbClr val="FFFFFF"/>
                </a:solidFill>
                <a:latin typeface="Montserrat"/>
                <a:cs typeface="Montserrat"/>
              </a:rPr>
              <a:t>Making it work</a:t>
            </a:r>
            <a:endParaRPr lang="en-US" sz="4000" dirty="0"/>
          </a:p>
        </p:txBody>
      </p:sp>
      <p:sp>
        <p:nvSpPr>
          <p:cNvPr id="6" name="chrome:rule"/>
          <p:cNvSpPr/>
          <p:nvPr/>
        </p:nvSpPr>
        <p:spPr>
          <a:xfrm>
            <a:off x="640080" y="6327648"/>
            <a:ext cx="10908792" cy="9144"/>
          </a:xfrm>
          <a:prstGeom prst="rect">
            <a:avLst/>
          </a:prstGeom>
          <a:solidFill>
            <a:srgbClr val="051011"/>
          </a:solidFill>
          <a:ln>
            <a:noFill/>
          </a:ln>
        </p:spPr>
        <p:txBody>
          <a:bodyPr wrap="square" lIns="73152" tIns="73152" rIns="73152" bIns="73152" anchor="t" rtlCol="0">
            <a:noAutofit/>
          </a:bodyPr>
          <a:lstStyle/>
          <a:p>
            <a:endParaRPr lang="en-US" dirty="0"/>
          </a:p>
        </p:txBody>
      </p:sp>
      <p:sp>
        <p:nvSpPr>
          <p:cNvPr id="7"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CCCCCC"/>
                </a:solidFill>
                <a:latin typeface="Montserrat"/>
                <a:cs typeface="Montserrat"/>
              </a:rPr>
              <a:t>Larkspur Family Dental  |  Growth Blueprint</a:t>
            </a:r>
            <a:endParaRPr lang="en-US" sz="1000" dirty="0"/>
          </a:p>
        </p:txBody>
      </p:sp>
      <p:sp>
        <p:nvSpPr>
          <p:cNvPr id="8"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CCCCCC"/>
                </a:solidFill>
                <a:latin typeface="Montserrat"/>
                <a:cs typeface="Montserrat"/>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What Has To Be True</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Content moves only as fast as the practice supplies photos, prices and approvals</a:t>
            </a:r>
            <a:endParaRPr lang="en-US" sz="2800" dirty="0"/>
          </a:p>
        </p:txBody>
      </p:sp>
      <p:sp>
        <p:nvSpPr>
          <p:cNvPr id="6" name="chrome:card"/>
          <p:cNvSpPr/>
          <p:nvPr/>
        </p:nvSpPr>
        <p:spPr>
          <a:xfrm>
            <a:off x="640080" y="2103120"/>
            <a:ext cx="5303520" cy="4023360"/>
          </a:xfrm>
          <a:prstGeom prst="roundRect">
            <a:avLst>
              <a:gd name="adj" fmla="val 4000"/>
            </a:avLst>
          </a:prstGeom>
          <a:solidFill>
            <a:srgbClr val="F2FAF6"/>
          </a:solidFill>
          <a:ln>
            <a:noFill/>
          </a:ln>
        </p:spPr>
        <p:txBody>
          <a:bodyPr wrap="square" lIns="73152" tIns="73152" rIns="73152" bIns="73152" anchor="t" rtlCol="0">
            <a:noAutofit/>
          </a:bodyPr>
          <a:lstStyle/>
          <a:p>
            <a:endParaRPr lang="en-US" dirty="0"/>
          </a:p>
        </p:txBody>
      </p:sp>
      <p:sp>
        <p:nvSpPr>
          <p:cNvPr id="7" name="chrome:side0"/>
          <p:cNvSpPr txBox="1"/>
          <p:nvPr/>
        </p:nvSpPr>
        <p:spPr>
          <a:xfrm>
            <a:off x="914400" y="2286000"/>
            <a:ext cx="4754880" cy="365760"/>
          </a:xfrm>
          <a:prstGeom prst="rect">
            <a:avLst/>
          </a:prstGeom>
          <a:noFill/>
          <a:ln>
            <a:noFill/>
          </a:ln>
        </p:spPr>
        <p:txBody>
          <a:bodyPr wrap="square" lIns="0" tIns="0" rIns="0" bIns="0" anchor="t" rtlCol="0">
            <a:noAutofit/>
          </a:bodyPr>
          <a:lstStyle/>
          <a:p>
            <a:pPr algn="l">
              <a:spcAft>
                <a:spcPts val="0"/>
              </a:spcAft>
            </a:pPr>
            <a:r>
              <a:rPr lang="en-US" sz="1300" b="1" i="0" spc="150" cap="all" dirty="0">
                <a:solidFill>
                  <a:srgbClr val="017A34"/>
                </a:solidFill>
                <a:latin typeface="Montserrat"/>
                <a:cs typeface="Montserrat"/>
              </a:rPr>
              <a:t>What we need from you</a:t>
            </a:r>
            <a:endParaRPr lang="en-US" sz="1300" dirty="0"/>
          </a:p>
        </p:txBody>
      </p:sp>
      <p:sp>
        <p:nvSpPr>
          <p:cNvPr id="8" name="items:client"/>
          <p:cNvSpPr txBox="1"/>
          <p:nvPr/>
        </p:nvSpPr>
        <p:spPr>
          <a:xfrm>
            <a:off x="914400" y="2743200"/>
            <a:ext cx="4754880" cy="3291840"/>
          </a:xfrm>
          <a:prstGeom prst="rect">
            <a:avLst/>
          </a:prstGeom>
          <a:noFill/>
          <a:ln>
            <a:noFill/>
          </a:ln>
        </p:spPr>
        <p:txBody>
          <a:bodyPr wrap="square" lIns="0" tIns="0" rIns="0" bIns="0" anchor="t" rtlCol="0">
            <a:noAutofit/>
          </a:bodyPr>
          <a:lstStyle/>
          <a:p>
            <a:pPr algn="l">
              <a:spcAft>
                <a:spcPts val="100"/>
              </a:spcAft>
            </a:pPr>
            <a:r>
              <a:rPr lang="en-US" sz="1400" b="1" i="0" dirty="0">
                <a:solidFill>
                  <a:srgbClr val="111111"/>
                </a:solidFill>
                <a:latin typeface="Montserrat"/>
                <a:cs typeface="Montserrat"/>
              </a:rPr>
              <a:t>Send team photos</a:t>
            </a:r>
            <a:endParaRPr lang="en-US" sz="1400" dirty="0"/>
          </a:p>
          <a:p>
            <a:pPr algn="l">
              <a:spcAft>
                <a:spcPts val="1000"/>
              </a:spcAft>
            </a:pPr>
            <a:r>
              <a:rPr lang="en-US" sz="1100" b="0" i="0" dirty="0">
                <a:solidFill>
                  <a:srgbClr val="505858"/>
                </a:solidFill>
                <a:latin typeface="Montserrat"/>
                <a:cs typeface="Montserrat"/>
              </a:rPr>
              <a:t>Owner: Dr. Maya Okafor  |  Needed: November  |  Blocks: The Our Team and About pages</a:t>
            </a:r>
            <a:endParaRPr lang="en-US" sz="1100" dirty="0"/>
          </a:p>
          <a:p>
            <a:pPr algn="l">
              <a:spcAft>
                <a:spcPts val="100"/>
              </a:spcAft>
            </a:pPr>
            <a:r>
              <a:rPr lang="en-US" sz="1400" b="1" i="0" dirty="0">
                <a:solidFill>
                  <a:srgbClr val="111111"/>
                </a:solidFill>
                <a:latin typeface="Montserrat"/>
                <a:cs typeface="Montserrat"/>
              </a:rPr>
              <a:t>Supply implant and other service prices</a:t>
            </a:r>
            <a:endParaRPr lang="en-US" sz="1400" dirty="0"/>
          </a:p>
          <a:p>
            <a:pPr algn="l">
              <a:spcAft>
                <a:spcPts val="1000"/>
              </a:spcAft>
            </a:pPr>
            <a:r>
              <a:rPr lang="en-US" sz="1100" b="0" i="0" dirty="0">
                <a:solidFill>
                  <a:srgbClr val="505858"/>
                </a:solidFill>
                <a:latin typeface="Montserrat"/>
                <a:cs typeface="Montserrat"/>
              </a:rPr>
              <a:t>Owner: Dr. Maya Okafor  |  Needed: Before content review  |  Blocks: Service page content</a:t>
            </a:r>
            <a:endParaRPr lang="en-US" sz="1100" dirty="0"/>
          </a:p>
          <a:p>
            <a:pPr algn="l">
              <a:spcAft>
                <a:spcPts val="100"/>
              </a:spcAft>
            </a:pPr>
            <a:r>
              <a:rPr lang="en-US" sz="1400" b="1" i="0" dirty="0">
                <a:solidFill>
                  <a:srgbClr val="111111"/>
                </a:solidFill>
                <a:latin typeface="Montserrat"/>
                <a:cs typeface="Montserrat"/>
              </a:rPr>
              <a:t>Share any awards or press, and review clinical claims</a:t>
            </a:r>
            <a:endParaRPr lang="en-US" sz="1400" dirty="0"/>
          </a:p>
          <a:p>
            <a:pPr algn="l">
              <a:spcAft>
                <a:spcPts val="1000"/>
              </a:spcAft>
            </a:pPr>
            <a:r>
              <a:rPr lang="en-US" sz="1100" b="0" i="0" dirty="0">
                <a:solidFill>
                  <a:srgbClr val="505858"/>
                </a:solidFill>
                <a:latin typeface="Montserrat"/>
                <a:cs typeface="Montserrat"/>
              </a:rPr>
              <a:t>Owner: Dr. Maya Okafor  |  Needed: Before content review  |  Blocks: Proof points and claims review</a:t>
            </a:r>
            <a:endParaRPr lang="en-US" sz="1100" dirty="0"/>
          </a:p>
          <a:p>
            <a:pPr algn="l">
              <a:spcAft>
                <a:spcPts val="100"/>
              </a:spcAft>
            </a:pPr>
            <a:r>
              <a:rPr lang="en-US" sz="1400" b="1" i="0" dirty="0">
                <a:solidFill>
                  <a:srgbClr val="111111"/>
                </a:solidFill>
                <a:latin typeface="Montserrat"/>
                <a:cs typeface="Montserrat"/>
              </a:rPr>
              <a:t>Approve the results disclaimer, with legal review</a:t>
            </a:r>
            <a:endParaRPr lang="en-US" sz="1400" dirty="0"/>
          </a:p>
          <a:p>
            <a:pPr algn="l">
              <a:spcAft>
                <a:spcPts val="1000"/>
              </a:spcAft>
            </a:pPr>
            <a:r>
              <a:rPr lang="en-US" sz="1100" b="0" i="0" dirty="0">
                <a:solidFill>
                  <a:srgbClr val="505858"/>
                </a:solidFill>
                <a:latin typeface="Montserrat"/>
                <a:cs typeface="Montserrat"/>
              </a:rPr>
              <a:t>Owner: Larkspur Family Dental  |  Needed: Before those pages go live  |  Blocks: Implant and Invisalign pages</a:t>
            </a:r>
            <a:endParaRPr lang="en-US" sz="1100" dirty="0"/>
          </a:p>
          <a:p>
            <a:pPr algn="l">
              <a:spcAft>
                <a:spcPts val="100"/>
              </a:spcAft>
            </a:pPr>
            <a:r>
              <a:rPr lang="en-US" sz="1400" b="1" i="0" dirty="0">
                <a:solidFill>
                  <a:srgbClr val="111111"/>
                </a:solidFill>
                <a:latin typeface="Montserrat"/>
                <a:cs typeface="Montserrat"/>
              </a:rPr>
              <a:t>Approve this plan and the sitemap</a:t>
            </a:r>
            <a:endParaRPr lang="en-US" sz="1400" dirty="0"/>
          </a:p>
          <a:p>
            <a:pPr algn="l">
              <a:spcAft>
                <a:spcPts val="1000"/>
              </a:spcAft>
            </a:pPr>
            <a:r>
              <a:rPr lang="en-US" sz="1100" b="0" i="0" dirty="0">
                <a:solidFill>
                  <a:srgbClr val="505858"/>
                </a:solidFill>
                <a:latin typeface="Montserrat"/>
                <a:cs typeface="Montserrat"/>
              </a:rPr>
              <a:t>Owner: Larkspur Family Dental  |  Needed: Before briefs start  |  Blocks: Briefs and page writing</a:t>
            </a:r>
            <a:endParaRPr lang="en-US" sz="1100" dirty="0"/>
          </a:p>
        </p:txBody>
      </p:sp>
      <p:sp>
        <p:nvSpPr>
          <p:cNvPr id="9" name="chrome:card"/>
          <p:cNvSpPr/>
          <p:nvPr/>
        </p:nvSpPr>
        <p:spPr>
          <a:xfrm>
            <a:off x="6217920" y="2103120"/>
            <a:ext cx="5303520" cy="4023360"/>
          </a:xfrm>
          <a:prstGeom prst="roundRect">
            <a:avLst>
              <a:gd name="adj" fmla="val 4000"/>
            </a:avLst>
          </a:prstGeom>
          <a:solidFill>
            <a:srgbClr val="F7F7F7"/>
          </a:solidFill>
          <a:ln>
            <a:noFill/>
          </a:ln>
        </p:spPr>
        <p:txBody>
          <a:bodyPr wrap="square" lIns="73152" tIns="73152" rIns="73152" bIns="73152" anchor="t" rtlCol="0">
            <a:noAutofit/>
          </a:bodyPr>
          <a:lstStyle/>
          <a:p>
            <a:endParaRPr lang="en-US" dirty="0"/>
          </a:p>
        </p:txBody>
      </p:sp>
      <p:sp>
        <p:nvSpPr>
          <p:cNvPr id="10" name="chrome:side1"/>
          <p:cNvSpPr txBox="1"/>
          <p:nvPr/>
        </p:nvSpPr>
        <p:spPr>
          <a:xfrm>
            <a:off x="6492240" y="2286000"/>
            <a:ext cx="4754880" cy="365760"/>
          </a:xfrm>
          <a:prstGeom prst="rect">
            <a:avLst/>
          </a:prstGeom>
          <a:noFill/>
          <a:ln>
            <a:noFill/>
          </a:ln>
        </p:spPr>
        <p:txBody>
          <a:bodyPr wrap="square" lIns="0" tIns="0" rIns="0" bIns="0" anchor="t" rtlCol="0">
            <a:noAutofit/>
          </a:bodyPr>
          <a:lstStyle/>
          <a:p>
            <a:pPr algn="l">
              <a:spcAft>
                <a:spcPts val="0"/>
              </a:spcAft>
            </a:pPr>
            <a:r>
              <a:rPr lang="en-US" sz="1300" b="1" i="0" spc="150" cap="all" dirty="0">
                <a:solidFill>
                  <a:srgbClr val="505858"/>
                </a:solidFill>
                <a:latin typeface="Montserrat"/>
                <a:cs typeface="Montserrat"/>
              </a:rPr>
              <a:t>What WISE owns</a:t>
            </a:r>
            <a:endParaRPr lang="en-US" sz="1300" dirty="0"/>
          </a:p>
        </p:txBody>
      </p:sp>
      <p:sp>
        <p:nvSpPr>
          <p:cNvPr id="11" name="items:wise"/>
          <p:cNvSpPr txBox="1"/>
          <p:nvPr/>
        </p:nvSpPr>
        <p:spPr>
          <a:xfrm>
            <a:off x="6492240" y="2743200"/>
            <a:ext cx="4754880" cy="3291840"/>
          </a:xfrm>
          <a:prstGeom prst="rect">
            <a:avLst/>
          </a:prstGeom>
          <a:noFill/>
          <a:ln>
            <a:noFill/>
          </a:ln>
        </p:spPr>
        <p:txBody>
          <a:bodyPr wrap="square" lIns="0" tIns="0" rIns="0" bIns="0" anchor="t" rtlCol="0">
            <a:noAutofit/>
          </a:bodyPr>
          <a:lstStyle/>
          <a:p>
            <a:pPr algn="l">
              <a:spcAft>
                <a:spcPts val="100"/>
              </a:spcAft>
            </a:pPr>
            <a:r>
              <a:rPr lang="en-US" sz="1400" b="1" i="0" dirty="0">
                <a:solidFill>
                  <a:srgbClr val="111111"/>
                </a:solidFill>
                <a:latin typeface="Montserrat"/>
                <a:cs typeface="Montserrat"/>
              </a:rPr>
              <a:t>Brief and write the 11 counted pages and the home page</a:t>
            </a:r>
            <a:endParaRPr lang="en-US" sz="1400" dirty="0"/>
          </a:p>
          <a:p>
            <a:pPr algn="l">
              <a:spcAft>
                <a:spcPts val="1000"/>
              </a:spcAft>
            </a:pPr>
            <a:r>
              <a:rPr lang="en-US" sz="1100" b="0" i="0" dirty="0">
                <a:solidFill>
                  <a:srgbClr val="505858"/>
                </a:solidFill>
                <a:latin typeface="Montserrat"/>
                <a:cs typeface="Montserrat"/>
              </a:rPr>
              <a:t>Owner: WISE Digital Partners  |  Needed: After plan approval  |  Blocks: The site build</a:t>
            </a:r>
            <a:endParaRPr lang="en-US" sz="1100" dirty="0"/>
          </a:p>
        </p:txBody>
      </p:sp>
      <p:sp>
        <p:nvSpPr>
          <p:cNvPr id="12"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13" name="chrome:logo"/>
          <p:cNvPicPr>
            <a:picLocks noChangeAspect="1"/>
          </p:cNvPicPr>
          <p:nvPr/>
        </p:nvPicPr>
        <p:blipFill>
          <a:blip r:embed="rIdImg1"/>
          <a:stretch>
            <a:fillRect/>
          </a:stretch>
        </p:blipFill>
        <p:spPr>
          <a:xfrm>
            <a:off x="640080" y="6400800"/>
            <a:ext cx="665018" cy="274320"/>
          </a:xfrm>
          <a:prstGeom prst="rect">
            <a:avLst/>
          </a:prstGeom>
        </p:spPr>
      </p:pic>
      <p:sp>
        <p:nvSpPr>
          <p:cNvPr id="14"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5"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How We'll Measure This</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Success is measured by booking requests and calls, not by rankings alone</a:t>
            </a:r>
            <a:endParaRPr lang="en-US" sz="2800" dirty="0"/>
          </a:p>
        </p:txBody>
      </p:sp>
      <p:sp>
        <p:nvSpPr>
          <p:cNvPr id="6" name="chrome:badge"/>
          <p:cNvSpPr/>
          <p:nvPr/>
        </p:nvSpPr>
        <p:spPr>
          <a:xfrm>
            <a:off x="640080" y="2057400"/>
            <a:ext cx="2377440" cy="347472"/>
          </a:xfrm>
          <a:prstGeom prst="roundRect">
            <a:avLst>
              <a:gd name="adj" fmla="val 50000"/>
            </a:avLst>
          </a:prstGeom>
          <a:solidFill>
            <a:srgbClr val="E5F5EC"/>
          </a:solidFill>
          <a:ln>
            <a:noFill/>
          </a:ln>
        </p:spPr>
        <p:txBody>
          <a:bodyPr wrap="square" lIns="27432" tIns="27432" rIns="27432" bIns="27432" anchor="ctr" rtlCol="0">
            <a:noAutofit/>
          </a:bodyPr>
          <a:lstStyle/>
          <a:p>
            <a:pPr algn="ctr">
              <a:spcAft>
                <a:spcPts val="0"/>
              </a:spcAft>
            </a:pPr>
            <a:r>
              <a:rPr lang="en-US" sz="1100" b="1" i="0" dirty="0">
                <a:solidFill>
                  <a:srgbClr val="017A34"/>
                </a:solidFill>
                <a:latin typeface="Montserrat"/>
                <a:cs typeface="Montserrat"/>
              </a:rPr>
              <a:t>Targets are directional</a:t>
            </a:r>
            <a:endParaRPr lang="en-US" sz="1100" dirty="0"/>
          </a:p>
        </p:txBody>
      </p:sp>
      <p:graphicFrame>
        <p:nvGraphicFramePr>
          <p:cNvPr id="7" name="table"/>
          <p:cNvGraphicFramePr>
            <a:graphicFrameLocks noGrp="1"/>
          </p:cNvGraphicFramePr>
          <p:nvPr/>
        </p:nvGraphicFramePr>
        <p:xfrm>
          <a:off x="640080" y="2606040"/>
          <a:ext cx="10881360" cy="2194560"/>
        </p:xfrm>
        <a:graphic>
          <a:graphicData uri="http://schemas.openxmlformats.org/drawingml/2006/table">
            <a:tbl>
              <a:tblPr firstRow="1" bandRow="0"/>
              <a:tblGrid>
                <a:gridCol w="2176272"/>
                <a:gridCol w="2176272"/>
                <a:gridCol w="2176272"/>
                <a:gridCol w="2176272"/>
                <a:gridCol w="2176272"/>
              </a:tblGrid>
              <a:tr h="438912">
                <a:tc>
                  <a:txBody>
                    <a:bodyPr/>
                    <a:lstStyle/>
                    <a:p>
                      <a:pPr algn="l">
                        <a:spcAft>
                          <a:spcPts val="0"/>
                        </a:spcAft>
                      </a:pPr>
                      <a:r>
                        <a:rPr lang="en-US" sz="1200" b="1" i="0" dirty="0">
                          <a:solidFill>
                            <a:srgbClr val="FFFFFF"/>
                          </a:solidFill>
                          <a:latin typeface="Montserrat"/>
                          <a:cs typeface="Montserrat"/>
                        </a:rPr>
                        <a:t>Metric</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200" b="1" i="0" dirty="0">
                          <a:solidFill>
                            <a:srgbClr val="FFFFFF"/>
                          </a:solidFill>
                          <a:latin typeface="Montserrat"/>
                          <a:cs typeface="Montserrat"/>
                        </a:rPr>
                        <a:t>Baseline today</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200" b="1" i="0" dirty="0">
                          <a:solidFill>
                            <a:srgbClr val="FFFFFF"/>
                          </a:solidFill>
                          <a:latin typeface="Montserrat"/>
                          <a:cs typeface="Montserrat"/>
                        </a:rPr>
                        <a:t>3 months</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200" b="1" i="0" dirty="0">
                          <a:solidFill>
                            <a:srgbClr val="FFFFFF"/>
                          </a:solidFill>
                          <a:latin typeface="Montserrat"/>
                          <a:cs typeface="Montserrat"/>
                        </a:rPr>
                        <a:t>6 months</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c>
                  <a:txBody>
                    <a:bodyPr/>
                    <a:lstStyle/>
                    <a:p>
                      <a:pPr algn="l">
                        <a:spcAft>
                          <a:spcPts val="0"/>
                        </a:spcAft>
                      </a:pPr>
                      <a:r>
                        <a:rPr lang="en-US" sz="1200" b="1" i="0" dirty="0">
                          <a:solidFill>
                            <a:srgbClr val="FFFFFF"/>
                          </a:solidFill>
                          <a:latin typeface="Montserrat"/>
                          <a:cs typeface="Montserrat"/>
                        </a:rPr>
                        <a:t>12 months</a:t>
                      </a:r>
                      <a:endParaRPr lang="en-US" sz="12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051011"/>
                    </a:solidFill>
                  </a:tcPr>
                </a:tc>
              </a:tr>
              <a:tr h="438912">
                <a:tc>
                  <a:txBody>
                    <a:bodyPr/>
                    <a:lstStyle/>
                    <a:p>
                      <a:pPr algn="l">
                        <a:spcAft>
                          <a:spcPts val="0"/>
                        </a:spcAft>
                      </a:pPr>
                      <a:r>
                        <a:rPr lang="en-US" sz="1300" b="1" i="0" dirty="0">
                          <a:solidFill>
                            <a:srgbClr val="111111"/>
                          </a:solidFill>
                          <a:latin typeface="Montserrat"/>
                          <a:cs typeface="Montserrat"/>
                        </a:rPr>
                        <a:t>Booking requests and phone calls</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Not tracked yet</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Start to be traceable to the site</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Grow as new content widens the searches</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A steady source of new-patient enquiries</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438912">
                <a:tc>
                  <a:txBody>
                    <a:bodyPr/>
                    <a:lstStyle/>
                    <a:p>
                      <a:pPr algn="l">
                        <a:spcAft>
                          <a:spcPts val="0"/>
                        </a:spcAft>
                      </a:pPr>
                      <a:r>
                        <a:rPr lang="en-US" sz="1300" b="1" i="0" dirty="0">
                          <a:solidFill>
                            <a:srgbClr val="111111"/>
                          </a:solidFill>
                          <a:latin typeface="Montserrat"/>
                          <a:cs typeface="Montserrat"/>
                        </a:rPr>
                        <a:t>Rankings for the Tier 1 keywords</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No top-10 keywords yet</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Appear for lower-difficulty local searches first</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Widen as content and local links build</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Harder searches become realistic</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r h="438912">
                <a:tc>
                  <a:txBody>
                    <a:bodyPr/>
                    <a:lstStyle/>
                    <a:p>
                      <a:pPr algn="l">
                        <a:spcAft>
                          <a:spcPts val="0"/>
                        </a:spcAft>
                      </a:pPr>
                      <a:r>
                        <a:rPr lang="en-US" sz="1300" b="1" i="0" dirty="0">
                          <a:solidFill>
                            <a:srgbClr val="111111"/>
                          </a:solidFill>
                          <a:latin typeface="Montserrat"/>
                          <a:cs typeface="Montserrat"/>
                        </a:rPr>
                        <a:t>Enquiries from emergency and implant patients</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Not tracked yet</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Begin to be traceable</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Rise as the pages mature</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c>
                  <a:txBody>
                    <a:bodyPr/>
                    <a:lstStyle/>
                    <a:p>
                      <a:pPr algn="l">
                        <a:spcAft>
                          <a:spcPts val="0"/>
                        </a:spcAft>
                      </a:pPr>
                      <a:r>
                        <a:rPr lang="en-US" sz="1300" b="0" i="0" dirty="0">
                          <a:solidFill>
                            <a:srgbClr val="111111"/>
                          </a:solidFill>
                          <a:latin typeface="Montserrat"/>
                          <a:cs typeface="Montserrat"/>
                        </a:rPr>
                        <a:t>A steady source</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FFFFF"/>
                    </a:solidFill>
                  </a:tcPr>
                </a:tc>
              </a:tr>
              <a:tr h="438912">
                <a:tc>
                  <a:txBody>
                    <a:bodyPr/>
                    <a:lstStyle/>
                    <a:p>
                      <a:pPr algn="l">
                        <a:spcAft>
                          <a:spcPts val="0"/>
                        </a:spcAft>
                      </a:pPr>
                      <a:r>
                        <a:rPr lang="en-US" sz="1300" b="1" i="0" dirty="0">
                          <a:solidFill>
                            <a:srgbClr val="111111"/>
                          </a:solidFill>
                          <a:latin typeface="Montserrat"/>
                          <a:cs typeface="Montserrat"/>
                        </a:rPr>
                        <a:t>AI answer citations (CITE Score)</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N/A</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Not yet expected</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Start to be cited on cost questions</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c>
                  <a:txBody>
                    <a:bodyPr/>
                    <a:lstStyle/>
                    <a:p>
                      <a:pPr algn="l">
                        <a:spcAft>
                          <a:spcPts val="0"/>
                        </a:spcAft>
                      </a:pPr>
                      <a:r>
                        <a:rPr lang="en-US" sz="1300" b="0" i="0" dirty="0">
                          <a:solidFill>
                            <a:srgbClr val="111111"/>
                          </a:solidFill>
                          <a:latin typeface="Montserrat"/>
                          <a:cs typeface="Montserrat"/>
                        </a:rPr>
                        <a:t>Keep building</a:t>
                      </a:r>
                      <a:endParaRPr lang="en-US" sz="1300" dirty="0"/>
                    </a:p>
                  </a:txBody>
                  <a:tcPr marL="73152" marR="73152" marT="36576" marB="36576" anchor="ctr">
                    <a:lnL w="6350">
                      <a:solidFill>
                        <a:srgbClr val="CCCCCC"/>
                      </a:solidFill>
                    </a:lnL>
                    <a:lnR w="6350">
                      <a:solidFill>
                        <a:srgbClr val="CCCCCC"/>
                      </a:solidFill>
                    </a:lnR>
                    <a:lnT w="6350">
                      <a:solidFill>
                        <a:srgbClr val="CCCCCC"/>
                      </a:solidFill>
                    </a:lnT>
                    <a:lnB w="6350">
                      <a:solidFill>
                        <a:srgbClr val="CCCCCC"/>
                      </a:solidFill>
                    </a:lnB>
                    <a:solidFill>
                      <a:srgbClr val="F7F7F7"/>
                    </a:solidFill>
                  </a:tcPr>
                </a:tc>
              </a:tr>
            </a:tbl>
          </a:graphicData>
        </a:graphic>
      </p:graphicFrame>
      <p:sp>
        <p:nvSpPr>
          <p:cNvPr id="8"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9" name="chrome:logo"/>
          <p:cNvPicPr>
            <a:picLocks noChangeAspect="1"/>
          </p:cNvPicPr>
          <p:nvPr/>
        </p:nvPicPr>
        <p:blipFill>
          <a:blip r:embed="rIdImg1"/>
          <a:stretch>
            <a:fillRect/>
          </a:stretch>
        </p:blipFill>
        <p:spPr>
          <a:xfrm>
            <a:off x="640080" y="6400800"/>
            <a:ext cx="665018" cy="274320"/>
          </a:xfrm>
          <a:prstGeom prst="rect">
            <a:avLst/>
          </a:prstGeom>
        </p:spPr>
      </p:pic>
      <p:sp>
        <p:nvSpPr>
          <p:cNvPr id="10"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1"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Your Team</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One accountable person on each side keeps approvals and the build moving</a:t>
            </a:r>
            <a:endParaRPr lang="en-US" sz="2800" dirty="0"/>
          </a:p>
        </p:txBody>
      </p:sp>
      <p:sp>
        <p:nvSpPr>
          <p:cNvPr id="6" name="chrome:team0"/>
          <p:cNvSpPr txBox="1"/>
          <p:nvPr/>
        </p:nvSpPr>
        <p:spPr>
          <a:xfrm>
            <a:off x="640080" y="2103120"/>
            <a:ext cx="10881360" cy="320040"/>
          </a:xfrm>
          <a:prstGeom prst="rect">
            <a:avLst/>
          </a:prstGeom>
          <a:noFill/>
          <a:ln>
            <a:noFill/>
          </a:ln>
        </p:spPr>
        <p:txBody>
          <a:bodyPr wrap="square" lIns="0" tIns="0" rIns="0" bIns="0" anchor="t" rtlCol="0">
            <a:noAutofit/>
          </a:bodyPr>
          <a:lstStyle/>
          <a:p>
            <a:pPr algn="l">
              <a:spcAft>
                <a:spcPts val="0"/>
              </a:spcAft>
            </a:pPr>
            <a:r>
              <a:rPr lang="en-US" sz="1200" b="1" i="0" spc="150" cap="all" dirty="0">
                <a:solidFill>
                  <a:srgbClr val="505858"/>
                </a:solidFill>
                <a:latin typeface="Montserrat"/>
                <a:cs typeface="Montserrat"/>
              </a:rPr>
              <a:t>Larkspur Family Dental</a:t>
            </a:r>
            <a:endParaRPr lang="en-US" sz="1200" dirty="0"/>
          </a:p>
        </p:txBody>
      </p:sp>
      <p:sp>
        <p:nvSpPr>
          <p:cNvPr id="7" name="chrome:initials"/>
          <p:cNvSpPr/>
          <p:nvPr/>
        </p:nvSpPr>
        <p:spPr>
          <a:xfrm>
            <a:off x="640080" y="2514600"/>
            <a:ext cx="731520" cy="731520"/>
          </a:xfrm>
          <a:prstGeom prst="ellipse">
            <a:avLst/>
          </a:prstGeom>
          <a:solidFill>
            <a:srgbClr val="E5F5EC"/>
          </a:solidFill>
          <a:ln>
            <a:noFill/>
          </a:ln>
        </p:spPr>
        <p:txBody>
          <a:bodyPr wrap="square" lIns="0" tIns="0" rIns="0" bIns="0" anchor="ctr" rtlCol="0">
            <a:noAutofit/>
          </a:bodyPr>
          <a:lstStyle/>
          <a:p>
            <a:pPr algn="ctr">
              <a:spcAft>
                <a:spcPts val="0"/>
              </a:spcAft>
            </a:pPr>
            <a:r>
              <a:rPr lang="en-US" sz="1600" b="1" i="0" dirty="0">
                <a:solidFill>
                  <a:srgbClr val="017A34"/>
                </a:solidFill>
                <a:latin typeface="Montserrat"/>
                <a:cs typeface="Montserrat"/>
              </a:rPr>
              <a:t>MO</a:t>
            </a:r>
            <a:endParaRPr lang="en-US" sz="1600" dirty="0"/>
          </a:p>
        </p:txBody>
      </p:sp>
      <p:sp>
        <p:nvSpPr>
          <p:cNvPr id="8" name="person:client1"/>
          <p:cNvSpPr txBox="1"/>
          <p:nvPr/>
        </p:nvSpPr>
        <p:spPr>
          <a:xfrm>
            <a:off x="1508760" y="2468880"/>
            <a:ext cx="4434840" cy="1463040"/>
          </a:xfrm>
          <a:prstGeom prst="rect">
            <a:avLst/>
          </a:prstGeom>
          <a:noFill/>
          <a:ln>
            <a:noFill/>
          </a:ln>
        </p:spPr>
        <p:txBody>
          <a:bodyPr wrap="square" lIns="0" tIns="0" rIns="0" bIns="0" anchor="t" rtlCol="0">
            <a:noAutofit/>
          </a:bodyPr>
          <a:lstStyle/>
          <a:p>
            <a:pPr algn="l">
              <a:spcAft>
                <a:spcPts val="200"/>
              </a:spcAft>
            </a:pPr>
            <a:r>
              <a:rPr lang="en-US" sz="1400" b="1" i="0" dirty="0">
                <a:solidFill>
                  <a:srgbClr val="111111"/>
                </a:solidFill>
                <a:latin typeface="Montserrat"/>
                <a:cs typeface="Montserrat"/>
              </a:rPr>
              <a:t>Dr. Maya Okafor</a:t>
            </a:r>
            <a:endParaRPr lang="en-US" sz="1400" dirty="0"/>
          </a:p>
          <a:p>
            <a:pPr algn="l">
              <a:spcAft>
                <a:spcPts val="200"/>
              </a:spcAft>
            </a:pPr>
            <a:r>
              <a:rPr lang="en-US" sz="1200" b="1" i="0" dirty="0">
                <a:solidFill>
                  <a:srgbClr val="017A34"/>
                </a:solidFill>
                <a:latin typeface="Montserrat"/>
                <a:cs typeface="Montserrat"/>
              </a:rPr>
              <a:t>Founder and dentist</a:t>
            </a:r>
            <a:endParaRPr lang="en-US" sz="1200" dirty="0"/>
          </a:p>
          <a:p>
            <a:pPr algn="l">
              <a:lnSpc>
                <a:spcPct val="105000"/>
              </a:lnSpc>
              <a:spcAft>
                <a:spcPts val="0"/>
              </a:spcAft>
            </a:pPr>
            <a:r>
              <a:rPr lang="en-US" sz="1100" b="0" i="0" dirty="0">
                <a:solidFill>
                  <a:srgbClr val="505858"/>
                </a:solidFill>
                <a:latin typeface="Montserrat"/>
                <a:cs typeface="Montserrat"/>
              </a:rPr>
              <a:t>Clinical claims, approvals and photos</a:t>
            </a:r>
            <a:endParaRPr lang="en-US" sz="1100" dirty="0"/>
          </a:p>
        </p:txBody>
      </p:sp>
      <p:sp>
        <p:nvSpPr>
          <p:cNvPr id="9" name="chrome:team1"/>
          <p:cNvSpPr txBox="1"/>
          <p:nvPr/>
        </p:nvSpPr>
        <p:spPr>
          <a:xfrm>
            <a:off x="640080" y="4160520"/>
            <a:ext cx="10881360" cy="320040"/>
          </a:xfrm>
          <a:prstGeom prst="rect">
            <a:avLst/>
          </a:prstGeom>
          <a:noFill/>
          <a:ln>
            <a:noFill/>
          </a:ln>
        </p:spPr>
        <p:txBody>
          <a:bodyPr wrap="square" lIns="0" tIns="0" rIns="0" bIns="0" anchor="t" rtlCol="0">
            <a:noAutofit/>
          </a:bodyPr>
          <a:lstStyle/>
          <a:p>
            <a:pPr algn="l">
              <a:spcAft>
                <a:spcPts val="0"/>
              </a:spcAft>
            </a:pPr>
            <a:r>
              <a:rPr lang="en-US" sz="1200" b="1" i="0" spc="150" cap="all" dirty="0">
                <a:solidFill>
                  <a:srgbClr val="505858"/>
                </a:solidFill>
                <a:latin typeface="Montserrat"/>
                <a:cs typeface="Montserrat"/>
              </a:rPr>
              <a:t>WISE Digital Partners</a:t>
            </a:r>
            <a:endParaRPr lang="en-US" sz="1200" dirty="0"/>
          </a:p>
        </p:txBody>
      </p:sp>
      <p:sp>
        <p:nvSpPr>
          <p:cNvPr id="10" name="chrome:initials"/>
          <p:cNvSpPr/>
          <p:nvPr/>
        </p:nvSpPr>
        <p:spPr>
          <a:xfrm>
            <a:off x="640080" y="4572000"/>
            <a:ext cx="731520" cy="731520"/>
          </a:xfrm>
          <a:prstGeom prst="ellipse">
            <a:avLst/>
          </a:prstGeom>
          <a:solidFill>
            <a:srgbClr val="E5F5EC"/>
          </a:solidFill>
          <a:ln>
            <a:noFill/>
          </a:ln>
        </p:spPr>
        <p:txBody>
          <a:bodyPr wrap="square" lIns="0" tIns="0" rIns="0" bIns="0" anchor="ctr" rtlCol="0">
            <a:noAutofit/>
          </a:bodyPr>
          <a:lstStyle/>
          <a:p>
            <a:pPr algn="ctr">
              <a:spcAft>
                <a:spcPts val="0"/>
              </a:spcAft>
            </a:pPr>
            <a:r>
              <a:rPr lang="en-US" sz="1600" b="1" i="0" dirty="0">
                <a:solidFill>
                  <a:srgbClr val="017A34"/>
                </a:solidFill>
                <a:latin typeface="Montserrat"/>
                <a:cs typeface="Montserrat"/>
              </a:rPr>
              <a:t>JP</a:t>
            </a:r>
            <a:endParaRPr lang="en-US" sz="1600" dirty="0"/>
          </a:p>
        </p:txBody>
      </p:sp>
      <p:sp>
        <p:nvSpPr>
          <p:cNvPr id="11" name="person:wise1"/>
          <p:cNvSpPr txBox="1"/>
          <p:nvPr/>
        </p:nvSpPr>
        <p:spPr>
          <a:xfrm>
            <a:off x="1508760" y="4526280"/>
            <a:ext cx="4434840" cy="1463040"/>
          </a:xfrm>
          <a:prstGeom prst="rect">
            <a:avLst/>
          </a:prstGeom>
          <a:noFill/>
          <a:ln>
            <a:noFill/>
          </a:ln>
        </p:spPr>
        <p:txBody>
          <a:bodyPr wrap="square" lIns="0" tIns="0" rIns="0" bIns="0" anchor="t" rtlCol="0">
            <a:noAutofit/>
          </a:bodyPr>
          <a:lstStyle/>
          <a:p>
            <a:pPr algn="l">
              <a:spcAft>
                <a:spcPts val="200"/>
              </a:spcAft>
            </a:pPr>
            <a:r>
              <a:rPr lang="en-US" sz="1400" b="1" i="0" dirty="0">
                <a:solidFill>
                  <a:srgbClr val="111111"/>
                </a:solidFill>
                <a:latin typeface="Montserrat"/>
                <a:cs typeface="Montserrat"/>
              </a:rPr>
              <a:t>Jordan Pike</a:t>
            </a:r>
            <a:endParaRPr lang="en-US" sz="1400" dirty="0"/>
          </a:p>
          <a:p>
            <a:pPr algn="l">
              <a:spcAft>
                <a:spcPts val="200"/>
              </a:spcAft>
            </a:pPr>
            <a:r>
              <a:rPr lang="en-US" sz="1200" b="1" i="0" dirty="0">
                <a:solidFill>
                  <a:srgbClr val="017A34"/>
                </a:solidFill>
                <a:latin typeface="Montserrat"/>
                <a:cs typeface="Montserrat"/>
              </a:rPr>
              <a:t>[NEEDS INPUT: Jordan Pike's role at WISE]</a:t>
            </a:r>
            <a:endParaRPr lang="en-US" sz="1200" dirty="0"/>
          </a:p>
          <a:p>
            <a:pPr algn="l">
              <a:lnSpc>
                <a:spcPct val="105000"/>
              </a:lnSpc>
              <a:spcAft>
                <a:spcPts val="0"/>
              </a:spcAft>
            </a:pPr>
            <a:r>
              <a:rPr lang="en-US" sz="1100" b="0" i="0" dirty="0">
                <a:solidFill>
                  <a:srgbClr val="505858"/>
                </a:solidFill>
                <a:latin typeface="Montserrat"/>
                <a:cs typeface="Montserrat"/>
              </a:rPr>
              <a:t>WISE side of the kickoff call</a:t>
            </a:r>
            <a:endParaRPr lang="en-US" sz="1100" dirty="0"/>
          </a:p>
        </p:txBody>
      </p:sp>
      <p:sp>
        <p:nvSpPr>
          <p:cNvPr id="12"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13" name="chrome:logo"/>
          <p:cNvPicPr>
            <a:picLocks noChangeAspect="1"/>
          </p:cNvPicPr>
          <p:nvPr/>
        </p:nvPicPr>
        <p:blipFill>
          <a:blip r:embed="rIdImg1"/>
          <a:stretch>
            <a:fillRect/>
          </a:stretch>
        </p:blipFill>
        <p:spPr>
          <a:xfrm>
            <a:off x="640080" y="6400800"/>
            <a:ext cx="665018" cy="274320"/>
          </a:xfrm>
          <a:prstGeom prst="rect">
            <a:avLst/>
          </a:prstGeom>
        </p:spPr>
      </p:pic>
      <p:sp>
        <p:nvSpPr>
          <p:cNvPr id="14"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15"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rome:accent"/>
          <p:cNvSpPr/>
          <p:nvPr/>
        </p:nvSpPr>
        <p:spPr>
          <a:xfrm>
            <a:off x="640080" y="338328"/>
            <a:ext cx="502920" cy="54864"/>
          </a:xfrm>
          <a:prstGeom prst="rect">
            <a:avLst/>
          </a:prstGeom>
          <a:solidFill>
            <a:srgbClr val="019F44"/>
          </a:solidFill>
          <a:ln>
            <a:noFill/>
          </a:ln>
        </p:spPr>
        <p:txBody>
          <a:bodyPr wrap="square" lIns="73152" tIns="73152" rIns="73152" bIns="73152" anchor="t" rtlCol="0">
            <a:noAutofit/>
          </a:bodyPr>
          <a:lstStyle/>
          <a:p>
            <a:endParaRPr lang="en-US" dirty="0"/>
          </a:p>
        </p:txBody>
      </p:sp>
      <p:sp>
        <p:nvSpPr>
          <p:cNvPr id="4" name="eyebrow"/>
          <p:cNvSpPr txBox="1"/>
          <p:nvPr/>
        </p:nvSpPr>
        <p:spPr>
          <a:xfrm>
            <a:off x="640080" y="502920"/>
            <a:ext cx="10881360" cy="274320"/>
          </a:xfrm>
          <a:prstGeom prst="rect">
            <a:avLst/>
          </a:prstGeom>
          <a:noFill/>
          <a:ln>
            <a:noFill/>
          </a:ln>
        </p:spPr>
        <p:txBody>
          <a:bodyPr wrap="square" lIns="0" tIns="0" rIns="0" bIns="0" anchor="t" rtlCol="0">
            <a:noAutofit/>
          </a:bodyPr>
          <a:lstStyle/>
          <a:p>
            <a:pPr algn="l">
              <a:spcAft>
                <a:spcPts val="0"/>
              </a:spcAft>
            </a:pPr>
            <a:r>
              <a:rPr lang="en-US" sz="1100" b="1" i="0" spc="250" cap="all" dirty="0">
                <a:solidFill>
                  <a:srgbClr val="505858"/>
                </a:solidFill>
                <a:latin typeface="Montserrat"/>
                <a:cs typeface="Montserrat"/>
              </a:rPr>
              <a:t>What Happens Next</a:t>
            </a:r>
            <a:endParaRPr lang="en-US" sz="1100" dirty="0"/>
          </a:p>
        </p:txBody>
      </p:sp>
      <p:sp>
        <p:nvSpPr>
          <p:cNvPr id="5" name="headline"/>
          <p:cNvSpPr txBox="1"/>
          <p:nvPr/>
        </p:nvSpPr>
        <p:spPr>
          <a:xfrm>
            <a:off x="640080" y="822960"/>
            <a:ext cx="10881360" cy="1097280"/>
          </a:xfrm>
          <a:prstGeom prst="rect">
            <a:avLst/>
          </a:prstGeom>
          <a:noFill/>
          <a:ln>
            <a:noFill/>
          </a:ln>
        </p:spPr>
        <p:txBody>
          <a:bodyPr wrap="square" lIns="0" tIns="0" rIns="0" bIns="0" anchor="t" rtlCol="0">
            <a:noAutofit/>
          </a:bodyPr>
          <a:lstStyle/>
          <a:p>
            <a:pPr algn="l">
              <a:lnSpc>
                <a:spcPct val="95000"/>
              </a:lnSpc>
              <a:spcAft>
                <a:spcPts val="0"/>
              </a:spcAft>
            </a:pPr>
            <a:r>
              <a:rPr lang="en-US" sz="2800" b="1" i="0" dirty="0">
                <a:solidFill>
                  <a:srgbClr val="111111"/>
                </a:solidFill>
                <a:latin typeface="Montserrat"/>
                <a:cs typeface="Montserrat"/>
              </a:rPr>
              <a:t>Five approvals and inputs from the practice start the writing of every page</a:t>
            </a:r>
            <a:endParaRPr lang="en-US" sz="2800" dirty="0"/>
          </a:p>
        </p:txBody>
      </p:sp>
      <p:sp>
        <p:nvSpPr>
          <p:cNvPr id="6" name="chrome:num"/>
          <p:cNvSpPr/>
          <p:nvPr/>
        </p:nvSpPr>
        <p:spPr>
          <a:xfrm>
            <a:off x="640080" y="2228088"/>
            <a:ext cx="420624" cy="420624"/>
          </a:xfrm>
          <a:prstGeom prst="ellipse">
            <a:avLst/>
          </a:prstGeom>
          <a:solidFill>
            <a:srgbClr val="019F44"/>
          </a:solidFill>
          <a:ln>
            <a:noFill/>
          </a:ln>
        </p:spPr>
        <p:txBody>
          <a:bodyPr wrap="square" lIns="0" tIns="0" rIns="0" bIns="0" anchor="ctr" rtlCol="0">
            <a:noAutofit/>
          </a:bodyPr>
          <a:lstStyle/>
          <a:p>
            <a:pPr algn="ctr">
              <a:spcAft>
                <a:spcPts val="0"/>
              </a:spcAft>
            </a:pPr>
            <a:r>
              <a:rPr lang="en-US" sz="1300" b="1" i="0" dirty="0">
                <a:solidFill>
                  <a:srgbClr val="FFFFFF"/>
                </a:solidFill>
                <a:latin typeface="Montserrat"/>
                <a:cs typeface="Montserrat"/>
              </a:rPr>
              <a:t>1</a:t>
            </a:r>
            <a:endParaRPr lang="en-US" sz="1300" dirty="0"/>
          </a:p>
        </p:txBody>
      </p:sp>
      <p:sp>
        <p:nvSpPr>
          <p:cNvPr id="7" name="action:1"/>
          <p:cNvSpPr txBox="1"/>
          <p:nvPr/>
        </p:nvSpPr>
        <p:spPr>
          <a:xfrm>
            <a:off x="1234440" y="2103120"/>
            <a:ext cx="6400800" cy="670560"/>
          </a:xfrm>
          <a:prstGeom prst="rect">
            <a:avLst/>
          </a:prstGeom>
          <a:noFill/>
          <a:ln>
            <a:noFill/>
          </a:ln>
        </p:spPr>
        <p:txBody>
          <a:bodyPr wrap="square" lIns="0" tIns="0" rIns="0" bIns="0" anchor="ctr" rtlCol="0">
            <a:noAutofit/>
          </a:bodyPr>
          <a:lstStyle/>
          <a:p>
            <a:pPr algn="l">
              <a:spcAft>
                <a:spcPts val="0"/>
              </a:spcAft>
            </a:pPr>
            <a:r>
              <a:rPr lang="en-US" sz="1700" b="1" i="0" dirty="0">
                <a:solidFill>
                  <a:srgbClr val="111111"/>
                </a:solidFill>
                <a:latin typeface="Montserrat"/>
                <a:cs typeface="Montserrat"/>
              </a:rPr>
              <a:t>Approve this plan and the sitemap</a:t>
            </a:r>
            <a:endParaRPr lang="en-US" sz="1700" dirty="0"/>
          </a:p>
        </p:txBody>
      </p:sp>
      <p:sp>
        <p:nvSpPr>
          <p:cNvPr id="8" name="owner:1"/>
          <p:cNvSpPr txBox="1"/>
          <p:nvPr/>
        </p:nvSpPr>
        <p:spPr>
          <a:xfrm>
            <a:off x="7772400" y="2103120"/>
            <a:ext cx="3749040" cy="670560"/>
          </a:xfrm>
          <a:prstGeom prst="rect">
            <a:avLst/>
          </a:prstGeom>
          <a:noFill/>
          <a:ln>
            <a:noFill/>
          </a:ln>
        </p:spPr>
        <p:txBody>
          <a:bodyPr wrap="square" lIns="0" tIns="0" rIns="0" bIns="0" anchor="ctr" rtlCol="0">
            <a:noAutofit/>
          </a:bodyPr>
          <a:lstStyle/>
          <a:p>
            <a:pPr algn="r">
              <a:spcAft>
                <a:spcPts val="0"/>
              </a:spcAft>
            </a:pPr>
            <a:r>
              <a:rPr lang="en-US" sz="1300" b="1" i="0" dirty="0">
                <a:solidFill>
                  <a:srgbClr val="111111"/>
                </a:solidFill>
                <a:latin typeface="Montserrat"/>
                <a:cs typeface="Montserrat"/>
              </a:rPr>
              <a:t>Dr. Maya Okafor</a:t>
            </a:r>
            <a:r>
              <a:rPr lang="en-US" sz="1300" b="0" i="0" dirty="0">
                <a:solidFill>
                  <a:srgbClr val="505858"/>
                </a:solidFill>
                <a:latin typeface="Montserrat"/>
                <a:cs typeface="Montserrat"/>
              </a:rPr>
              <a:t>   Monday</a:t>
            </a:r>
            <a:endParaRPr lang="en-US" sz="1300" dirty="0"/>
          </a:p>
        </p:txBody>
      </p:sp>
      <p:sp>
        <p:nvSpPr>
          <p:cNvPr id="9" name="chrome:num"/>
          <p:cNvSpPr/>
          <p:nvPr/>
        </p:nvSpPr>
        <p:spPr>
          <a:xfrm>
            <a:off x="640080" y="2898648"/>
            <a:ext cx="420624" cy="420624"/>
          </a:xfrm>
          <a:prstGeom prst="ellipse">
            <a:avLst/>
          </a:prstGeom>
          <a:solidFill>
            <a:srgbClr val="051011"/>
          </a:solidFill>
          <a:ln>
            <a:noFill/>
          </a:ln>
        </p:spPr>
        <p:txBody>
          <a:bodyPr wrap="square" lIns="0" tIns="0" rIns="0" bIns="0" anchor="ctr" rtlCol="0">
            <a:noAutofit/>
          </a:bodyPr>
          <a:lstStyle/>
          <a:p>
            <a:pPr algn="ctr">
              <a:spcAft>
                <a:spcPts val="0"/>
              </a:spcAft>
            </a:pPr>
            <a:r>
              <a:rPr lang="en-US" sz="1300" b="1" i="0" dirty="0">
                <a:solidFill>
                  <a:srgbClr val="FFFFFF"/>
                </a:solidFill>
                <a:latin typeface="Montserrat"/>
                <a:cs typeface="Montserrat"/>
              </a:rPr>
              <a:t>2</a:t>
            </a:r>
            <a:endParaRPr lang="en-US" sz="1300" dirty="0"/>
          </a:p>
        </p:txBody>
      </p:sp>
      <p:sp>
        <p:nvSpPr>
          <p:cNvPr id="10" name="action:2"/>
          <p:cNvSpPr txBox="1"/>
          <p:nvPr/>
        </p:nvSpPr>
        <p:spPr>
          <a:xfrm>
            <a:off x="1234440" y="2773680"/>
            <a:ext cx="6400800" cy="670560"/>
          </a:xfrm>
          <a:prstGeom prst="rect">
            <a:avLst/>
          </a:prstGeom>
          <a:noFill/>
          <a:ln>
            <a:noFill/>
          </a:ln>
        </p:spPr>
        <p:txBody>
          <a:bodyPr wrap="square" lIns="0" tIns="0" rIns="0" bIns="0" anchor="ctr" rtlCol="0">
            <a:noAutofit/>
          </a:bodyPr>
          <a:lstStyle/>
          <a:p>
            <a:pPr algn="l">
              <a:spcAft>
                <a:spcPts val="0"/>
              </a:spcAft>
            </a:pPr>
            <a:r>
              <a:rPr lang="en-US" sz="1700" b="1" i="0" dirty="0">
                <a:solidFill>
                  <a:srgbClr val="111111"/>
                </a:solidFill>
                <a:latin typeface="Montserrat"/>
                <a:cs typeface="Montserrat"/>
              </a:rPr>
              <a:t>Supply implant and other service prices</a:t>
            </a:r>
            <a:endParaRPr lang="en-US" sz="1700" dirty="0"/>
          </a:p>
        </p:txBody>
      </p:sp>
      <p:sp>
        <p:nvSpPr>
          <p:cNvPr id="11" name="owner:2"/>
          <p:cNvSpPr txBox="1"/>
          <p:nvPr/>
        </p:nvSpPr>
        <p:spPr>
          <a:xfrm>
            <a:off x="7772400" y="2773680"/>
            <a:ext cx="3749040" cy="670560"/>
          </a:xfrm>
          <a:prstGeom prst="rect">
            <a:avLst/>
          </a:prstGeom>
          <a:noFill/>
          <a:ln>
            <a:noFill/>
          </a:ln>
        </p:spPr>
        <p:txBody>
          <a:bodyPr wrap="square" lIns="0" tIns="0" rIns="0" bIns="0" anchor="ctr" rtlCol="0">
            <a:noAutofit/>
          </a:bodyPr>
          <a:lstStyle/>
          <a:p>
            <a:pPr algn="r">
              <a:spcAft>
                <a:spcPts val="0"/>
              </a:spcAft>
            </a:pPr>
            <a:r>
              <a:rPr lang="en-US" sz="1300" b="1" i="0" dirty="0">
                <a:solidFill>
                  <a:srgbClr val="111111"/>
                </a:solidFill>
                <a:latin typeface="Montserrat"/>
                <a:cs typeface="Montserrat"/>
              </a:rPr>
              <a:t>Dr. Maya Okafor</a:t>
            </a:r>
            <a:r>
              <a:rPr lang="en-US" sz="1300" b="0" i="0" dirty="0">
                <a:solidFill>
                  <a:srgbClr val="505858"/>
                </a:solidFill>
                <a:latin typeface="Montserrat"/>
                <a:cs typeface="Montserrat"/>
              </a:rPr>
              <a:t>   Before content review</a:t>
            </a:r>
            <a:endParaRPr lang="en-US" sz="1300" dirty="0"/>
          </a:p>
        </p:txBody>
      </p:sp>
      <p:sp>
        <p:nvSpPr>
          <p:cNvPr id="12" name="chrome:num"/>
          <p:cNvSpPr/>
          <p:nvPr/>
        </p:nvSpPr>
        <p:spPr>
          <a:xfrm>
            <a:off x="640080" y="3569208"/>
            <a:ext cx="420624" cy="420624"/>
          </a:xfrm>
          <a:prstGeom prst="ellipse">
            <a:avLst/>
          </a:prstGeom>
          <a:solidFill>
            <a:srgbClr val="051011"/>
          </a:solidFill>
          <a:ln>
            <a:noFill/>
          </a:ln>
        </p:spPr>
        <p:txBody>
          <a:bodyPr wrap="square" lIns="0" tIns="0" rIns="0" bIns="0" anchor="ctr" rtlCol="0">
            <a:noAutofit/>
          </a:bodyPr>
          <a:lstStyle/>
          <a:p>
            <a:pPr algn="ctr">
              <a:spcAft>
                <a:spcPts val="0"/>
              </a:spcAft>
            </a:pPr>
            <a:r>
              <a:rPr lang="en-US" sz="1300" b="1" i="0" dirty="0">
                <a:solidFill>
                  <a:srgbClr val="FFFFFF"/>
                </a:solidFill>
                <a:latin typeface="Montserrat"/>
                <a:cs typeface="Montserrat"/>
              </a:rPr>
              <a:t>3</a:t>
            </a:r>
            <a:endParaRPr lang="en-US" sz="1300" dirty="0"/>
          </a:p>
        </p:txBody>
      </p:sp>
      <p:sp>
        <p:nvSpPr>
          <p:cNvPr id="13" name="action:3"/>
          <p:cNvSpPr txBox="1"/>
          <p:nvPr/>
        </p:nvSpPr>
        <p:spPr>
          <a:xfrm>
            <a:off x="1234440" y="3444240"/>
            <a:ext cx="6400800" cy="670560"/>
          </a:xfrm>
          <a:prstGeom prst="rect">
            <a:avLst/>
          </a:prstGeom>
          <a:noFill/>
          <a:ln>
            <a:noFill/>
          </a:ln>
        </p:spPr>
        <p:txBody>
          <a:bodyPr wrap="square" lIns="0" tIns="0" rIns="0" bIns="0" anchor="ctr" rtlCol="0">
            <a:noAutofit/>
          </a:bodyPr>
          <a:lstStyle/>
          <a:p>
            <a:pPr algn="l">
              <a:spcAft>
                <a:spcPts val="0"/>
              </a:spcAft>
            </a:pPr>
            <a:r>
              <a:rPr lang="en-US" sz="1700" b="1" i="0" dirty="0">
                <a:solidFill>
                  <a:srgbClr val="111111"/>
                </a:solidFill>
                <a:latin typeface="Montserrat"/>
                <a:cs typeface="Montserrat"/>
              </a:rPr>
              <a:t>Share any awards or press and review clinical claims</a:t>
            </a:r>
            <a:endParaRPr lang="en-US" sz="1700" dirty="0"/>
          </a:p>
        </p:txBody>
      </p:sp>
      <p:sp>
        <p:nvSpPr>
          <p:cNvPr id="14" name="owner:3"/>
          <p:cNvSpPr txBox="1"/>
          <p:nvPr/>
        </p:nvSpPr>
        <p:spPr>
          <a:xfrm>
            <a:off x="7772400" y="3444240"/>
            <a:ext cx="3749040" cy="670560"/>
          </a:xfrm>
          <a:prstGeom prst="rect">
            <a:avLst/>
          </a:prstGeom>
          <a:noFill/>
          <a:ln>
            <a:noFill/>
          </a:ln>
        </p:spPr>
        <p:txBody>
          <a:bodyPr wrap="square" lIns="0" tIns="0" rIns="0" bIns="0" anchor="ctr" rtlCol="0">
            <a:noAutofit/>
          </a:bodyPr>
          <a:lstStyle/>
          <a:p>
            <a:pPr algn="r">
              <a:spcAft>
                <a:spcPts val="0"/>
              </a:spcAft>
            </a:pPr>
            <a:r>
              <a:rPr lang="en-US" sz="1300" b="1" i="0" dirty="0">
                <a:solidFill>
                  <a:srgbClr val="111111"/>
                </a:solidFill>
                <a:latin typeface="Montserrat"/>
                <a:cs typeface="Montserrat"/>
              </a:rPr>
              <a:t>Dr. Maya Okafor</a:t>
            </a:r>
            <a:r>
              <a:rPr lang="en-US" sz="1300" b="0" i="0" dirty="0">
                <a:solidFill>
                  <a:srgbClr val="505858"/>
                </a:solidFill>
                <a:latin typeface="Montserrat"/>
                <a:cs typeface="Montserrat"/>
              </a:rPr>
              <a:t>   Before content review</a:t>
            </a:r>
            <a:endParaRPr lang="en-US" sz="1300" dirty="0"/>
          </a:p>
        </p:txBody>
      </p:sp>
      <p:sp>
        <p:nvSpPr>
          <p:cNvPr id="15" name="chrome:num"/>
          <p:cNvSpPr/>
          <p:nvPr/>
        </p:nvSpPr>
        <p:spPr>
          <a:xfrm>
            <a:off x="640080" y="4239768"/>
            <a:ext cx="420624" cy="420624"/>
          </a:xfrm>
          <a:prstGeom prst="ellipse">
            <a:avLst/>
          </a:prstGeom>
          <a:solidFill>
            <a:srgbClr val="051011"/>
          </a:solidFill>
          <a:ln>
            <a:noFill/>
          </a:ln>
        </p:spPr>
        <p:txBody>
          <a:bodyPr wrap="square" lIns="0" tIns="0" rIns="0" bIns="0" anchor="ctr" rtlCol="0">
            <a:noAutofit/>
          </a:bodyPr>
          <a:lstStyle/>
          <a:p>
            <a:pPr algn="ctr">
              <a:spcAft>
                <a:spcPts val="0"/>
              </a:spcAft>
            </a:pPr>
            <a:r>
              <a:rPr lang="en-US" sz="1300" b="1" i="0" dirty="0">
                <a:solidFill>
                  <a:srgbClr val="FFFFFF"/>
                </a:solidFill>
                <a:latin typeface="Montserrat"/>
                <a:cs typeface="Montserrat"/>
              </a:rPr>
              <a:t>4</a:t>
            </a:r>
            <a:endParaRPr lang="en-US" sz="1300" dirty="0"/>
          </a:p>
        </p:txBody>
      </p:sp>
      <p:sp>
        <p:nvSpPr>
          <p:cNvPr id="16" name="action:4"/>
          <p:cNvSpPr txBox="1"/>
          <p:nvPr/>
        </p:nvSpPr>
        <p:spPr>
          <a:xfrm>
            <a:off x="1234440" y="4114800"/>
            <a:ext cx="6400800" cy="670560"/>
          </a:xfrm>
          <a:prstGeom prst="rect">
            <a:avLst/>
          </a:prstGeom>
          <a:noFill/>
          <a:ln>
            <a:noFill/>
          </a:ln>
        </p:spPr>
        <p:txBody>
          <a:bodyPr wrap="square" lIns="0" tIns="0" rIns="0" bIns="0" anchor="ctr" rtlCol="0">
            <a:noAutofit/>
          </a:bodyPr>
          <a:lstStyle/>
          <a:p>
            <a:pPr algn="l">
              <a:spcAft>
                <a:spcPts val="0"/>
              </a:spcAft>
            </a:pPr>
            <a:r>
              <a:rPr lang="en-US" sz="1700" b="1" i="0" dirty="0">
                <a:solidFill>
                  <a:srgbClr val="111111"/>
                </a:solidFill>
                <a:latin typeface="Montserrat"/>
                <a:cs typeface="Montserrat"/>
              </a:rPr>
              <a:t>Approve the results disclaimer for the implant and Invisalign pages</a:t>
            </a:r>
            <a:endParaRPr lang="en-US" sz="1700" dirty="0"/>
          </a:p>
        </p:txBody>
      </p:sp>
      <p:sp>
        <p:nvSpPr>
          <p:cNvPr id="17" name="owner:4"/>
          <p:cNvSpPr txBox="1"/>
          <p:nvPr/>
        </p:nvSpPr>
        <p:spPr>
          <a:xfrm>
            <a:off x="7772400" y="4114800"/>
            <a:ext cx="3749040" cy="670560"/>
          </a:xfrm>
          <a:prstGeom prst="rect">
            <a:avLst/>
          </a:prstGeom>
          <a:noFill/>
          <a:ln>
            <a:noFill/>
          </a:ln>
        </p:spPr>
        <p:txBody>
          <a:bodyPr wrap="square" lIns="0" tIns="0" rIns="0" bIns="0" anchor="ctr" rtlCol="0">
            <a:noAutofit/>
          </a:bodyPr>
          <a:lstStyle/>
          <a:p>
            <a:pPr algn="r">
              <a:spcAft>
                <a:spcPts val="0"/>
              </a:spcAft>
            </a:pPr>
            <a:r>
              <a:rPr lang="en-US" sz="1300" b="1" i="0" dirty="0">
                <a:solidFill>
                  <a:srgbClr val="111111"/>
                </a:solidFill>
                <a:latin typeface="Montserrat"/>
                <a:cs typeface="Montserrat"/>
              </a:rPr>
              <a:t>Dr. Maya Okafor</a:t>
            </a:r>
            <a:r>
              <a:rPr lang="en-US" sz="1300" b="0" i="0" dirty="0">
                <a:solidFill>
                  <a:srgbClr val="505858"/>
                </a:solidFill>
                <a:latin typeface="Montserrat"/>
                <a:cs typeface="Montserrat"/>
              </a:rPr>
              <a:t>   Before those pages go live</a:t>
            </a:r>
            <a:endParaRPr lang="en-US" sz="1300" dirty="0"/>
          </a:p>
        </p:txBody>
      </p:sp>
      <p:sp>
        <p:nvSpPr>
          <p:cNvPr id="18" name="chrome:num"/>
          <p:cNvSpPr/>
          <p:nvPr/>
        </p:nvSpPr>
        <p:spPr>
          <a:xfrm>
            <a:off x="640080" y="4910328"/>
            <a:ext cx="420624" cy="420624"/>
          </a:xfrm>
          <a:prstGeom prst="ellipse">
            <a:avLst/>
          </a:prstGeom>
          <a:solidFill>
            <a:srgbClr val="051011"/>
          </a:solidFill>
          <a:ln>
            <a:noFill/>
          </a:ln>
        </p:spPr>
        <p:txBody>
          <a:bodyPr wrap="square" lIns="0" tIns="0" rIns="0" bIns="0" anchor="ctr" rtlCol="0">
            <a:noAutofit/>
          </a:bodyPr>
          <a:lstStyle/>
          <a:p>
            <a:pPr algn="ctr">
              <a:spcAft>
                <a:spcPts val="0"/>
              </a:spcAft>
            </a:pPr>
            <a:r>
              <a:rPr lang="en-US" sz="1300" b="1" i="0" dirty="0">
                <a:solidFill>
                  <a:srgbClr val="FFFFFF"/>
                </a:solidFill>
                <a:latin typeface="Montserrat"/>
                <a:cs typeface="Montserrat"/>
              </a:rPr>
              <a:t>5</a:t>
            </a:r>
            <a:endParaRPr lang="en-US" sz="1300" dirty="0"/>
          </a:p>
        </p:txBody>
      </p:sp>
      <p:sp>
        <p:nvSpPr>
          <p:cNvPr id="19" name="action:5"/>
          <p:cNvSpPr txBox="1"/>
          <p:nvPr/>
        </p:nvSpPr>
        <p:spPr>
          <a:xfrm>
            <a:off x="1234440" y="4785360"/>
            <a:ext cx="6400800" cy="670560"/>
          </a:xfrm>
          <a:prstGeom prst="rect">
            <a:avLst/>
          </a:prstGeom>
          <a:noFill/>
          <a:ln>
            <a:noFill/>
          </a:ln>
        </p:spPr>
        <p:txBody>
          <a:bodyPr wrap="square" lIns="0" tIns="0" rIns="0" bIns="0" anchor="ctr" rtlCol="0">
            <a:noAutofit/>
          </a:bodyPr>
          <a:lstStyle/>
          <a:p>
            <a:pPr algn="l">
              <a:spcAft>
                <a:spcPts val="0"/>
              </a:spcAft>
            </a:pPr>
            <a:r>
              <a:rPr lang="en-US" sz="1700" b="1" i="0" dirty="0">
                <a:solidFill>
                  <a:srgbClr val="111111"/>
                </a:solidFill>
                <a:latin typeface="Montserrat"/>
                <a:cs typeface="Montserrat"/>
              </a:rPr>
              <a:t>Send team photos</a:t>
            </a:r>
            <a:endParaRPr lang="en-US" sz="1700" dirty="0"/>
          </a:p>
        </p:txBody>
      </p:sp>
      <p:sp>
        <p:nvSpPr>
          <p:cNvPr id="20" name="owner:5"/>
          <p:cNvSpPr txBox="1"/>
          <p:nvPr/>
        </p:nvSpPr>
        <p:spPr>
          <a:xfrm>
            <a:off x="7772400" y="4785360"/>
            <a:ext cx="3749040" cy="670560"/>
          </a:xfrm>
          <a:prstGeom prst="rect">
            <a:avLst/>
          </a:prstGeom>
          <a:noFill/>
          <a:ln>
            <a:noFill/>
          </a:ln>
        </p:spPr>
        <p:txBody>
          <a:bodyPr wrap="square" lIns="0" tIns="0" rIns="0" bIns="0" anchor="ctr" rtlCol="0">
            <a:noAutofit/>
          </a:bodyPr>
          <a:lstStyle/>
          <a:p>
            <a:pPr algn="r">
              <a:spcAft>
                <a:spcPts val="0"/>
              </a:spcAft>
            </a:pPr>
            <a:r>
              <a:rPr lang="en-US" sz="1300" b="1" i="0" dirty="0">
                <a:solidFill>
                  <a:srgbClr val="111111"/>
                </a:solidFill>
                <a:latin typeface="Montserrat"/>
                <a:cs typeface="Montserrat"/>
              </a:rPr>
              <a:t>Dr. Maya Okafor</a:t>
            </a:r>
            <a:r>
              <a:rPr lang="en-US" sz="1300" b="0" i="0" dirty="0">
                <a:solidFill>
                  <a:srgbClr val="505858"/>
                </a:solidFill>
                <a:latin typeface="Montserrat"/>
                <a:cs typeface="Montserrat"/>
              </a:rPr>
              <a:t>   November</a:t>
            </a:r>
            <a:endParaRPr lang="en-US" sz="1300" dirty="0"/>
          </a:p>
        </p:txBody>
      </p:sp>
      <p:sp>
        <p:nvSpPr>
          <p:cNvPr id="21" name="chrome:num"/>
          <p:cNvSpPr/>
          <p:nvPr/>
        </p:nvSpPr>
        <p:spPr>
          <a:xfrm>
            <a:off x="640080" y="5580888"/>
            <a:ext cx="420624" cy="420624"/>
          </a:xfrm>
          <a:prstGeom prst="ellipse">
            <a:avLst/>
          </a:prstGeom>
          <a:solidFill>
            <a:srgbClr val="051011"/>
          </a:solidFill>
          <a:ln>
            <a:noFill/>
          </a:ln>
        </p:spPr>
        <p:txBody>
          <a:bodyPr wrap="square" lIns="0" tIns="0" rIns="0" bIns="0" anchor="ctr" rtlCol="0">
            <a:noAutofit/>
          </a:bodyPr>
          <a:lstStyle/>
          <a:p>
            <a:pPr algn="ctr">
              <a:spcAft>
                <a:spcPts val="0"/>
              </a:spcAft>
            </a:pPr>
            <a:r>
              <a:rPr lang="en-US" sz="1300" b="1" i="0" dirty="0">
                <a:solidFill>
                  <a:srgbClr val="FFFFFF"/>
                </a:solidFill>
                <a:latin typeface="Montserrat"/>
                <a:cs typeface="Montserrat"/>
              </a:rPr>
              <a:t>6</a:t>
            </a:r>
            <a:endParaRPr lang="en-US" sz="1300" dirty="0"/>
          </a:p>
        </p:txBody>
      </p:sp>
      <p:sp>
        <p:nvSpPr>
          <p:cNvPr id="22" name="action:6"/>
          <p:cNvSpPr txBox="1"/>
          <p:nvPr/>
        </p:nvSpPr>
        <p:spPr>
          <a:xfrm>
            <a:off x="1234440" y="5455920"/>
            <a:ext cx="6400800" cy="670560"/>
          </a:xfrm>
          <a:prstGeom prst="rect">
            <a:avLst/>
          </a:prstGeom>
          <a:noFill/>
          <a:ln>
            <a:noFill/>
          </a:ln>
        </p:spPr>
        <p:txBody>
          <a:bodyPr wrap="square" lIns="0" tIns="0" rIns="0" bIns="0" anchor="ctr" rtlCol="0">
            <a:noAutofit/>
          </a:bodyPr>
          <a:lstStyle/>
          <a:p>
            <a:pPr algn="l">
              <a:spcAft>
                <a:spcPts val="0"/>
              </a:spcAft>
            </a:pPr>
            <a:r>
              <a:rPr lang="en-US" sz="1700" b="1" i="0" dirty="0">
                <a:solidFill>
                  <a:srgbClr val="111111"/>
                </a:solidFill>
                <a:latin typeface="Montserrat"/>
                <a:cs typeface="Montserrat"/>
              </a:rPr>
              <a:t>Brief and write the 11 counted pages and the home page</a:t>
            </a:r>
            <a:endParaRPr lang="en-US" sz="1700" dirty="0"/>
          </a:p>
        </p:txBody>
      </p:sp>
      <p:sp>
        <p:nvSpPr>
          <p:cNvPr id="23" name="owner:6"/>
          <p:cNvSpPr txBox="1"/>
          <p:nvPr/>
        </p:nvSpPr>
        <p:spPr>
          <a:xfrm>
            <a:off x="7772400" y="5455920"/>
            <a:ext cx="3749040" cy="670560"/>
          </a:xfrm>
          <a:prstGeom prst="rect">
            <a:avLst/>
          </a:prstGeom>
          <a:noFill/>
          <a:ln>
            <a:noFill/>
          </a:ln>
        </p:spPr>
        <p:txBody>
          <a:bodyPr wrap="square" lIns="0" tIns="0" rIns="0" bIns="0" anchor="ctr" rtlCol="0">
            <a:noAutofit/>
          </a:bodyPr>
          <a:lstStyle/>
          <a:p>
            <a:pPr algn="r">
              <a:spcAft>
                <a:spcPts val="0"/>
              </a:spcAft>
            </a:pPr>
            <a:r>
              <a:rPr lang="en-US" sz="1300" b="1" i="0" dirty="0">
                <a:solidFill>
                  <a:srgbClr val="111111"/>
                </a:solidFill>
                <a:latin typeface="Montserrat"/>
                <a:cs typeface="Montserrat"/>
              </a:rPr>
              <a:t>Jordan Pike</a:t>
            </a:r>
            <a:r>
              <a:rPr lang="en-US" sz="1300" b="0" i="0" dirty="0">
                <a:solidFill>
                  <a:srgbClr val="505858"/>
                </a:solidFill>
                <a:latin typeface="Montserrat"/>
                <a:cs typeface="Montserrat"/>
              </a:rPr>
              <a:t>   After plan approval</a:t>
            </a:r>
            <a:endParaRPr lang="en-US" sz="1300" dirty="0"/>
          </a:p>
        </p:txBody>
      </p:sp>
      <p:sp>
        <p:nvSpPr>
          <p:cNvPr id="24" name="chrome:rule"/>
          <p:cNvSpPr/>
          <p:nvPr/>
        </p:nvSpPr>
        <p:spPr>
          <a:xfrm>
            <a:off x="640080" y="6327648"/>
            <a:ext cx="10908792" cy="9144"/>
          </a:xfrm>
          <a:prstGeom prst="rect">
            <a:avLst/>
          </a:prstGeom>
          <a:solidFill>
            <a:srgbClr val="CCCCCC"/>
          </a:solidFill>
          <a:ln>
            <a:noFill/>
          </a:ln>
        </p:spPr>
        <p:txBody>
          <a:bodyPr wrap="square" lIns="73152" tIns="73152" rIns="73152" bIns="73152" anchor="t" rtlCol="0">
            <a:noAutofit/>
          </a:bodyPr>
          <a:lstStyle/>
          <a:p>
            <a:endParaRPr lang="en-US" dirty="0"/>
          </a:p>
        </p:txBody>
      </p:sp>
      <p:pic>
        <p:nvPicPr>
          <p:cNvPr id="25" name="chrome:logo"/>
          <p:cNvPicPr>
            <a:picLocks noChangeAspect="1"/>
          </p:cNvPicPr>
          <p:nvPr/>
        </p:nvPicPr>
        <p:blipFill>
          <a:blip r:embed="rIdImg1"/>
          <a:stretch>
            <a:fillRect/>
          </a:stretch>
        </p:blipFill>
        <p:spPr>
          <a:xfrm>
            <a:off x="640080" y="6400800"/>
            <a:ext cx="665018" cy="274320"/>
          </a:xfrm>
          <a:prstGeom prst="rect">
            <a:avLst/>
          </a:prstGeom>
        </p:spPr>
      </p:pic>
      <p:sp>
        <p:nvSpPr>
          <p:cNvPr id="26" name="chrome:footer"/>
          <p:cNvSpPr txBox="1"/>
          <p:nvPr/>
        </p:nvSpPr>
        <p:spPr>
          <a:xfrm>
            <a:off x="2194560" y="6419088"/>
            <a:ext cx="8138160" cy="274320"/>
          </a:xfrm>
          <a:prstGeom prst="rect">
            <a:avLst/>
          </a:prstGeom>
          <a:noFill/>
          <a:ln>
            <a:noFill/>
          </a:ln>
        </p:spPr>
        <p:txBody>
          <a:bodyPr wrap="square" lIns="0" tIns="0" rIns="0" bIns="0" anchor="ctr" rtlCol="0">
            <a:noAutofit/>
          </a:bodyPr>
          <a:lstStyle/>
          <a:p>
            <a:pPr algn="r">
              <a:spcAft>
                <a:spcPts val="0"/>
              </a:spcAft>
            </a:pPr>
            <a:r>
              <a:rPr lang="en-US" sz="1000" b="0" i="0" dirty="0">
                <a:solidFill>
                  <a:srgbClr val="505858"/>
                </a:solidFill>
                <a:latin typeface="Montserrat"/>
                <a:cs typeface="Montserrat"/>
              </a:rPr>
              <a:t>Larkspur Family Dental  |  Growth Blueprint</a:t>
            </a:r>
            <a:endParaRPr lang="en-US" sz="1000" dirty="0"/>
          </a:p>
        </p:txBody>
      </p:sp>
      <p:sp>
        <p:nvSpPr>
          <p:cNvPr id="27" name="chrome:pagenum"/>
          <p:cNvSpPr txBox="1"/>
          <p:nvPr/>
        </p:nvSpPr>
        <p:spPr>
          <a:xfrm>
            <a:off x="10607040" y="6419088"/>
            <a:ext cx="941832" cy="274320"/>
          </a:xfrm>
          <a:prstGeom prst="rect">
            <a:avLst/>
          </a:prstGeom>
          <a:noFill/>
          <a:ln>
            <a:noFill/>
          </a:ln>
        </p:spPr>
        <p:txBody>
          <a:bodyPr wrap="square" lIns="0" tIns="0" rIns="0" bIns="0" anchor="ctr" rtlCol="0">
            <a:noAutofit/>
          </a:bodyPr>
          <a:lstStyle/>
          <a:p>
            <a:pPr algn="r">
              <a:spcAft>
                <a:spcPts val="0"/>
              </a:spcAft>
            </a:pPr>
            <a:r>
              <a:rPr lang="en-US" sz="1000" b="1" i="0" dirty="0">
                <a:solidFill>
                  <a:srgbClr val="505858"/>
                </a:solidFill>
                <a:latin typeface="Montserrat"/>
                <a:cs typeface="Montserrat"/>
              </a:rPr>
              <a:t>19</a:t>
            </a:r>
            <a:endParaRPr lang="en-US" sz="1000" dirty="0"/>
          </a:p>
        </p:txBody>
      </p:sp>
    </p:spTree>
  </p:cSld>
  <p:clrMapOvr>
    <a:masterClrMapping/>
  </p:clrMapOvr>
</p:sld>
</file>

<file path=ppt/theme/theme1.xml><?xml version="1.0" encoding="utf-8"?>
<a:theme xmlns:a="http://schemas.openxmlformats.org/drawingml/2006/main" name="WISE">
  <a:themeElements>
    <a:clrScheme name="WISE">
      <a:dk1>
        <a:srgbClr val="111111"/>
      </a:dk1>
      <a:lt1>
        <a:srgbClr val="FFFFFF"/>
      </a:lt1>
      <a:dk2>
        <a:srgbClr val="051011"/>
      </a:dk2>
      <a:lt2>
        <a:srgbClr val="F7F7F7"/>
      </a:lt2>
      <a:accent1>
        <a:srgbClr val="019F44"/>
      </a:accent1>
      <a:accent2>
        <a:srgbClr val="017A34"/>
      </a:accent2>
      <a:accent3>
        <a:srgbClr val="4DBC7C"/>
      </a:accent3>
      <a:accent4>
        <a:srgbClr val="99D9B4"/>
      </a:accent4>
      <a:accent5>
        <a:srgbClr val="505858"/>
      </a:accent5>
      <a:accent6>
        <a:srgbClr val="7A7A7A"/>
      </a:accent6>
      <a:hlink>
        <a:srgbClr val="017A34"/>
      </a:hlink>
      <a:folHlink>
        <a:srgbClr val="505858"/>
      </a:folHlink>
    </a:clrScheme>
    <a:fontScheme name="WISE">
      <a:majorFont>
        <a:latin typeface="Montserrat"/>
        <a:ea typeface=""/>
        <a:cs typeface=""/>
      </a:majorFont>
      <a:minorFont>
        <a:latin typeface="Montserrat"/>
        <a:ea typeface=""/>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WISE Notes">
  <a:themeElements>
    <a:clrScheme name="WISE Notes">
      <a:dk1>
        <a:srgbClr val="111111"/>
      </a:dk1>
      <a:lt1>
        <a:srgbClr val="FFFFFF"/>
      </a:lt1>
      <a:dk2>
        <a:srgbClr val="051011"/>
      </a:dk2>
      <a:lt2>
        <a:srgbClr val="F7F7F7"/>
      </a:lt2>
      <a:accent1>
        <a:srgbClr val="019F44"/>
      </a:accent1>
      <a:accent2>
        <a:srgbClr val="017A34"/>
      </a:accent2>
      <a:accent3>
        <a:srgbClr val="4DBC7C"/>
      </a:accent3>
      <a:accent4>
        <a:srgbClr val="99D9B4"/>
      </a:accent4>
      <a:accent5>
        <a:srgbClr val="505858"/>
      </a:accent5>
      <a:accent6>
        <a:srgbClr val="7A7A7A"/>
      </a:accent6>
      <a:hlink>
        <a:srgbClr val="017A34"/>
      </a:hlink>
      <a:folHlink>
        <a:srgbClr val="505858"/>
      </a:folHlink>
    </a:clrScheme>
    <a:fontScheme name="WISE Notes">
      <a:majorFont>
        <a:latin typeface="Montserrat"/>
        <a:ea typeface=""/>
        <a:cs typeface=""/>
      </a:majorFont>
      <a:minorFont>
        <a:latin typeface="Montserrat"/>
        <a:ea typeface=""/>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blueprint-deck</Application>
  <Slides>19</Slides>
  <Notes>19</Notes>
</Properties>
</file>

<file path=docProps/core.xml><?xml version="1.0" encoding="utf-8"?>
<cp:coreProperties xmlns:cp="http://schemas.openxmlformats.org/package/2006/metadata/core-properties" xmlns:dc="http://purl.org/dc/elements/1.1/" xmlns:dcterms="http://purl.org/dc/terms/" xmlns:xsi="http://www.w3.org/2001/XMLSchema-instance">
  <dc:title>Larkspur Family Dental: Growth Blueprint</dc:title>
  <dc:creator>WISE Digital Partners</dc:creator>
  <dcterms:created xsi:type="dcterms:W3CDTF">2026-10-20T00:00:00Z</dcterms:created>
</cp:coreProperties>
</file>